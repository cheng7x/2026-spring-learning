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64" r:id="rId2"/>
    <p:sldId id="352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8" r:id="rId14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F6C"/>
    <a:srgbClr val="FF0101"/>
    <a:srgbClr val="4A7886"/>
    <a:srgbClr val="931E23"/>
    <a:srgbClr val="A92C23"/>
    <a:srgbClr val="C8A17E"/>
    <a:srgbClr val="B02423"/>
    <a:srgbClr val="F4F4F4"/>
    <a:srgbClr val="FCFCF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99" autoAdjust="0"/>
  </p:normalViewPr>
  <p:slideViewPr>
    <p:cSldViewPr snapToGrid="0">
      <p:cViewPr varScale="1">
        <p:scale>
          <a:sx n="111" d="100"/>
          <a:sy n="111" d="100"/>
        </p:scale>
        <p:origin x="420" y="45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3F5F2-24E0-4DB2-B40E-55A05319CE24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6A24-00E0-4DF0-99BB-272C5A438FD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9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3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1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4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9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D1F6A4ED-B612-40EC-8E90-83F3009E2301}" type="datetimeFigureOut">
              <a:rPr lang="zh-CN" altLang="en-US" smtClean="0"/>
              <a:pPr/>
              <a:t>2026/2/28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3.jpe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3.jpe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3.wmf"/><Relationship Id="rId4" Type="http://schemas.openxmlformats.org/officeDocument/2006/relationships/image" Target="../media/image2.jpeg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3.jpe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7.wmf"/><Relationship Id="rId4" Type="http://schemas.openxmlformats.org/officeDocument/2006/relationships/image" Target="../media/image2.jpeg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3.jpeg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1.wmf"/><Relationship Id="rId4" Type="http://schemas.openxmlformats.org/officeDocument/2006/relationships/image" Target="../media/image2.jpeg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3.jpeg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jpe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1995661"/>
            <a:ext cx="9144000" cy="84141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2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0" y="1415233"/>
            <a:ext cx="437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20000"/>
              </a:spcBef>
            </a:pPr>
            <a:r>
              <a:rPr lang="zh-CN" altLang="en-US" sz="32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大学物理实验</a:t>
            </a:r>
          </a:p>
        </p:txBody>
      </p:sp>
      <p:sp>
        <p:nvSpPr>
          <p:cNvPr id="43" name="文本框 30">
            <a:extLst>
              <a:ext uri="{FF2B5EF4-FFF2-40B4-BE49-F238E27FC236}">
                <a16:creationId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1071001" y="2062427"/>
            <a:ext cx="7001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数据处理与误差分析（三）</a:t>
            </a:r>
            <a:endParaRPr lang="zh-CN" altLang="en-US" sz="4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7" name="图片 46" descr="图片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60" y="2955182"/>
            <a:ext cx="810768" cy="204825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7882116" y="81922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物理实验中心</a:t>
            </a:r>
            <a:endParaRPr lang="zh-CN" altLang="en-US" dirty="0">
              <a:solidFill>
                <a:srgbClr val="1A3F6C"/>
              </a:solidFill>
            </a:endParaRPr>
          </a:p>
        </p:txBody>
      </p:sp>
      <p:pic>
        <p:nvPicPr>
          <p:cNvPr id="49" name="图片 48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0988" y="234188"/>
            <a:ext cx="1407320" cy="586384"/>
          </a:xfrm>
          <a:prstGeom prst="rect">
            <a:avLst/>
          </a:prstGeom>
        </p:spPr>
      </p:pic>
      <p:pic>
        <p:nvPicPr>
          <p:cNvPr id="56" name="Picture 2" descr="http://spe.hnu.edu.cn/__local/3/7B/2F/D579F627F7D3E91FAE08CAB1264_1A148737_11A6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2311" y="2992581"/>
            <a:ext cx="1630822" cy="972000"/>
          </a:xfrm>
          <a:prstGeom prst="rect">
            <a:avLst/>
          </a:prstGeom>
          <a:noFill/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BA52F13-CF7D-40E5-BDDB-3A87AE643B3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856767" y="4013907"/>
            <a:ext cx="1613380" cy="977269"/>
          </a:xfrm>
          <a:prstGeom prst="rect">
            <a:avLst/>
          </a:prstGeom>
        </p:spPr>
      </p:pic>
      <p:pic>
        <p:nvPicPr>
          <p:cNvPr id="58" name="图片 6" descr="17">
            <a:extLst>
              <a:ext uri="{FF2B5EF4-FFF2-40B4-BE49-F238E27FC236}">
                <a16:creationId xmlns:a16="http://schemas.microsoft.com/office/drawing/2014/main" id="{FFABDE8C-76BD-4432-B8C3-C67F3531F32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188599" y="4031574"/>
            <a:ext cx="1610714" cy="97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78E21CD4-03E5-4CDE-A92C-E3ECF60DCDDF}"/>
              </a:ext>
            </a:extLst>
          </p:cNvPr>
          <p:cNvSpPr/>
          <p:nvPr/>
        </p:nvSpPr>
        <p:spPr>
          <a:xfrm>
            <a:off x="5188599" y="2994570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869D088-521C-4DEC-A8D1-5E58E0C4EF59}"/>
              </a:ext>
            </a:extLst>
          </p:cNvPr>
          <p:cNvSpPr/>
          <p:nvPr/>
        </p:nvSpPr>
        <p:spPr>
          <a:xfrm>
            <a:off x="8542067" y="4013907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61" name="Picture 4" descr="https://timgsa.baidu.com/timg?image&amp;quality=80&amp;size=b9999_10000&amp;sec=1594637107895&amp;di=8259f08702bd64f7dc9b78fb72aa5a52&amp;imgtype=0&amp;src=http%3A%2F%2F5b0988e595225.cdn.sohucs.com%2Fimages%2F20180112%2F0e8f312c2d4248c99f1fe40e52d34d37.jpe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92038" y="4015687"/>
            <a:ext cx="3274154" cy="991133"/>
          </a:xfrm>
          <a:prstGeom prst="rect">
            <a:avLst/>
          </a:prstGeom>
          <a:noFill/>
        </p:spPr>
      </p:pic>
      <p:pic>
        <p:nvPicPr>
          <p:cNvPr id="62" name="图片 61" descr="湖南大学门匾.jpg"/>
          <p:cNvPicPr>
            <a:picLocks noChangeAspect="1"/>
          </p:cNvPicPr>
          <p:nvPr/>
        </p:nvPicPr>
        <p:blipFill>
          <a:blip r:embed="rId8" cstate="print"/>
          <a:srcRect t="5283" b="3943"/>
          <a:stretch>
            <a:fillRect/>
          </a:stretch>
        </p:blipFill>
        <p:spPr>
          <a:xfrm>
            <a:off x="7440460" y="2981194"/>
            <a:ext cx="1565754" cy="9720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3100AEF4-BCEA-4A36-847D-953391623A10}"/>
              </a:ext>
            </a:extLst>
          </p:cNvPr>
          <p:cNvSpPr/>
          <p:nvPr/>
        </p:nvSpPr>
        <p:spPr>
          <a:xfrm>
            <a:off x="7442180" y="2984304"/>
            <a:ext cx="1576560" cy="967796"/>
          </a:xfrm>
          <a:prstGeom prst="rect">
            <a:avLst/>
          </a:prstGeom>
          <a:solidFill>
            <a:srgbClr val="1A3F6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2948960" y="1387060"/>
            <a:ext cx="2215972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误差传递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2956135" y="2680079"/>
            <a:ext cx="2223083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有效数字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120035" y="108314"/>
            <a:ext cx="2215972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误差传递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911225" y="1931194"/>
            <a:ext cx="18621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一元函数：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3251200" y="1896269"/>
          <a:ext cx="1463675" cy="1096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609480" progId="Equation.DSMT4">
                  <p:embed/>
                </p:oleObj>
              </mc:Choice>
              <mc:Fallback>
                <p:oleObj name="Equation" r:id="rId5" imgW="812520" imgH="609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1896269"/>
                        <a:ext cx="1463675" cy="10969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826293" y="3062288"/>
            <a:ext cx="47466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多元函数  → 偏导数  全微分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3122613" y="3619500"/>
          <a:ext cx="31718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28800" imgH="634680" progId="Equation.DSMT4">
                  <p:embed/>
                </p:oleObj>
              </mc:Choice>
              <mc:Fallback>
                <p:oleObj name="Equation" r:id="rId7" imgW="1828800" imgH="634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3619500"/>
                        <a:ext cx="3171825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013077" y="245268"/>
            <a:ext cx="3009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间接测量的误差</a:t>
            </a:r>
          </a:p>
        </p:txBody>
      </p:sp>
      <p:sp>
        <p:nvSpPr>
          <p:cNvPr id="14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428625" y="969316"/>
            <a:ext cx="4386262" cy="662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4.1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误差传递公式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6520" y="2279680"/>
            <a:ext cx="485616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标准差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的意义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不确定度</a:t>
            </a:r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方差合成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5163" y="131746"/>
            <a:ext cx="3906837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微分的意义：小量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096296" y="3800477"/>
          <a:ext cx="4354513" cy="986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1960" imgH="533160" progId="Equation.DSMT4">
                  <p:embed/>
                </p:oleObj>
              </mc:Choice>
              <mc:Fallback>
                <p:oleObj name="Equation" r:id="rId5" imgW="2361960" imgH="5331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296" y="3800477"/>
                        <a:ext cx="4354513" cy="986249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672306" y="802459"/>
            <a:ext cx="18405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误差代入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3196425" y="704036"/>
          <a:ext cx="3025774" cy="7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419040" progId="Equation.DSMT4">
                  <p:embed/>
                </p:oleObj>
              </mc:Choice>
              <mc:Fallback>
                <p:oleObj name="Equation" r:id="rId7" imgW="177768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425" y="704036"/>
                        <a:ext cx="3025774" cy="7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2878931" y="1465262"/>
          <a:ext cx="347464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15840" imgH="419040" progId="Equation.DSMT4">
                  <p:embed/>
                </p:oleObj>
              </mc:Choice>
              <mc:Fallback>
                <p:oleObj name="Equation" r:id="rId9" imgW="1815840" imgH="419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931" y="1465262"/>
                        <a:ext cx="3474642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311879" y="839523"/>
            <a:ext cx="1765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系统误差</a:t>
            </a:r>
          </a:p>
        </p:txBody>
      </p:sp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2042321" y="2795588"/>
          <a:ext cx="4494213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38280" imgH="533160" progId="Equation.DSMT4">
                  <p:embed/>
                </p:oleObj>
              </mc:Choice>
              <mc:Fallback>
                <p:oleObj name="Equation" r:id="rId11" imgW="2438280" imgH="533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2321" y="2795588"/>
                        <a:ext cx="4494213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678727" y="41377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实际计算：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00006" y="83487"/>
            <a:ext cx="4386262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4.2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误差传递公式的应用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592138" y="794530"/>
            <a:ext cx="55864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A= </a:t>
            </a: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x+y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方差合成 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420" y="3288477"/>
            <a:ext cx="279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u"/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均值标准差的公式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57264" y="2370907"/>
            <a:ext cx="4150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对于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A= x − y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，结果与上式一样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190751" y="1293002"/>
          <a:ext cx="3005036" cy="92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880" imgH="533160" progId="Equation.DSMT4">
                  <p:embed/>
                </p:oleObj>
              </mc:Choice>
              <mc:Fallback>
                <p:oleObj name="Equation" r:id="rId5" imgW="1739880" imgH="5331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1293002"/>
                        <a:ext cx="3005036" cy="92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3298032" y="3182923"/>
          <a:ext cx="2024062" cy="1535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914400" progId="Equation.DSMT4">
                  <p:embed/>
                </p:oleObj>
              </mc:Choice>
              <mc:Fallback>
                <p:oleObj name="Equation" r:id="rId7" imgW="120636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032" y="3182923"/>
                        <a:ext cx="2024062" cy="15355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5349083" y="1513665"/>
          <a:ext cx="1208879" cy="522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304560" progId="Equation.DSMT4">
                  <p:embed/>
                </p:oleObj>
              </mc:Choice>
              <mc:Fallback>
                <p:oleObj name="Equation" r:id="rId9" imgW="736560" imgH="3045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083" y="1513665"/>
                        <a:ext cx="1208879" cy="522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5468938" y="3840148"/>
          <a:ext cx="2382043" cy="87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84200" imgH="507960" progId="Equation.DSMT4">
                  <p:embed/>
                </p:oleObj>
              </mc:Choice>
              <mc:Fallback>
                <p:oleObj name="Equation" r:id="rId11" imgW="1384200" imgH="507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8" y="3840148"/>
                        <a:ext cx="2382043" cy="87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1017895" y="269859"/>
            <a:ext cx="22637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A=</a:t>
            </a:r>
            <a:r>
              <a:rPr lang="en-US" altLang="zh-CN" sz="2000" i="1" dirty="0" err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xy</a:t>
            </a:r>
            <a:endParaRPr lang="en-US" altLang="zh-CN" sz="20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7895" y="2881258"/>
            <a:ext cx="529431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对于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A=x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，结果与上式一样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976448" y="693722"/>
          <a:ext cx="2901147" cy="891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880" imgH="533160" progId="Equation.DSMT4">
                  <p:embed/>
                </p:oleObj>
              </mc:Choice>
              <mc:Fallback>
                <p:oleObj name="Equation" r:id="rId5" imgW="1739880" imgH="5331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48" y="693722"/>
                        <a:ext cx="2901147" cy="891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4912529" y="854853"/>
          <a:ext cx="2016918" cy="594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355320" progId="Equation.DSMT4">
                  <p:embed/>
                </p:oleObj>
              </mc:Choice>
              <mc:Fallback>
                <p:oleObj name="Equation" r:id="rId7" imgW="1206360" imgH="3553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2529" y="854853"/>
                        <a:ext cx="2016918" cy="594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1976448" y="1687496"/>
          <a:ext cx="2347119" cy="89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533160" progId="Equation.DSMT4">
                  <p:embed/>
                </p:oleObj>
              </mc:Choice>
              <mc:Fallback>
                <p:oleObj name="Equation" r:id="rId9" imgW="1396800" imgH="5331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48" y="1687496"/>
                        <a:ext cx="2347119" cy="897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1976448" y="3541714"/>
          <a:ext cx="2461418" cy="9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0" imgH="533160" progId="Equation.DSMT4">
                  <p:embed/>
                </p:oleObj>
              </mc:Choice>
              <mc:Fallback>
                <p:oleObj name="Equation" r:id="rId11" imgW="1396800" imgH="5331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48" y="3541714"/>
                        <a:ext cx="2461418" cy="940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382588" y="173013"/>
            <a:ext cx="2603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zh-CN" altLang="en-US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个实用公式</a:t>
            </a:r>
            <a:endParaRPr lang="en-US" altLang="zh-CN" sz="2400" i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70363" y="777841"/>
            <a:ext cx="306705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其中 </a:t>
            </a:r>
            <a:r>
              <a:rPr lang="en-US" altLang="zh-CN" sz="2000" i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l,m,n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实数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781175" y="777841"/>
          <a:ext cx="1769269" cy="46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228600" progId="Equation.DSMT4">
                  <p:embed/>
                </p:oleObj>
              </mc:Choice>
              <mc:Fallback>
                <p:oleObj name="Equation" r:id="rId5" imgW="77436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777841"/>
                        <a:ext cx="1769269" cy="462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716088" y="1681163"/>
          <a:ext cx="459581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360" imgH="533160" progId="Equation.DSMT4">
                  <p:embed/>
                </p:oleObj>
              </mc:Choice>
              <mc:Fallback>
                <p:oleObj name="Equation" r:id="rId7" imgW="2133360" imgH="533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1681163"/>
                        <a:ext cx="4595812" cy="1149350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339752" y="3244060"/>
            <a:ext cx="40539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幂次越高，对误差的影响越大</a:t>
            </a:r>
          </a:p>
        </p:txBody>
      </p:sp>
      <p:sp>
        <p:nvSpPr>
          <p:cNvPr id="11" name="矩形 10"/>
          <p:cNvSpPr/>
          <p:nvPr/>
        </p:nvSpPr>
        <p:spPr>
          <a:xfrm>
            <a:off x="2340709" y="3993634"/>
            <a:ext cx="36314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可用于实验方案的设计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57162" y="747864"/>
            <a:ext cx="3721893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5.1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有效数字的定义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120035" y="108314"/>
            <a:ext cx="2237404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有效数字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2" name="矩形 16"/>
          <p:cNvSpPr>
            <a:spLocks noChangeArrowheads="1"/>
          </p:cNvSpPr>
          <p:nvPr/>
        </p:nvSpPr>
        <p:spPr bwMode="auto">
          <a:xfrm>
            <a:off x="811213" y="1512869"/>
            <a:ext cx="44751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有效数字是一个</a:t>
            </a:r>
            <a:r>
              <a:rPr lang="zh-CN" altLang="en-US" sz="20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工程概念</a:t>
            </a:r>
            <a:endParaRPr lang="en-US" altLang="zh-CN" sz="2000" b="1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它总是和测量、误差联系在一起的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12798" y="2318510"/>
            <a:ext cx="56522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有效数字位数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数据的</a:t>
            </a: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准确位数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 </a:t>
            </a:r>
            <a:r>
              <a:rPr lang="en-US" altLang="zh-CN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不准确但有根据的数字</a:t>
            </a:r>
          </a:p>
        </p:txBody>
      </p:sp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31430" y="3107784"/>
            <a:ext cx="3883584" cy="1648225"/>
          </a:xfrm>
          <a:prstGeom prst="rect">
            <a:avLst/>
          </a:prstGeom>
          <a:solidFill>
            <a:srgbClr val="00B0F0">
              <a:alpha val="32941"/>
            </a:srgbClr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774700" y="330170"/>
            <a:ext cx="3925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有效数字的最后一位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17713" y="1316007"/>
            <a:ext cx="50260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误差所在位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标志着绝对误差的大小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7713" y="2155795"/>
            <a:ext cx="441801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31.4mm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→ 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0.3mm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7713" y="2995582"/>
            <a:ext cx="4491038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31.40mm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→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0.03mm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817713" y="3750724"/>
            <a:ext cx="49300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——	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小数最后面的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，不能随便增减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代表着误差产生的位置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28338" y="200797"/>
            <a:ext cx="405288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有效数字的长度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98155" y="2973488"/>
            <a:ext cx="59285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一般说来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位有效数字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——1%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位有效数字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——0.1%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位有效数字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——0.01%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位有效数字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——10%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：百分之几到百分之十几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……</a:t>
            </a:r>
          </a:p>
        </p:txBody>
      </p:sp>
      <p:sp>
        <p:nvSpPr>
          <p:cNvPr id="14" name="矩形 13"/>
          <p:cNvSpPr/>
          <p:nvPr/>
        </p:nvSpPr>
        <p:spPr>
          <a:xfrm>
            <a:off x="1398156" y="2282802"/>
            <a:ext cx="44801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31.40mm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0.03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E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0.1%</a:t>
            </a:r>
          </a:p>
        </p:txBody>
      </p:sp>
      <p:sp>
        <p:nvSpPr>
          <p:cNvPr id="15" name="矩形 14"/>
          <p:cNvSpPr/>
          <p:nvPr/>
        </p:nvSpPr>
        <p:spPr>
          <a:xfrm>
            <a:off x="1398155" y="1589064"/>
            <a:ext cx="4224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31.4mm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l-GR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σ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0.3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000" i="1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000" i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≈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1%</a:t>
            </a:r>
          </a:p>
        </p:txBody>
      </p:sp>
      <p:sp>
        <p:nvSpPr>
          <p:cNvPr id="16" name="矩形 7"/>
          <p:cNvSpPr>
            <a:spLocks noChangeArrowheads="1"/>
          </p:cNvSpPr>
          <p:nvPr/>
        </p:nvSpPr>
        <p:spPr bwMode="auto">
          <a:xfrm>
            <a:off x="1398155" y="895327"/>
            <a:ext cx="330411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4A7886"/>
              </a:buClr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标志着相对误差的大小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982" y="156348"/>
            <a:ext cx="23534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n"/>
              <a:defRPr/>
            </a:pP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科学记数法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75605" y="1799410"/>
            <a:ext cx="4067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31.40mm = 0.03140m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= 31400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</a:p>
        </p:txBody>
      </p:sp>
      <p:sp>
        <p:nvSpPr>
          <p:cNvPr id="8" name="矩形 7"/>
          <p:cNvSpPr/>
          <p:nvPr/>
        </p:nvSpPr>
        <p:spPr>
          <a:xfrm>
            <a:off x="1475606" y="2648719"/>
            <a:ext cx="49823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⇒ 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3. 140×10mm = 3. 140×10</a:t>
            </a:r>
            <a:r>
              <a:rPr lang="en-US" altLang="zh-CN" sz="2000" baseline="30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-2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</a:p>
          <a:p>
            <a:pPr>
              <a:buClr>
                <a:srgbClr val="4A7886"/>
              </a:buCl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       = 3. 140×10</a:t>
            </a:r>
            <a:r>
              <a:rPr lang="en-US" altLang="zh-CN" sz="2000" baseline="30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el-GR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μ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 </a:t>
            </a:r>
          </a:p>
        </p:txBody>
      </p:sp>
      <p:sp>
        <p:nvSpPr>
          <p:cNvPr id="9" name="矩形 8"/>
          <p:cNvSpPr/>
          <p:nvPr/>
        </p:nvSpPr>
        <p:spPr>
          <a:xfrm>
            <a:off x="1475606" y="3920310"/>
            <a:ext cx="4660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整数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部分保留一位，其余写入小数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数量级用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的幂次表示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28751" y="839263"/>
            <a:ext cx="63079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4A7886"/>
              </a:buClr>
              <a:defRPr/>
            </a:pP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有效数字的长度与其相对误差相关，不会因单位的改变而改变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1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28587" y="119214"/>
            <a:ext cx="3721893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5.2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有效数字的运算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04E913-126A-BEE4-04C8-CA1725BBEA26}"/>
              </a:ext>
            </a:extLst>
          </p:cNvPr>
          <p:cNvSpPr txBox="1"/>
          <p:nvPr/>
        </p:nvSpPr>
        <p:spPr>
          <a:xfrm>
            <a:off x="412139" y="864442"/>
            <a:ext cx="786464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原则：评价间接测量量的不确定度时，现在一般不用有效数字的运算法则，用不确定度合成公式计算更为科学，更保证各量的相对贡献。</a:t>
            </a: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A711F978-9580-8BCB-45E8-5424DF7A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" y="2342338"/>
            <a:ext cx="77266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乘方开方、三角函数、指数对数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等运算：利用不确定度传递律计算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矩形 14">
            <a:extLst>
              <a:ext uri="{FF2B5EF4-FFF2-40B4-BE49-F238E27FC236}">
                <a16:creationId xmlns:a16="http://schemas.microsoft.com/office/drawing/2014/main" id="{94B348DE-6304-2F8A-ADAD-AF9474F1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9" y="1918844"/>
            <a:ext cx="65000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公式中的系数、常数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：根据计算规则可取任意多位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F70D1B-60BF-FB3A-B301-A63D6A9B2B47}"/>
                  </a:ext>
                </a:extLst>
              </p:cNvPr>
              <p:cNvSpPr txBox="1"/>
              <p:nvPr/>
            </p:nvSpPr>
            <p:spPr>
              <a:xfrm>
                <a:off x="529138" y="2852297"/>
                <a:ext cx="4572000" cy="583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例：测量角度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，计算 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sin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𝜃</m:t>
                    </m:r>
                  </m:oMath>
                </a14:m>
                <a:endPara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F70D1B-60BF-FB3A-B301-A63D6A9B2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8" y="2852297"/>
                <a:ext cx="4572000" cy="583301"/>
              </a:xfrm>
              <a:prstGeom prst="rect">
                <a:avLst/>
              </a:prstGeom>
              <a:blipFill>
                <a:blip r:embed="rId5"/>
                <a:stretch>
                  <a:fillRect l="-1200" t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9327AC1-DD5D-86BB-A25E-652104BAA6B9}"/>
                  </a:ext>
                </a:extLst>
              </p:cNvPr>
              <p:cNvSpPr txBox="1"/>
              <p:nvPr/>
            </p:nvSpPr>
            <p:spPr>
              <a:xfrm>
                <a:off x="409588" y="3295097"/>
                <a:ext cx="6102424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角度测量标准不确定度可以取为</a:t>
                </a:r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=0.000145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9327AC1-DD5D-86BB-A25E-652104BAA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8" y="3295097"/>
                <a:ext cx="6102424" cy="540148"/>
              </a:xfrm>
              <a:prstGeom prst="rect">
                <a:avLst/>
              </a:prstGeom>
              <a:blipFill>
                <a:blip r:embed="rId6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1B7E8DC-E076-60C7-DD55-278CC5203087}"/>
                  </a:ext>
                </a:extLst>
              </p:cNvPr>
              <p:cNvSpPr txBox="1"/>
              <p:nvPr/>
            </p:nvSpPr>
            <p:spPr>
              <a:xfrm>
                <a:off x="529138" y="4015668"/>
                <a:ext cx="325999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sin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𝜃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的不确定度可估计为：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1B7E8DC-E076-60C7-DD55-278CC5203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8" y="4015668"/>
                <a:ext cx="3259995" cy="553998"/>
              </a:xfrm>
              <a:prstGeom prst="rect">
                <a:avLst/>
              </a:prstGeom>
              <a:blipFill>
                <a:blip r:embed="rId7"/>
                <a:stretch>
                  <a:fillRect l="-2617" t="-14286" r="-3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7FADFE-D129-7C05-4EAB-6DAFFA1E8649}"/>
                  </a:ext>
                </a:extLst>
              </p:cNvPr>
              <p:cNvSpPr txBox="1"/>
              <p:nvPr/>
            </p:nvSpPr>
            <p:spPr>
              <a:xfrm>
                <a:off x="3783022" y="3835543"/>
                <a:ext cx="4518160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≈0.000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7FADFE-D129-7C05-4EAB-6DAFFA1E8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022" y="3835543"/>
                <a:ext cx="4518160" cy="616259"/>
              </a:xfrm>
              <a:prstGeom prst="rect">
                <a:avLst/>
              </a:prstGeom>
              <a:blipFill>
                <a:blip r:embed="rId8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8FE3F17-4285-901F-E9B8-E186A84F4FC6}"/>
                  </a:ext>
                </a:extLst>
              </p:cNvPr>
              <p:cNvSpPr txBox="1"/>
              <p:nvPr/>
            </p:nvSpPr>
            <p:spPr>
              <a:xfrm>
                <a:off x="484683" y="4569666"/>
                <a:ext cx="4572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sin</m:t>
                    </m:r>
                    <m:d>
                      <m:d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0.51129</m:t>
                    </m:r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≈0.51129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8FE3F17-4285-901F-E9B8-E186A84F4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83" y="4569666"/>
                <a:ext cx="4572000" cy="404983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3799392-B13F-1732-BD2F-219062064014}"/>
              </a:ext>
            </a:extLst>
          </p:cNvPr>
          <p:cNvSpPr txBox="1"/>
          <p:nvPr/>
        </p:nvSpPr>
        <p:spPr>
          <a:xfrm>
            <a:off x="4988696" y="4567594"/>
            <a:ext cx="281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有效数字与不确定度对齐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文本框 28">
            <a:extLst>
              <a:ext uri="{FF2B5EF4-FFF2-40B4-BE49-F238E27FC236}">
                <a16:creationId xmlns:a16="http://schemas.microsoft.com/office/drawing/2014/main" id="{5A418862-9FA7-452F-AA30-2C337B8D1897}"/>
              </a:ext>
            </a:extLst>
          </p:cNvPr>
          <p:cNvSpPr txBox="1"/>
          <p:nvPr/>
        </p:nvSpPr>
        <p:spPr>
          <a:xfrm>
            <a:off x="135731" y="97782"/>
            <a:ext cx="3721893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5.3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有效数字的修约</a:t>
            </a:r>
            <a:endParaRPr lang="en-US" altLang="zh-CN" sz="28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14"/>
          <p:cNvSpPr>
            <a:spLocks noChangeArrowheads="1"/>
          </p:cNvSpPr>
          <p:nvPr/>
        </p:nvSpPr>
        <p:spPr bwMode="auto">
          <a:xfrm>
            <a:off x="1643902" y="917559"/>
            <a:ext cx="35996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 </a:t>
            </a:r>
            <a:r>
              <a:rPr lang="zh-CN" altLang="en-US" sz="24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四舍六入五凑偶</a:t>
            </a:r>
            <a:endParaRPr lang="zh-CN" altLang="en-US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4966" y="1587706"/>
            <a:ext cx="35189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假定保留到小数点后第二位：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1.855</a:t>
            </a:r>
            <a:r>
              <a:rPr lang="en-US" altLang="zh-CN" sz="2000" dirty="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→1.86</a:t>
            </a:r>
            <a:r>
              <a:rPr lang="zh-CN" altLang="en-US" sz="2000" dirty="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；   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1.865</a:t>
            </a:r>
            <a:r>
              <a:rPr lang="en-US" altLang="zh-CN" sz="2000" dirty="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→1.86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14"/>
          <p:cNvSpPr>
            <a:spLocks noChangeArrowheads="1"/>
          </p:cNvSpPr>
          <p:nvPr/>
        </p:nvSpPr>
        <p:spPr bwMode="auto">
          <a:xfrm>
            <a:off x="1643902" y="2484427"/>
            <a:ext cx="35996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  </a:t>
            </a:r>
            <a:r>
              <a:rPr lang="zh-CN" altLang="en-US" sz="2400" b="1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修约应一次完成</a:t>
            </a:r>
            <a:endParaRPr lang="zh-CN" altLang="en-US" sz="24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矩形 14"/>
          <p:cNvSpPr>
            <a:spLocks noChangeArrowheads="1"/>
          </p:cNvSpPr>
          <p:nvPr/>
        </p:nvSpPr>
        <p:spPr bwMode="auto">
          <a:xfrm>
            <a:off x="2388306" y="3070216"/>
            <a:ext cx="34258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FF010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1.8548</a:t>
            </a:r>
            <a:r>
              <a:rPr lang="en-US" altLang="zh-CN" sz="2000">
                <a:solidFill>
                  <a:srgbClr val="FF0101"/>
                </a:solidFill>
                <a:latin typeface="Times New Roman"/>
                <a:ea typeface="微软雅黑" pitchFamily="34" charset="-122"/>
                <a:cs typeface="Times New Roman"/>
              </a:rPr>
              <a:t>→1.855→1.86</a:t>
            </a:r>
            <a:r>
              <a:rPr lang="en-US" altLang="zh-CN" sz="2000"/>
              <a:t> </a:t>
            </a:r>
            <a:r>
              <a:rPr lang="zh-CN" altLang="en-US" sz="2000">
                <a:solidFill>
                  <a:srgbClr val="FF0101"/>
                </a:solidFill>
              </a:rPr>
              <a:t>：</a:t>
            </a:r>
            <a:r>
              <a:rPr lang="en-US" altLang="zh-CN" sz="2000">
                <a:solidFill>
                  <a:srgbClr val="FF0101"/>
                </a:solidFill>
              </a:rPr>
              <a:t>×</a:t>
            </a:r>
            <a:endParaRPr lang="zh-CN" altLang="zh-CN" sz="2000">
              <a:solidFill>
                <a:srgbClr val="FF0101"/>
              </a:solidFill>
            </a:endParaRPr>
          </a:p>
          <a:p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1.8548</a:t>
            </a:r>
            <a:r>
              <a:rPr lang="en-US" altLang="zh-CN" sz="2000">
                <a:solidFill>
                  <a:srgbClr val="1A3F6C"/>
                </a:solidFill>
                <a:latin typeface="Times New Roman"/>
                <a:ea typeface="微软雅黑" pitchFamily="34" charset="-122"/>
                <a:cs typeface="Times New Roman"/>
              </a:rPr>
              <a:t>→1.85</a:t>
            </a:r>
            <a:endParaRPr lang="zh-CN" altLang="en-US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矩形 14"/>
          <p:cNvSpPr>
            <a:spLocks noChangeArrowheads="1"/>
          </p:cNvSpPr>
          <p:nvPr/>
        </p:nvSpPr>
        <p:spPr bwMode="auto">
          <a:xfrm>
            <a:off x="1643903" y="3872696"/>
            <a:ext cx="412824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3.  </a:t>
            </a:r>
            <a:r>
              <a:rPr lang="zh-CN" altLang="en-US" sz="24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中间过程可不进行修约，或多保留几位有效数字</a:t>
            </a:r>
            <a:endParaRPr lang="zh-CN" altLang="en-US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  <a:scene3d>
          <a:camera prst="orthographicFront"/>
          <a:lightRig rig="threePt" dir="t"/>
        </a:scene3d>
        <a:sp3d contourW="12700"/>
      </a:bodyPr>
      <a:lstStyle>
        <a:defPPr>
          <a:lnSpc>
            <a:spcPct val="150000"/>
          </a:lnSpc>
          <a:defRPr sz="1600" b="1" dirty="0">
            <a:solidFill>
              <a:srgbClr val="C00000"/>
            </a:solidFill>
            <a:latin typeface="黑体" pitchFamily="49" charset="-122"/>
            <a:ea typeface="黑体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4454</TotalTime>
  <Words>572</Words>
  <Application>Microsoft Office PowerPoint</Application>
  <PresentationFormat>全屏显示(16:9)</PresentationFormat>
  <Paragraphs>98</Paragraphs>
  <Slides>13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黑体</vt:lpstr>
      <vt:lpstr>微软雅黑</vt:lpstr>
      <vt:lpstr>印品黑体</vt:lpstr>
      <vt:lpstr>Arial</vt:lpstr>
      <vt:lpstr>Cambria Math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力 张</cp:lastModifiedBy>
  <cp:revision>139</cp:revision>
  <dcterms:created xsi:type="dcterms:W3CDTF">2016-11-25T11:25:31Z</dcterms:created>
  <dcterms:modified xsi:type="dcterms:W3CDTF">2026-02-27T17:39:26Z</dcterms:modified>
</cp:coreProperties>
</file>