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364" r:id="rId2"/>
    <p:sldId id="352" r:id="rId3"/>
    <p:sldId id="387" r:id="rId4"/>
    <p:sldId id="388" r:id="rId5"/>
    <p:sldId id="373" r:id="rId6"/>
    <p:sldId id="340" r:id="rId7"/>
    <p:sldId id="389" r:id="rId8"/>
    <p:sldId id="383" r:id="rId9"/>
    <p:sldId id="390" r:id="rId10"/>
    <p:sldId id="391" r:id="rId11"/>
    <p:sldId id="372" r:id="rId12"/>
    <p:sldId id="374" r:id="rId13"/>
    <p:sldId id="371" r:id="rId14"/>
    <p:sldId id="370" r:id="rId15"/>
    <p:sldId id="392" r:id="rId16"/>
    <p:sldId id="379" r:id="rId17"/>
    <p:sldId id="369" r:id="rId18"/>
    <p:sldId id="378" r:id="rId19"/>
    <p:sldId id="380" r:id="rId20"/>
    <p:sldId id="368" r:id="rId21"/>
    <p:sldId id="367" r:id="rId22"/>
    <p:sldId id="382" r:id="rId23"/>
    <p:sldId id="384" r:id="rId24"/>
    <p:sldId id="366" r:id="rId25"/>
    <p:sldId id="365" r:id="rId26"/>
    <p:sldId id="385" r:id="rId27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0101"/>
    <a:srgbClr val="FFFFCC"/>
    <a:srgbClr val="CCECFF"/>
    <a:srgbClr val="1A3F6C"/>
    <a:srgbClr val="4A7886"/>
    <a:srgbClr val="931E23"/>
    <a:srgbClr val="A92C23"/>
    <a:srgbClr val="C8A17E"/>
    <a:srgbClr val="B02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99" autoAdjust="0"/>
  </p:normalViewPr>
  <p:slideViewPr>
    <p:cSldViewPr snapToGrid="0">
      <p:cViewPr varScale="1">
        <p:scale>
          <a:sx n="108" d="100"/>
          <a:sy n="108" d="100"/>
        </p:scale>
        <p:origin x="-734" y="-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3F5F2-24E0-4DB2-B40E-55A05319CE24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6A24-00E0-4DF0-99BB-272C5A438FD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3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18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2147483647" y="-2147483648"/>
            <a:ext cx="0" cy="214748364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 noRot="1" noChangeAspect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521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43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9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3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1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4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8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4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3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9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D1F6A4ED-B612-40EC-8E90-83F3009E2301}" type="datetimeFigureOut">
              <a:rPr lang="zh-CN" altLang="en-US" smtClean="0"/>
              <a:pPr/>
              <a:t>2026/3/10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0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spoc/course/HNU-1462051168" TargetMode="External"/><Relationship Id="rId2" Type="http://schemas.openxmlformats.org/officeDocument/2006/relationships/hyperlink" Target="https://www.icourse163.org/spoc/course/HNU-1461653164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" y="1253549"/>
            <a:ext cx="9144000" cy="84141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42" name="文本框 30">
            <a:extLst>
              <a:ext uri="{FF2B5EF4-FFF2-40B4-BE49-F238E27FC236}">
                <a16:creationId xmlns:a16="http://schemas.microsoft.com/office/drawing/2014/main" xmlns="" id="{50EC4B1B-B2E2-42FD-A9AB-53CF5E5CBE55}"/>
              </a:ext>
            </a:extLst>
          </p:cNvPr>
          <p:cNvSpPr txBox="1"/>
          <p:nvPr/>
        </p:nvSpPr>
        <p:spPr>
          <a:xfrm>
            <a:off x="0" y="164751"/>
            <a:ext cx="3788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spcBef>
                <a:spcPct val="20000"/>
              </a:spcBef>
            </a:pPr>
            <a:r>
              <a:rPr lang="zh-CN" altLang="en-US" sz="32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大学物理实验</a:t>
            </a:r>
          </a:p>
        </p:txBody>
      </p:sp>
      <p:sp>
        <p:nvSpPr>
          <p:cNvPr id="43" name="文本框 30">
            <a:extLst>
              <a:ext uri="{FF2B5EF4-FFF2-40B4-BE49-F238E27FC236}">
                <a16:creationId xmlns:a16="http://schemas.microsoft.com/office/drawing/2014/main" xmlns="" id="{50EC4B1B-B2E2-42FD-A9AB-53CF5E5CBE55}"/>
              </a:ext>
            </a:extLst>
          </p:cNvPr>
          <p:cNvSpPr txBox="1"/>
          <p:nvPr/>
        </p:nvSpPr>
        <p:spPr>
          <a:xfrm>
            <a:off x="962644" y="1320315"/>
            <a:ext cx="70019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绪论</a:t>
            </a:r>
          </a:p>
        </p:txBody>
      </p:sp>
      <p:pic>
        <p:nvPicPr>
          <p:cNvPr id="47" name="图片 46" descr="图片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33232" y="3095244"/>
            <a:ext cx="810768" cy="2048256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7882116" y="81922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物理实验中心</a:t>
            </a:r>
            <a:endParaRPr lang="zh-CN" altLang="en-US" dirty="0">
              <a:solidFill>
                <a:srgbClr val="1A3F6C"/>
              </a:solidFill>
            </a:endParaRPr>
          </a:p>
        </p:txBody>
      </p:sp>
      <p:pic>
        <p:nvPicPr>
          <p:cNvPr id="49" name="图片 48" descr="图片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00988" y="234188"/>
            <a:ext cx="1407320" cy="586384"/>
          </a:xfrm>
          <a:prstGeom prst="rect">
            <a:avLst/>
          </a:prstGeom>
        </p:spPr>
      </p:pic>
      <p:pic>
        <p:nvPicPr>
          <p:cNvPr id="56" name="Picture 2" descr="http://spe.hnu.edu.cn/__local/3/7B/2F/D579F627F7D3E91FAE08CAB1264_1A148737_11A6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07037" y="2196483"/>
            <a:ext cx="1630822" cy="972000"/>
          </a:xfrm>
          <a:prstGeom prst="rect">
            <a:avLst/>
          </a:prstGeom>
          <a:noFill/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xmlns="" id="{6BA52F13-CF7D-40E5-BDDB-3A87AE643B3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6847380" y="2171212"/>
            <a:ext cx="1613380" cy="977269"/>
          </a:xfrm>
          <a:prstGeom prst="rect">
            <a:avLst/>
          </a:prstGeom>
        </p:spPr>
      </p:pic>
      <p:pic>
        <p:nvPicPr>
          <p:cNvPr id="61" name="Picture 4" descr="https://timgsa.baidu.com/timg?image&amp;quality=80&amp;size=b9999_10000&amp;sec=1594637107895&amp;di=8259f08702bd64f7dc9b78fb72aa5a52&amp;imgtype=0&amp;src=http%3A%2F%2F5b0988e595225.cdn.sohucs.com%2Fimages%2F20180112%2F0e8f312c2d4248c99f1fe40e52d34d37.jpe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86606" y="3148481"/>
            <a:ext cx="3274154" cy="991133"/>
          </a:xfrm>
          <a:prstGeom prst="rect">
            <a:avLst/>
          </a:prstGeom>
          <a:noFill/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B543EC10-9919-4E5C-BE1C-DD14F74900D9}"/>
              </a:ext>
            </a:extLst>
          </p:cNvPr>
          <p:cNvSpPr txBox="1"/>
          <p:nvPr/>
        </p:nvSpPr>
        <p:spPr>
          <a:xfrm>
            <a:off x="778205" y="4288964"/>
            <a:ext cx="6045478" cy="89255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3000" b="1" dirty="0">
                <a:solidFill>
                  <a:srgbClr val="C00000"/>
                </a:solidFill>
              </a:rPr>
              <a:t>课程</a:t>
            </a:r>
            <a:r>
              <a:rPr lang="en-US" altLang="zh-CN" sz="3000" b="1" dirty="0">
                <a:solidFill>
                  <a:srgbClr val="C00000"/>
                </a:solidFill>
              </a:rPr>
              <a:t>QQ</a:t>
            </a:r>
            <a:r>
              <a:rPr lang="zh-CN" altLang="en-US" sz="3000" b="1" dirty="0">
                <a:solidFill>
                  <a:srgbClr val="C00000"/>
                </a:solidFill>
              </a:rPr>
              <a:t>群</a:t>
            </a:r>
            <a:r>
              <a:rPr lang="zh-CN" altLang="en-US" sz="3000" dirty="0" smtClean="0"/>
              <a:t>：</a:t>
            </a:r>
            <a:r>
              <a:rPr lang="en-US" altLang="zh-CN" sz="4000" dirty="0">
                <a:latin typeface="Color Emoji"/>
              </a:rPr>
              <a:t>697715436</a:t>
            </a:r>
            <a:endParaRPr lang="zh-CN" altLang="en-US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51D08EC1-64B6-6303-863D-892D55D687DA}"/>
              </a:ext>
            </a:extLst>
          </p:cNvPr>
          <p:cNvSpPr txBox="1"/>
          <p:nvPr/>
        </p:nvSpPr>
        <p:spPr>
          <a:xfrm>
            <a:off x="962644" y="2271940"/>
            <a:ext cx="4407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数据处理与误差分析</a:t>
            </a:r>
            <a:endParaRPr lang="zh-CN" altLang="en-US" sz="3600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B69D7ABA-013A-28EE-42E9-22F3490B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637" y="3644047"/>
            <a:ext cx="34295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/>
            <a:r>
              <a:rPr lang="zh-CN" altLang="en-US" sz="2800" b="1" dirty="0"/>
              <a:t>任课教师：刘天贵</a:t>
            </a: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977411" y="679815"/>
            <a:ext cx="4409103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物理实验的地位和作用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977411" y="1675178"/>
            <a:ext cx="3987622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课程教学计划与安排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977411" y="2670541"/>
            <a:ext cx="3623291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进实验室前的准备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977411" y="3665903"/>
            <a:ext cx="363757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实验课的基本要求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9350D1F6-F205-5898-A643-0068381EA5DC}"/>
              </a:ext>
            </a:extLst>
          </p:cNvPr>
          <p:cNvSpPr txBox="1"/>
          <p:nvPr/>
        </p:nvSpPr>
        <p:spPr>
          <a:xfrm>
            <a:off x="112542" y="161626"/>
            <a:ext cx="20468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 dirty="0">
                <a:latin typeface="黑体" pitchFamily="49" charset="-122"/>
                <a:ea typeface="黑体" pitchFamily="49" charset="-122"/>
              </a:rPr>
              <a:t>绪论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xmlns="" id="{940418DA-F33C-0672-7AC2-11E267D041A1}"/>
              </a:ext>
            </a:extLst>
          </p:cNvPr>
          <p:cNvSpPr/>
          <p:nvPr/>
        </p:nvSpPr>
        <p:spPr>
          <a:xfrm>
            <a:off x="1977411" y="1581723"/>
            <a:ext cx="3987622" cy="891235"/>
          </a:xfrm>
          <a:prstGeom prst="ellipse">
            <a:avLst/>
          </a:prstGeom>
          <a:noFill/>
          <a:ln w="34925"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xmlns="" id="{258B3753-5934-17E9-491C-0EA18F70A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52" y="3408630"/>
            <a:ext cx="2535553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地点：物理实验中心</a:t>
            </a:r>
            <a:r>
              <a:rPr lang="zh-CN" altLang="en-US" sz="2400" b="1" dirty="0">
                <a:solidFill>
                  <a:srgbClr val="792B31"/>
                </a:solidFill>
                <a:latin typeface="宋体" panose="02010600030101010101" pitchFamily="2" charset="-122"/>
              </a:rPr>
              <a:t>（物电院</a:t>
            </a:r>
            <a:r>
              <a:rPr lang="en-US" altLang="zh-CN" sz="2400" b="1" dirty="0">
                <a:solidFill>
                  <a:srgbClr val="792B31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792B31"/>
                </a:solidFill>
                <a:latin typeface="宋体" panose="02010600030101010101" pitchFamily="2" charset="-122"/>
              </a:rPr>
              <a:t>栋）</a:t>
            </a:r>
            <a:endParaRPr lang="en-US" altLang="zh-CN" sz="2400" b="1" dirty="0">
              <a:solidFill>
                <a:srgbClr val="792B31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微信图片_20180304162647.jpg">
            <a:extLst>
              <a:ext uri="{FF2B5EF4-FFF2-40B4-BE49-F238E27FC236}">
                <a16:creationId xmlns:a16="http://schemas.microsoft.com/office/drawing/2014/main" xmlns="" id="{0F8992A1-B3ED-59EC-9001-646E2CAB1B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6801" y="17462"/>
            <a:ext cx="2685642" cy="285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 descr="微信图片_20180304162657.jpg">
            <a:extLst>
              <a:ext uri="{FF2B5EF4-FFF2-40B4-BE49-F238E27FC236}">
                <a16:creationId xmlns:a16="http://schemas.microsoft.com/office/drawing/2014/main" xmlns="" id="{FA8B1E06-8FB9-5C4B-E876-7D80B1C760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6545" y="17462"/>
            <a:ext cx="3070909" cy="285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微信图片_20180304162719.jpg">
            <a:extLst>
              <a:ext uri="{FF2B5EF4-FFF2-40B4-BE49-F238E27FC236}">
                <a16:creationId xmlns:a16="http://schemas.microsoft.com/office/drawing/2014/main" xmlns="" id="{748F46CA-C9D4-0CFA-007F-8386D98BFF0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14956" y="0"/>
            <a:ext cx="2736850" cy="2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4" descr="微信图片_20180304162635.jpg">
            <a:extLst>
              <a:ext uri="{FF2B5EF4-FFF2-40B4-BE49-F238E27FC236}">
                <a16:creationId xmlns:a16="http://schemas.microsoft.com/office/drawing/2014/main" xmlns="" id="{2066DC21-E46A-6B42-05B0-6EAE8AFCD29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84055" y="2871663"/>
            <a:ext cx="3530901" cy="227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220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E386399B-DD26-02CD-36FA-DF10477F0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599" y="108312"/>
            <a:ext cx="1783583" cy="178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xmlns="" id="{A651B4B8-66A2-98D2-D6E3-1FCCA7D12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355" y="2136096"/>
            <a:ext cx="1809828" cy="131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E5E6B609-B738-1631-E10D-943DA502E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355" y="3559024"/>
            <a:ext cx="1809827" cy="1476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BB845D4-5CD9-CC00-4DB2-ACAA44A0B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16" y="108311"/>
            <a:ext cx="3725669" cy="4611400"/>
          </a:xfrm>
          <a:prstGeom prst="rect">
            <a:avLst/>
          </a:prstGeom>
        </p:spPr>
      </p:pic>
      <p:sp>
        <p:nvSpPr>
          <p:cNvPr id="6" name="文本框 55">
            <a:extLst>
              <a:ext uri="{FF2B5EF4-FFF2-40B4-BE49-F238E27FC236}">
                <a16:creationId xmlns:a16="http://schemas.microsoft.com/office/drawing/2014/main" xmlns="" id="{225DD786-2763-B13D-0AC9-C448941FB61D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" name="图片 6" descr="图片2.jpg">
            <a:extLst>
              <a:ext uri="{FF2B5EF4-FFF2-40B4-BE49-F238E27FC236}">
                <a16:creationId xmlns:a16="http://schemas.microsoft.com/office/drawing/2014/main" xmlns="" id="{E561B237-A9F0-2A9D-35AB-E345881DD55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8" name="图片 7" descr="图片4.jpg">
            <a:extLst>
              <a:ext uri="{FF2B5EF4-FFF2-40B4-BE49-F238E27FC236}">
                <a16:creationId xmlns:a16="http://schemas.microsoft.com/office/drawing/2014/main" xmlns="" id="{1EA7A64E-EFFA-DA78-B1B3-9C53B2E061F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6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5A418862-9FA7-452F-AA30-2C337B8D1897}"/>
              </a:ext>
            </a:extLst>
          </p:cNvPr>
          <p:cNvSpPr txBox="1"/>
          <p:nvPr/>
        </p:nvSpPr>
        <p:spPr>
          <a:xfrm>
            <a:off x="121444" y="890738"/>
            <a:ext cx="3721893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1.1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为什么要学这门课？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20034" y="108314"/>
            <a:ext cx="4409103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物理实验的地位和作用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1373722" y="1977852"/>
            <a:ext cx="676454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物理学本质上是一门实验科学：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en-US" altLang="zh-CN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观察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客观现象</a:t>
            </a:r>
            <a:r>
              <a:rPr lang="zh-CN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16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en-US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改变一些因素</a:t>
            </a:r>
            <a:r>
              <a:rPr lang="zh-CN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以观察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系统的变化从而</a:t>
            </a:r>
            <a:r>
              <a:rPr lang="zh-CN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找出规律</a:t>
            </a:r>
            <a:r>
              <a:rPr lang="en-US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zh-CN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16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en-US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从表象性的规律中揭示基本规律，建立较为系统的理论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16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en-US" altLang="zh-CN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6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理论的正确性：实验是验证的唯一标准</a:t>
            </a:r>
            <a:endParaRPr lang="en-US" altLang="zh-CN" sz="16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72197" y="1524798"/>
            <a:ext cx="48785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物理学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其他各自然科学学科的研究基础</a:t>
            </a:r>
            <a:endParaRPr lang="en-US" altLang="zh-CN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53F5B7E1-8541-4C7E-A5F5-2C682C53620F}"/>
              </a:ext>
            </a:extLst>
          </p:cNvPr>
          <p:cNvSpPr/>
          <p:nvPr/>
        </p:nvSpPr>
        <p:spPr>
          <a:xfrm>
            <a:off x="1472197" y="3753872"/>
            <a:ext cx="6236493" cy="961289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发现</a:t>
            </a:r>
            <a:r>
              <a:rPr lang="zh-CN" altLang="en-US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寻找</a:t>
            </a:r>
            <a:r>
              <a:rPr lang="zh-CN" altLang="en-US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验证物理定律</a:t>
            </a:r>
            <a:r>
              <a:rPr lang="en-US" altLang="zh-CN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只能依靠</a:t>
            </a:r>
            <a:r>
              <a:rPr lang="zh-CN" altLang="zh-CN" sz="20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2000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理论和实验的关系中，实验是决定性的因素</a:t>
            </a:r>
            <a:endParaRPr lang="zh-CN" altLang="en-US" sz="2000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2635" y="37738"/>
            <a:ext cx="2031325" cy="461665"/>
          </a:xfrm>
          <a:prstGeom prst="rect">
            <a:avLst/>
          </a:prstGeom>
          <a:solidFill>
            <a:srgbClr val="CCECFF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物理学发展史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1AA6D5BC-C853-E3BE-F200-E90C08601D26}"/>
              </a:ext>
            </a:extLst>
          </p:cNvPr>
          <p:cNvGrpSpPr/>
          <p:nvPr/>
        </p:nvGrpSpPr>
        <p:grpSpPr>
          <a:xfrm>
            <a:off x="829334" y="3599218"/>
            <a:ext cx="6699244" cy="1408061"/>
            <a:chOff x="1334219" y="3459055"/>
            <a:chExt cx="6699244" cy="1408061"/>
          </a:xfrm>
        </p:grpSpPr>
        <p:sp>
          <p:nvSpPr>
            <p:cNvPr id="9" name="矩形 8"/>
            <p:cNvSpPr/>
            <p:nvPr/>
          </p:nvSpPr>
          <p:spPr>
            <a:xfrm>
              <a:off x="2570108" y="3816828"/>
              <a:ext cx="5463355" cy="10502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5000"/>
                </a:lnSpc>
                <a:spcBef>
                  <a:spcPct val="20000"/>
                </a:spcBef>
                <a:buFont typeface="Wingdings 2" pitchFamily="18" charset="2"/>
                <a:buNone/>
                <a:defRPr/>
              </a:pP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1901-2025:  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诺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贝尔物理学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奖颁发了</a:t>
              </a: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119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届，获奖项目</a:t>
              </a: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144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项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25000"/>
                </a:lnSpc>
                <a:spcBef>
                  <a:spcPct val="20000"/>
                </a:spcBef>
                <a:buFont typeface="Wingdings 2" pitchFamily="18" charset="2"/>
                <a:buNone/>
                <a:defRPr/>
              </a:pPr>
              <a:r>
                <a:rPr lang="en-US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	</a:t>
              </a: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27.8%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：以理论为主导成果</a:t>
              </a: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40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项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25000"/>
                </a:lnSpc>
                <a:spcBef>
                  <a:spcPct val="20000"/>
                </a:spcBef>
                <a:buFont typeface="Wingdings 2" pitchFamily="18" charset="2"/>
                <a:buNone/>
                <a:defRPr/>
              </a:pPr>
              <a:r>
                <a:rPr lang="en-US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	</a:t>
              </a: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72.2%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以实验为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主导成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果</a:t>
              </a:r>
              <a:r>
                <a:rPr lang="en-US" altLang="zh-CN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104</a:t>
              </a:r>
              <a:r>
                <a:rPr lang="zh-CN" altLang="en-US" sz="15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项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334219" y="3459055"/>
              <a:ext cx="3185487" cy="701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spcBef>
                  <a:spcPct val="20000"/>
                </a:spcBef>
                <a:defRPr/>
              </a:pPr>
              <a:r>
                <a:rPr lang="zh-CN" altLang="en-US" sz="18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诺贝尔</a:t>
              </a:r>
              <a:r>
                <a:rPr lang="zh-CN" altLang="en-US" sz="1800" dirty="0" smtClean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奖（科学界重视实验）</a:t>
              </a:r>
              <a:endParaRPr lang="en-US" altLang="zh-CN" sz="1800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>
                <a:spcBef>
                  <a:spcPct val="20000"/>
                </a:spcBef>
                <a:defRPr/>
              </a:pPr>
              <a:endParaRPr lang="en-US" altLang="zh-CN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C9250054-4E1B-3E32-D423-CF9B77800079}"/>
              </a:ext>
            </a:extLst>
          </p:cNvPr>
          <p:cNvGrpSpPr/>
          <p:nvPr/>
        </p:nvGrpSpPr>
        <p:grpSpPr>
          <a:xfrm>
            <a:off x="656101" y="563418"/>
            <a:ext cx="6543642" cy="1288013"/>
            <a:chOff x="656101" y="563418"/>
            <a:chExt cx="6543642" cy="1288013"/>
          </a:xfrm>
        </p:grpSpPr>
        <p:sp>
          <p:nvSpPr>
            <p:cNvPr id="11" name="矩形 10"/>
            <p:cNvSpPr/>
            <p:nvPr/>
          </p:nvSpPr>
          <p:spPr>
            <a:xfrm>
              <a:off x="1988545" y="919829"/>
              <a:ext cx="5211198" cy="9316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力学（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第谷、开普勒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、伽里略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——牛顿万有引力定律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电磁学（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库仑、法拉第——麦克斯韦方程组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光学（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杨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氏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、菲涅尔——波动光学理论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xmlns="" id="{32066940-32DB-A6FD-4C4F-A225DDDD0A8B}"/>
                </a:ext>
              </a:extLst>
            </p:cNvPr>
            <p:cNvSpPr txBox="1"/>
            <p:nvPr/>
          </p:nvSpPr>
          <p:spPr>
            <a:xfrm>
              <a:off x="656101" y="563418"/>
              <a:ext cx="21544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800" b="1" dirty="0">
                  <a:solidFill>
                    <a:srgbClr val="C00000"/>
                  </a:solidFill>
                  <a:latin typeface="微软雅黑" pitchFamily="34" charset="-122"/>
                </a:rPr>
                <a:t>经典物理学的建立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3D1F1C5C-75E4-DC96-85CE-088832902C66}"/>
              </a:ext>
            </a:extLst>
          </p:cNvPr>
          <p:cNvGrpSpPr/>
          <p:nvPr/>
        </p:nvGrpSpPr>
        <p:grpSpPr>
          <a:xfrm>
            <a:off x="811328" y="1777790"/>
            <a:ext cx="5610214" cy="1747787"/>
            <a:chOff x="1088298" y="1898152"/>
            <a:chExt cx="5610214" cy="1747787"/>
          </a:xfrm>
        </p:grpSpPr>
        <p:sp>
          <p:nvSpPr>
            <p:cNvPr id="13" name="矩形 12"/>
            <p:cNvSpPr/>
            <p:nvPr/>
          </p:nvSpPr>
          <p:spPr>
            <a:xfrm>
              <a:off x="2681790" y="3002878"/>
              <a:ext cx="3486852" cy="6430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迈克耳逊</a:t>
              </a:r>
              <a:r>
                <a:rPr lang="en-US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莫雷实验</a:t>
              </a:r>
              <a:r>
                <a:rPr lang="en-US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——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狭义相对论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黑体辐射的“紫外灾难”</a:t>
              </a:r>
              <a:r>
                <a:rPr lang="en-US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——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量子力学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BCAF7178-2CEE-7FB3-D721-DC3EE5A22FB2}"/>
                </a:ext>
              </a:extLst>
            </p:cNvPr>
            <p:cNvSpPr txBox="1"/>
            <p:nvPr/>
          </p:nvSpPr>
          <p:spPr>
            <a:xfrm>
              <a:off x="1088298" y="1898152"/>
              <a:ext cx="5610214" cy="1104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900"/>
                </a:spcBef>
                <a:spcAft>
                  <a:spcPts val="900"/>
                </a:spcAft>
                <a:defRPr/>
              </a:pPr>
              <a:r>
                <a:rPr lang="zh-CN" altLang="zh-CN" sz="1800" b="1" dirty="0">
                  <a:solidFill>
                    <a:srgbClr val="C00000"/>
                  </a:solidFill>
                  <a:latin typeface="微软雅黑" pitchFamily="34" charset="-122"/>
                </a:rPr>
                <a:t>近代物理学的建立</a:t>
              </a:r>
              <a:r>
                <a:rPr lang="zh-CN" altLang="zh-CN" sz="1800" dirty="0">
                  <a:solidFill>
                    <a:srgbClr val="C00000"/>
                  </a:solidFill>
                  <a:latin typeface="微软雅黑" pitchFamily="34" charset="-122"/>
                </a:rPr>
                <a:t>：</a:t>
              </a:r>
            </a:p>
            <a:p>
              <a:pPr>
                <a:lnSpc>
                  <a:spcPct val="125000"/>
                </a:lnSpc>
                <a:defRPr/>
              </a:pPr>
              <a:r>
                <a:rPr lang="zh-CN" altLang="en-US" sz="1500" dirty="0">
                  <a:latin typeface="微软雅黑" pitchFamily="34" charset="-122"/>
                </a:rPr>
                <a:t>            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三大发现（X光、放射性、电子）——从宏观到微观 </a:t>
              </a:r>
              <a:endParaRPr lang="en-US" altLang="zh-CN" sz="15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            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两朵乌云（黑体辐射、迈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克耳逊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－莫</a:t>
              </a:r>
              <a:r>
                <a:rPr lang="zh-CN" altLang="en-US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雷</a:t>
              </a:r>
              <a:r>
                <a:rPr lang="zh-CN" altLang="zh-CN" sz="1500" dirty="0">
                  <a:solidFill>
                    <a:srgbClr val="1A3F6C"/>
                  </a:solidFill>
                  <a:latin typeface="微软雅黑" pitchFamily="34" charset="-122"/>
                  <a:ea typeface="微软雅黑" pitchFamily="34" charset="-122"/>
                </a:rPr>
                <a:t>实验）</a:t>
              </a:r>
            </a:p>
          </p:txBody>
        </p:sp>
      </p:grpSp>
      <p:sp>
        <p:nvSpPr>
          <p:cNvPr id="15" name="文本框 55">
            <a:extLst>
              <a:ext uri="{FF2B5EF4-FFF2-40B4-BE49-F238E27FC236}">
                <a16:creationId xmlns:a16="http://schemas.microsoft.com/office/drawing/2014/main" xmlns="" id="{985DB255-A4D5-4333-89C8-BF83D129F48F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16" name="图片 15" descr="图片2.jpg">
            <a:extLst>
              <a:ext uri="{FF2B5EF4-FFF2-40B4-BE49-F238E27FC236}">
                <a16:creationId xmlns:a16="http://schemas.microsoft.com/office/drawing/2014/main" xmlns="" id="{00A145F0-34C3-47CB-AE20-7AFE6C89E65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17" name="图片 16" descr="图片4.jpg">
            <a:extLst>
              <a:ext uri="{FF2B5EF4-FFF2-40B4-BE49-F238E27FC236}">
                <a16:creationId xmlns:a16="http://schemas.microsoft.com/office/drawing/2014/main" xmlns="" id="{7783132F-AB97-4447-96C4-A27BB93A089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8" name="矩形: 圆角 24">
            <a:extLst>
              <a:ext uri="{FF2B5EF4-FFF2-40B4-BE49-F238E27FC236}">
                <a16:creationId xmlns:a16="http://schemas.microsoft.com/office/drawing/2014/main" xmlns="" id="{5CEE11DE-AEF6-4F1F-BF92-D05ADF41DE23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6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xmlns="" id="{60D79FB5-DD16-E9D7-C84C-3529391F01C7}"/>
              </a:ext>
            </a:extLst>
          </p:cNvPr>
          <p:cNvSpPr/>
          <p:nvPr/>
        </p:nvSpPr>
        <p:spPr>
          <a:xfrm>
            <a:off x="341530" y="2922889"/>
            <a:ext cx="846094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著名物理学家密立根</a:t>
            </a:r>
            <a:r>
              <a:rPr lang="en-US" altLang="zh-CN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(R.A. Millikan)</a:t>
            </a:r>
            <a:r>
              <a:rPr lang="zh-CN" altLang="en-US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所说：“我仅仅在理论和实验这两个领域里作了微小的贡献，就得到</a:t>
            </a:r>
            <a:r>
              <a:rPr lang="en-US" altLang="zh-CN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1923</a:t>
            </a:r>
            <a:r>
              <a:rPr lang="zh-CN" altLang="en-US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年的诺贝尔物理学奖，我感到非常荣幸，这事很好说明了，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科学是用理论和实验这两只脚前进的</a:t>
            </a:r>
            <a:r>
              <a:rPr lang="zh-CN" altLang="en-US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。有时是这只脚先迈进一步，有时是另一只脚先迈进一步，但是前进要靠两只脚，先建立理论然后作实验，或者是先在实验室中得出了新的关系，然后再迈出理论这只脚，并推动实验前进，如此不断交替进行。”</a:t>
            </a:r>
            <a:r>
              <a:rPr lang="en-US" altLang="zh-CN" sz="2000" dirty="0">
                <a:solidFill>
                  <a:srgbClr val="4A788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C324C64-535C-360A-2569-F4E91FEF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62" y="335639"/>
            <a:ext cx="2112504" cy="25872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8618FDF8-46B2-E01F-8B03-F0C55DAA60AC}"/>
              </a:ext>
            </a:extLst>
          </p:cNvPr>
          <p:cNvSpPr/>
          <p:nvPr/>
        </p:nvSpPr>
        <p:spPr>
          <a:xfrm>
            <a:off x="2600276" y="711236"/>
            <a:ext cx="29437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33CC"/>
                </a:solidFill>
              </a:rPr>
              <a:t>由于他在测量电子电荷量等方面的杰出成就而荣获</a:t>
            </a:r>
            <a:r>
              <a:rPr lang="en-US" altLang="zh-CN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1923</a:t>
            </a:r>
            <a:r>
              <a:rPr lang="zh-CN" altLang="en-US" sz="2000" dirty="0">
                <a:solidFill>
                  <a:srgbClr val="792B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年的诺贝尔物理学奖</a:t>
            </a:r>
            <a:endParaRPr lang="zh-CN" altLang="en-US" sz="2000" dirty="0">
              <a:solidFill>
                <a:srgbClr val="0033C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6305AB9B-3D69-121F-13CD-B90FD8E5CEA6}"/>
              </a:ext>
            </a:extLst>
          </p:cNvPr>
          <p:cNvSpPr/>
          <p:nvPr/>
        </p:nvSpPr>
        <p:spPr>
          <a:xfrm>
            <a:off x="6433833" y="2511728"/>
            <a:ext cx="139653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密立根油滴实验</a:t>
            </a:r>
            <a:endParaRPr lang="zh-CN" altLang="en-US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648C1E97-9B7F-55BC-636F-874AE23D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766" y="74029"/>
            <a:ext cx="3220603" cy="239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2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1028"/>
          <p:cNvSpPr>
            <a:spLocks noGrp="1" noChangeArrowheads="1"/>
          </p:cNvSpPr>
          <p:nvPr>
            <p:ph idx="1"/>
          </p:nvPr>
        </p:nvSpPr>
        <p:spPr>
          <a:xfrm>
            <a:off x="552882" y="684331"/>
            <a:ext cx="5820418" cy="4047262"/>
          </a:xfrm>
        </p:spPr>
        <p:txBody>
          <a:bodyPr wrap="square">
            <a:spAutoFit/>
          </a:bodyPr>
          <a:lstStyle/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用单电子做的杨氏双缝干涉实验（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1961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2.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伽利略的落体实验（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1600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左右）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3.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密立根油滴实验（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1909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4.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牛顿用棱镜将日光分解为七色的实验（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1665—1666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5.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杨氏用光作的干涉实验（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1801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6.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卡文迪许用扭秤测定万有引力常数的实验（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1798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7.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埃拉托色尼测定地球周长的实验（约公元前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300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8.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伽利略的斜面实验（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1600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左右）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9.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卢瑟福用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ɑ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粒子散射发现原子核的实验（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1911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 marL="36000" indent="-72000"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10. 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傅科摆的实验（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1851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</p:txBody>
      </p:sp>
      <p:sp>
        <p:nvSpPr>
          <p:cNvPr id="6" name="Text Box 1027">
            <a:extLst>
              <a:ext uri="{FF2B5EF4-FFF2-40B4-BE49-F238E27FC236}">
                <a16:creationId xmlns:a16="http://schemas.microsoft.com/office/drawing/2014/main" xmlns="" id="{3DBFD1EF-9F1F-FDAF-604C-9381A0E11AAB}"/>
              </a:ext>
            </a:extLst>
          </p:cNvPr>
          <p:cNvSpPr txBox="1">
            <a:spLocks noChangeArrowheads="1"/>
          </p:cNvSpPr>
          <p:nvPr/>
        </p:nvSpPr>
        <p:spPr>
          <a:xfrm>
            <a:off x="132994" y="119519"/>
            <a:ext cx="5076564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ct val="50000"/>
              </a:spcBef>
            </a:pPr>
            <a:r>
              <a:rPr lang="zh-CN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最美的十大物理实验            </a:t>
            </a:r>
            <a:endParaRPr lang="zh-CN" altLang="zh-CN" sz="3200" dirty="0">
              <a:solidFill>
                <a:srgbClr val="C00000"/>
              </a:solidFill>
            </a:endParaRPr>
          </a:p>
        </p:txBody>
      </p:sp>
      <p:sp>
        <p:nvSpPr>
          <p:cNvPr id="4" name="文本框 55">
            <a:extLst>
              <a:ext uri="{FF2B5EF4-FFF2-40B4-BE49-F238E27FC236}">
                <a16:creationId xmlns:a16="http://schemas.microsoft.com/office/drawing/2014/main" xmlns="" id="{5B137D09-0821-4D90-8771-896BA0B473E1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5" name="图片 4" descr="图片2.jpg">
            <a:extLst>
              <a:ext uri="{FF2B5EF4-FFF2-40B4-BE49-F238E27FC236}">
                <a16:creationId xmlns:a16="http://schemas.microsoft.com/office/drawing/2014/main" xmlns="" id="{71C3C139-B1B7-4FC7-AEB9-D540F24C1E5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" name="图片 6" descr="图片4.jpg">
            <a:extLst>
              <a:ext uri="{FF2B5EF4-FFF2-40B4-BE49-F238E27FC236}">
                <a16:creationId xmlns:a16="http://schemas.microsoft.com/office/drawing/2014/main" xmlns="" id="{9ED3ECB4-CD0F-4D74-91FA-7883BDF3CC5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8" name="矩形: 圆角 24">
            <a:extLst>
              <a:ext uri="{FF2B5EF4-FFF2-40B4-BE49-F238E27FC236}">
                <a16:creationId xmlns:a16="http://schemas.microsoft.com/office/drawing/2014/main" xmlns="" id="{5D4933EA-F40C-4A67-A7D3-E82855E411B2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5F4B0D86-D798-4AF8-92F0-F9F096AF56C3}"/>
              </a:ext>
            </a:extLst>
          </p:cNvPr>
          <p:cNvSpPr txBox="1"/>
          <p:nvPr/>
        </p:nvSpPr>
        <p:spPr>
          <a:xfrm>
            <a:off x="6651567" y="821358"/>
            <a:ext cx="1569660" cy="37107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rgbClr val="1A3F6C"/>
                </a:solidFill>
                <a:effectLst/>
                <a:latin typeface="arial" panose="020B0604020202020204" pitchFamily="34" charset="0"/>
              </a:rPr>
              <a:t>在物理学家眼睛里，最“美”的实验，是用简单的仪器和设备，发现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最根本、最深邃</a:t>
            </a:r>
            <a:r>
              <a:rPr lang="zh-CN" altLang="en-US" sz="2000" b="1" i="0" dirty="0">
                <a:solidFill>
                  <a:srgbClr val="1A3F6C"/>
                </a:solidFill>
                <a:effectLst/>
                <a:latin typeface="arial" panose="020B0604020202020204" pitchFamily="34" charset="0"/>
              </a:rPr>
              <a:t>的科学现象。</a:t>
            </a:r>
            <a:endParaRPr lang="zh-CN" altLang="en-US" sz="2000" b="1" dirty="0">
              <a:solidFill>
                <a:srgbClr val="1A3F6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01294F08-F1B7-463D-0C18-5AD3CA8ECFB3}"/>
              </a:ext>
            </a:extLst>
          </p:cNvPr>
          <p:cNvSpPr/>
          <p:nvPr/>
        </p:nvSpPr>
        <p:spPr>
          <a:xfrm>
            <a:off x="647408" y="214497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物理实验是物理学应用于其他学科的桥梁</a:t>
            </a:r>
          </a:p>
        </p:txBody>
      </p:sp>
      <p:pic>
        <p:nvPicPr>
          <p:cNvPr id="5" name="Picture 2" descr="https://ss1.bdstatic.com/70cFuXSh_Q1YnxGkpoWK1HF6hhy/it/u=1591657992,2885299281&amp;fm=26&amp;gp=0.jpg">
            <a:extLst>
              <a:ext uri="{FF2B5EF4-FFF2-40B4-BE49-F238E27FC236}">
                <a16:creationId xmlns:a16="http://schemas.microsoft.com/office/drawing/2014/main" xmlns="" id="{CBE26160-AE4E-8DE5-ED01-B0E251487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8442" y="768336"/>
            <a:ext cx="1801404" cy="1799675"/>
          </a:xfrm>
          <a:prstGeom prst="rect">
            <a:avLst/>
          </a:prstGeom>
          <a:noFill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EECFF98D-9505-B136-A6A3-B980BACF67AD}"/>
              </a:ext>
            </a:extLst>
          </p:cNvPr>
          <p:cNvSpPr/>
          <p:nvPr/>
        </p:nvSpPr>
        <p:spPr>
          <a:xfrm>
            <a:off x="523281" y="14060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光谱分析</a:t>
            </a:r>
            <a:endParaRPr lang="zh-CN" altLang="en-US" sz="1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904409A7-F6B8-EFF0-40DA-2C398E0DEF22}"/>
              </a:ext>
            </a:extLst>
          </p:cNvPr>
          <p:cNvSpPr/>
          <p:nvPr/>
        </p:nvSpPr>
        <p:spPr>
          <a:xfrm>
            <a:off x="3619614" y="151791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同位素分离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xmlns="" id="{3DF5C8B5-E5B6-1C88-90D4-355368C95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1858" y="768336"/>
            <a:ext cx="1807368" cy="1820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https://ss1.bdstatic.com/70cFvXSh_Q1YnxGkpoWK1HF6hhy/it/u=2984876621,3595791372&amp;fm=26&amp;gp=0.jpg">
            <a:extLst>
              <a:ext uri="{FF2B5EF4-FFF2-40B4-BE49-F238E27FC236}">
                <a16:creationId xmlns:a16="http://schemas.microsoft.com/office/drawing/2014/main" xmlns="" id="{D87A6042-CE9A-C42B-3146-EA3EE955D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44987" y="2933960"/>
            <a:ext cx="1774627" cy="1774626"/>
          </a:xfrm>
          <a:prstGeom prst="rect">
            <a:avLst/>
          </a:prstGeom>
          <a:noFill/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B32D99D-3990-0AAE-EAE6-62F573F54C9E}"/>
              </a:ext>
            </a:extLst>
          </p:cNvPr>
          <p:cNvSpPr/>
          <p:nvPr/>
        </p:nvSpPr>
        <p:spPr>
          <a:xfrm>
            <a:off x="292449" y="3471319"/>
            <a:ext cx="1569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合金成分分析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xmlns="" id="{8911628F-E2B1-338D-CA73-612C49566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78548" y="2918841"/>
            <a:ext cx="1908133" cy="1786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785C8842-4B24-F79F-77D5-07B945FD448E}"/>
              </a:ext>
            </a:extLst>
          </p:cNvPr>
          <p:cNvSpPr/>
          <p:nvPr/>
        </p:nvSpPr>
        <p:spPr>
          <a:xfrm>
            <a:off x="3664251" y="36822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弹性模量测试</a:t>
            </a:r>
          </a:p>
        </p:txBody>
      </p:sp>
      <p:sp>
        <p:nvSpPr>
          <p:cNvPr id="13" name="文本框 55">
            <a:extLst>
              <a:ext uri="{FF2B5EF4-FFF2-40B4-BE49-F238E27FC236}">
                <a16:creationId xmlns:a16="http://schemas.microsoft.com/office/drawing/2014/main" xmlns="" id="{14BC98E6-BCB7-3224-AD61-BE9CCC496506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14" name="图片 13" descr="图片2.jpg">
            <a:extLst>
              <a:ext uri="{FF2B5EF4-FFF2-40B4-BE49-F238E27FC236}">
                <a16:creationId xmlns:a16="http://schemas.microsoft.com/office/drawing/2014/main" xmlns="" id="{F42D275C-0283-9DC3-11A5-869954B9A8C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15" name="图片 14" descr="图片4.jpg">
            <a:extLst>
              <a:ext uri="{FF2B5EF4-FFF2-40B4-BE49-F238E27FC236}">
                <a16:creationId xmlns:a16="http://schemas.microsoft.com/office/drawing/2014/main" xmlns="" id="{026F6E24-6976-F571-94E6-76FD88066F0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3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A855B965-3E2B-6AB7-F5DF-C7C1A480BBF3}"/>
              </a:ext>
            </a:extLst>
          </p:cNvPr>
          <p:cNvSpPr/>
          <p:nvPr/>
        </p:nvSpPr>
        <p:spPr>
          <a:xfrm>
            <a:off x="1935957" y="4324564"/>
            <a:ext cx="518100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 typeface="Wingdings 2" pitchFamily="18" charset="2"/>
              <a:buNone/>
              <a:defRPr/>
            </a:pPr>
            <a:r>
              <a:rPr lang="zh-CN" altLang="en-US" sz="1500" b="1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精密的仪器、团队协作、大资金投入</a:t>
            </a:r>
            <a:r>
              <a:rPr lang="en-US" altLang="zh-CN" sz="1500" b="1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……——</a:t>
            </a:r>
            <a:r>
              <a:rPr lang="zh-CN" altLang="en-US" sz="1500" b="1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基础是什么？</a:t>
            </a:r>
            <a:endParaRPr lang="zh-CN" altLang="en-US" sz="1500" b="1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CEAFC9B-0728-A6BA-4EC3-2DA6721AC503}"/>
              </a:ext>
            </a:extLst>
          </p:cNvPr>
          <p:cNvSpPr/>
          <p:nvPr/>
        </p:nvSpPr>
        <p:spPr>
          <a:xfrm>
            <a:off x="1349494" y="788959"/>
            <a:ext cx="7686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扫描电镜用于检验检疫</a:t>
            </a:r>
            <a:endParaRPr lang="zh-CN" altLang="en-US" sz="1200"/>
          </a:p>
        </p:txBody>
      </p:sp>
      <p:pic>
        <p:nvPicPr>
          <p:cNvPr id="6" name="Picture 7" descr="https://ss1.bdstatic.com/70cFuXSh_Q1YnxGkpoWK1HF6hhy/it/u=4271705105,3904392094&amp;fm=15&amp;gp=0.jpg">
            <a:extLst>
              <a:ext uri="{FF2B5EF4-FFF2-40B4-BE49-F238E27FC236}">
                <a16:creationId xmlns:a16="http://schemas.microsoft.com/office/drawing/2014/main" xmlns="" id="{02B43ACF-9FD8-6CC1-0F52-32CF8CF24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3033" y="278608"/>
            <a:ext cx="2058590" cy="1828029"/>
          </a:xfrm>
          <a:prstGeom prst="rect">
            <a:avLst/>
          </a:prstGeom>
          <a:noFill/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xmlns="" id="{FAD8750D-8209-5041-08E0-06FF92762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64556" y="2338390"/>
            <a:ext cx="1919883" cy="166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214CAA5-6508-0D7D-F5A9-9874744727D3}"/>
              </a:ext>
            </a:extLst>
          </p:cNvPr>
          <p:cNvSpPr/>
          <p:nvPr/>
        </p:nvSpPr>
        <p:spPr>
          <a:xfrm>
            <a:off x="4415947" y="788959"/>
            <a:ext cx="7668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原子力显微镜下的癌细胞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C5361EF-9100-1F11-9242-909BB1C5F107}"/>
              </a:ext>
            </a:extLst>
          </p:cNvPr>
          <p:cNvSpPr/>
          <p:nvPr/>
        </p:nvSpPr>
        <p:spPr>
          <a:xfrm>
            <a:off x="1200586" y="2989244"/>
            <a:ext cx="9175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核磁共振</a:t>
            </a:r>
            <a:endParaRPr lang="zh-CN" altLang="en-US" sz="1200" dirty="0"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xmlns="" id="{4862B1D4-2453-9923-42A1-E859B93DF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6725" y="2378868"/>
            <a:ext cx="2055614" cy="162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B44B5215-88F5-213E-EE0A-EC47CBD0E71C}"/>
              </a:ext>
            </a:extLst>
          </p:cNvPr>
          <p:cNvSpPr/>
          <p:nvPr/>
        </p:nvSpPr>
        <p:spPr>
          <a:xfrm>
            <a:off x="4415948" y="2989244"/>
            <a:ext cx="4058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120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γ</a:t>
            </a:r>
            <a:r>
              <a:rPr lang="zh-CN" altLang="en-US" sz="120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刀</a:t>
            </a:r>
            <a:endParaRPr lang="zh-CN" altLang="en-US" sz="1013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xmlns="" id="{7DD75408-E67E-AF1C-24C9-D54DF7CD8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55628" y="280990"/>
            <a:ext cx="2191345" cy="1855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文本框 55">
            <a:extLst>
              <a:ext uri="{FF2B5EF4-FFF2-40B4-BE49-F238E27FC236}">
                <a16:creationId xmlns:a16="http://schemas.microsoft.com/office/drawing/2014/main" xmlns="" id="{91D64DE4-D288-E93D-D06A-20D991C2D060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14" name="图片 13" descr="图片2.jpg">
            <a:extLst>
              <a:ext uri="{FF2B5EF4-FFF2-40B4-BE49-F238E27FC236}">
                <a16:creationId xmlns:a16="http://schemas.microsoft.com/office/drawing/2014/main" xmlns="" id="{0908B946-B7E9-FE1E-58CF-D0B473DCA2B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15" name="图片 14" descr="图片4.jpg">
            <a:extLst>
              <a:ext uri="{FF2B5EF4-FFF2-40B4-BE49-F238E27FC236}">
                <a16:creationId xmlns:a16="http://schemas.microsoft.com/office/drawing/2014/main" xmlns="" id="{D278C1E9-9941-1D80-0F1D-48AB4471F09E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ECCE36F3-127B-4673-7821-B57E025E70EC}"/>
              </a:ext>
            </a:extLst>
          </p:cNvPr>
          <p:cNvSpPr/>
          <p:nvPr/>
        </p:nvSpPr>
        <p:spPr>
          <a:xfrm>
            <a:off x="584430" y="4626579"/>
            <a:ext cx="739016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大学物理实验课是必修基础课，是系统实验方法和实验技能训练的开端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4236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626240" y="2364798"/>
            <a:ext cx="743432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设计实验方案并实现的能力：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建模、搭建实验平台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662077" y="3211389"/>
            <a:ext cx="6684226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分析数据的能力：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评估科学证据，方法与规范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6052" y="142912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在这门课中要学什么？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711966" y="1609972"/>
            <a:ext cx="7262869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科学思维方法：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像物理学家一样思考，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发现问题，提出问题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711966" y="3906293"/>
            <a:ext cx="621749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交流与协同的能力：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记录、报告、展示、讨论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</p:txBody>
      </p:sp>
      <p:sp>
        <p:nvSpPr>
          <p:cNvPr id="24" name="矩形 23"/>
          <p:cNvSpPr/>
          <p:nvPr/>
        </p:nvSpPr>
        <p:spPr>
          <a:xfrm>
            <a:off x="814389" y="966979"/>
            <a:ext cx="70580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基础能力：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测量方法  仪器使用  记录数据  原理与应用 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xmlns="" id="{E483E63F-533A-3DD5-A192-38540ED906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430470"/>
              </p:ext>
            </p:extLst>
          </p:nvPr>
        </p:nvGraphicFramePr>
        <p:xfrm>
          <a:off x="7171226" y="3618458"/>
          <a:ext cx="1100204" cy="60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6" imgW="444500" imgH="393700" progId="Equation.DSMT4">
                  <p:embed/>
                </p:oleObj>
              </mc:Choice>
              <mc:Fallback>
                <p:oleObj name="Equation" r:id="rId6" imgW="444500" imgH="3937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226" y="3618458"/>
                        <a:ext cx="1100204" cy="605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EDC6EE6-7013-D286-8832-8208711FF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7567" y="2485837"/>
            <a:ext cx="1729036" cy="105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76052" y="142912"/>
            <a:ext cx="36695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怎么学好这门课？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1959809" y="932551"/>
            <a:ext cx="464684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预习：</a:t>
            </a:r>
            <a:endParaRPr lang="en-US" altLang="zh-CN" sz="240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带着问题来做实验</a:t>
            </a:r>
            <a:endParaRPr lang="en-US" altLang="zh-CN" sz="200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959809" y="2070346"/>
            <a:ext cx="571126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思考和质疑：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尽信书不如无书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交叉学科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我国的第十四个学科门类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59809" y="3515917"/>
            <a:ext cx="531267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多动手：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避免实验课成为冗长无味的“炒菜课”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有想法就去试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20035" y="108314"/>
            <a:ext cx="3987622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课程教学计划与安排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1562" y="1302479"/>
            <a:ext cx="79278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defRPr/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）“大学物理实验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A1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	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32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课时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，春季学期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en-US" altLang="zh-CN" sz="2400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统一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排课，</a:t>
            </a:r>
            <a:r>
              <a:rPr lang="zh-CN" altLang="en-US" sz="2400" b="1" dirty="0" smtClean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全班</a:t>
            </a:r>
            <a:r>
              <a:rPr lang="zh-CN" altLang="en-US" sz="2400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同学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同一时间做相同实验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400" b="1" dirty="0"/>
              <a:t>A1</a:t>
            </a:r>
            <a:r>
              <a:rPr lang="zh-CN" altLang="en-US" sz="2400" b="1" dirty="0"/>
              <a:t>实验由</a:t>
            </a:r>
            <a:r>
              <a:rPr lang="zh-CN" altLang="en-US" sz="2400" b="1" dirty="0">
                <a:solidFill>
                  <a:srgbClr val="FF0000"/>
                </a:solidFill>
              </a:rPr>
              <a:t>绪论</a:t>
            </a:r>
            <a:r>
              <a:rPr lang="en-US" altLang="zh-CN" sz="2400" b="1" dirty="0">
                <a:solidFill>
                  <a:srgbClr val="FF0000"/>
                </a:solidFill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</a:rPr>
              <a:t>六个实验项目</a:t>
            </a:r>
            <a:r>
              <a:rPr lang="en-US" altLang="zh-CN" sz="2400" b="1" dirty="0">
                <a:solidFill>
                  <a:srgbClr val="FF0000"/>
                </a:solidFill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</a:rPr>
              <a:t>考试 </a:t>
            </a:r>
            <a:r>
              <a:rPr lang="zh-CN" altLang="en-US" sz="2400" b="1" dirty="0"/>
              <a:t>组成</a:t>
            </a:r>
          </a:p>
          <a:p>
            <a:pPr>
              <a:defRPr/>
            </a:pPr>
            <a:endParaRPr lang="zh-CN" altLang="en-US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7991" y="3241471"/>
            <a:ext cx="782378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）“大学物理实验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A2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 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32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课时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，秋季学期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根据自己的时间、兴趣自己网上预约选作实验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TextBox 9"/>
          <p:cNvSpPr txBox="1">
            <a:spLocks noChangeArrowheads="1"/>
          </p:cNvSpPr>
          <p:nvPr/>
        </p:nvSpPr>
        <p:spPr bwMode="auto">
          <a:xfrm>
            <a:off x="0" y="0"/>
            <a:ext cx="24368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A1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：两周一次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866981" y="1123155"/>
            <a:ext cx="3126859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时间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zh-CN" altLang="en-US" sz="2400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周一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晚上 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19 :00</a:t>
            </a:r>
          </a:p>
          <a:p>
            <a:pPr>
              <a:spcBef>
                <a:spcPts val="12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地点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物理实验中心（物电院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栋）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C397D890-682B-C1EE-1496-32DC9293B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341810"/>
              </p:ext>
            </p:extLst>
          </p:nvPr>
        </p:nvGraphicFramePr>
        <p:xfrm>
          <a:off x="352683" y="972201"/>
          <a:ext cx="5195776" cy="2878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0807">
                  <a:extLst>
                    <a:ext uri="{9D8B030D-6E8A-4147-A177-3AD203B41FA5}">
                      <a16:colId xmlns:a16="http://schemas.microsoft.com/office/drawing/2014/main" xmlns="" val="1676950803"/>
                    </a:ext>
                  </a:extLst>
                </a:gridCol>
                <a:gridCol w="1114931">
                  <a:extLst>
                    <a:ext uri="{9D8B030D-6E8A-4147-A177-3AD203B41FA5}">
                      <a16:colId xmlns:a16="http://schemas.microsoft.com/office/drawing/2014/main" xmlns="" val="3331819867"/>
                    </a:ext>
                  </a:extLst>
                </a:gridCol>
                <a:gridCol w="2454164">
                  <a:extLst>
                    <a:ext uri="{9D8B030D-6E8A-4147-A177-3AD203B41FA5}">
                      <a16:colId xmlns:a16="http://schemas.microsoft.com/office/drawing/2014/main" xmlns="" val="2521936004"/>
                    </a:ext>
                  </a:extLst>
                </a:gridCol>
                <a:gridCol w="995874">
                  <a:extLst>
                    <a:ext uri="{9D8B030D-6E8A-4147-A177-3AD203B41FA5}">
                      <a16:colId xmlns:a16="http://schemas.microsoft.com/office/drawing/2014/main" xmlns="" val="2983303189"/>
                    </a:ext>
                  </a:extLst>
                </a:gridCol>
              </a:tblGrid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周次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</a:rPr>
                        <a:t>实验序号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实验名称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</a:rPr>
                        <a:t>实验房间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9828327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en-US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四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实验一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物体密度测量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B210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61714220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en-US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六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实验二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冷却法测量金属的比热容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B216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76250996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en-US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八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实验三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薄透镜焦距的测量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B105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79162267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zh-CN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十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实验四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用分光计测三棱镜折射率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B213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70518045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 smtClean="0">
                          <a:effectLst/>
                        </a:rPr>
                        <a:t>十</a:t>
                      </a:r>
                      <a:r>
                        <a:rPr lang="zh-CN" altLang="en-US" sz="1400" kern="100" dirty="0" smtClean="0">
                          <a:effectLst/>
                        </a:rPr>
                        <a:t>二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实验五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非线性元件伏安特性的测定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B107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69328183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 smtClean="0">
                          <a:effectLst/>
                        </a:rPr>
                        <a:t>十</a:t>
                      </a:r>
                      <a:r>
                        <a:rPr lang="zh-CN" altLang="en-US" sz="1400" kern="100" dirty="0" smtClean="0">
                          <a:effectLst/>
                        </a:rPr>
                        <a:t>四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实验六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示波器的使用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B103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18356408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 smtClean="0">
                          <a:effectLst/>
                        </a:rPr>
                        <a:t>十</a:t>
                      </a:r>
                      <a:r>
                        <a:rPr lang="zh-CN" altLang="en-US" sz="1400" kern="100" dirty="0" smtClean="0">
                          <a:effectLst/>
                        </a:rPr>
                        <a:t>六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just"/>
                      <a:r>
                        <a:rPr lang="zh-CN" sz="1400" b="1" kern="100" dirty="0">
                          <a:solidFill>
                            <a:srgbClr val="C00000"/>
                          </a:solidFill>
                          <a:effectLst/>
                        </a:rPr>
                        <a:t>考试</a:t>
                      </a:r>
                      <a:r>
                        <a:rPr lang="zh-CN" sz="1400" kern="100" dirty="0">
                          <a:effectLst/>
                        </a:rPr>
                        <a:t>：</a:t>
                      </a:r>
                      <a:r>
                        <a:rPr lang="zh-CN" altLang="en-US" sz="1400" b="1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以上实验随机抽取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5449035"/>
                  </a:ext>
                </a:extLst>
              </a:tr>
            </a:tbl>
          </a:graphicData>
        </a:graphic>
      </p:graphicFrame>
      <p:sp>
        <p:nvSpPr>
          <p:cNvPr id="2" name="TextBox 9">
            <a:extLst>
              <a:ext uri="{FF2B5EF4-FFF2-40B4-BE49-F238E27FC236}">
                <a16:creationId xmlns:a16="http://schemas.microsoft.com/office/drawing/2014/main" xmlns="" id="{92FE0DD4-B97D-B501-BFF8-7EAC319E2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234" y="447953"/>
            <a:ext cx="40658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分组名</a:t>
            </a:r>
            <a:r>
              <a:rPr lang="zh-CN" altLang="en-US" sz="20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000" b="1" dirty="0" smtClean="0"/>
              <a:t>分</a:t>
            </a:r>
            <a:r>
              <a:rPr lang="zh-CN" altLang="en-US" sz="2000" b="1" dirty="0"/>
              <a:t>组</a:t>
            </a:r>
            <a:r>
              <a:rPr lang="en-US" altLang="zh-CN" sz="2000" b="1" dirty="0" smtClean="0"/>
              <a:t>01</a:t>
            </a:r>
            <a:endParaRPr lang="en-US" altLang="zh-CN" sz="2000" b="1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4">
            <a:extLst>
              <a:ext uri="{FF2B5EF4-FFF2-40B4-BE49-F238E27FC236}">
                <a16:creationId xmlns:a16="http://schemas.microsoft.com/office/drawing/2014/main" xmlns="" id="{58C732CF-DE3D-CEE3-293C-D21CC39FB258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文本框 55">
            <a:extLst>
              <a:ext uri="{FF2B5EF4-FFF2-40B4-BE49-F238E27FC236}">
                <a16:creationId xmlns:a16="http://schemas.microsoft.com/office/drawing/2014/main" xmlns="" id="{48124AF6-FFC0-FA4F-4ECE-6E5A0DF5E600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4" name="图片 3" descr="图片2.jpg">
            <a:extLst>
              <a:ext uri="{FF2B5EF4-FFF2-40B4-BE49-F238E27FC236}">
                <a16:creationId xmlns:a16="http://schemas.microsoft.com/office/drawing/2014/main" xmlns="" id="{CB2B08F4-5E97-96ED-7078-BD89370FDC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5" name="图片 4" descr="图片4.jpg">
            <a:extLst>
              <a:ext uri="{FF2B5EF4-FFF2-40B4-BE49-F238E27FC236}">
                <a16:creationId xmlns:a16="http://schemas.microsoft.com/office/drawing/2014/main" xmlns="" id="{A22CF389-82A8-C4C0-F2DA-E8E82D58EB4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xmlns="" id="{5325ECDC-0BDB-EC0E-6F02-E851F8A3C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4368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A1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：两周一次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7FDEB4D8-1493-BE03-300D-D7E595193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911" y="466967"/>
            <a:ext cx="37320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分组名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000" dirty="0" smtClean="0"/>
              <a:t>分</a:t>
            </a:r>
            <a:r>
              <a:rPr lang="zh-CN" altLang="en-US" sz="2000" dirty="0"/>
              <a:t>组</a:t>
            </a:r>
            <a:r>
              <a:rPr lang="en-US" altLang="zh-CN" sz="2000" dirty="0" smtClean="0"/>
              <a:t>02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C397D890-682B-C1EE-1496-32DC9293B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455976"/>
              </p:ext>
            </p:extLst>
          </p:nvPr>
        </p:nvGraphicFramePr>
        <p:xfrm>
          <a:off x="352683" y="972201"/>
          <a:ext cx="5195776" cy="2878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0807">
                  <a:extLst>
                    <a:ext uri="{9D8B030D-6E8A-4147-A177-3AD203B41FA5}">
                      <a16:colId xmlns:a16="http://schemas.microsoft.com/office/drawing/2014/main" xmlns="" val="1676950803"/>
                    </a:ext>
                  </a:extLst>
                </a:gridCol>
                <a:gridCol w="1114931">
                  <a:extLst>
                    <a:ext uri="{9D8B030D-6E8A-4147-A177-3AD203B41FA5}">
                      <a16:colId xmlns:a16="http://schemas.microsoft.com/office/drawing/2014/main" xmlns="" val="3331819867"/>
                    </a:ext>
                  </a:extLst>
                </a:gridCol>
                <a:gridCol w="2454164">
                  <a:extLst>
                    <a:ext uri="{9D8B030D-6E8A-4147-A177-3AD203B41FA5}">
                      <a16:colId xmlns:a16="http://schemas.microsoft.com/office/drawing/2014/main" xmlns="" val="2521936004"/>
                    </a:ext>
                  </a:extLst>
                </a:gridCol>
                <a:gridCol w="995874">
                  <a:extLst>
                    <a:ext uri="{9D8B030D-6E8A-4147-A177-3AD203B41FA5}">
                      <a16:colId xmlns:a16="http://schemas.microsoft.com/office/drawing/2014/main" xmlns="" val="2983303189"/>
                    </a:ext>
                  </a:extLst>
                </a:gridCol>
              </a:tblGrid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周次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</a:rPr>
                        <a:t>实验序号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实验名称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</a:rPr>
                        <a:t>实验房间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9828327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en-US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四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实验二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冷却法测量金属的比热容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B216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61714220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en-US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六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实验三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薄透镜焦距的测量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B105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76250996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en-US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八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实验四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用分光计测三棱镜折射率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B213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79162267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marL="0" algn="just" defTabSz="685800" rtl="0" eaLnBrk="1" latinLnBrk="0" hangingPunct="1"/>
                      <a:r>
                        <a:rPr lang="zh-CN" altLang="zh-CN" sz="1400" b="1" kern="1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十</a:t>
                      </a:r>
                      <a:endParaRPr lang="zh-CN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实验五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非线性元件伏安特性的测定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B107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70518045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 smtClean="0">
                          <a:effectLst/>
                        </a:rPr>
                        <a:t>十</a:t>
                      </a:r>
                      <a:r>
                        <a:rPr lang="zh-CN" altLang="en-US" sz="1400" kern="100" dirty="0" smtClean="0">
                          <a:effectLst/>
                        </a:rPr>
                        <a:t>二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实验六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示波器的使用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B103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69328183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 smtClean="0">
                          <a:effectLst/>
                        </a:rPr>
                        <a:t>十</a:t>
                      </a:r>
                      <a:r>
                        <a:rPr lang="zh-CN" altLang="en-US" sz="1400" kern="100" dirty="0" smtClean="0">
                          <a:effectLst/>
                        </a:rPr>
                        <a:t>四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</a:rPr>
                        <a:t>实验一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物体密度测量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B210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18356408"/>
                  </a:ext>
                </a:extLst>
              </a:tr>
              <a:tr h="359777"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 smtClean="0">
                          <a:effectLst/>
                        </a:rPr>
                        <a:t>十</a:t>
                      </a:r>
                      <a:r>
                        <a:rPr lang="zh-CN" altLang="en-US" sz="1400" kern="100" dirty="0" smtClean="0">
                          <a:effectLst/>
                        </a:rPr>
                        <a:t>六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just"/>
                      <a:r>
                        <a:rPr lang="zh-CN" sz="1400" b="1" kern="100" dirty="0">
                          <a:solidFill>
                            <a:srgbClr val="C00000"/>
                          </a:solidFill>
                          <a:effectLst/>
                        </a:rPr>
                        <a:t>考试</a:t>
                      </a:r>
                      <a:r>
                        <a:rPr lang="zh-CN" sz="1400" kern="100" dirty="0">
                          <a:effectLst/>
                        </a:rPr>
                        <a:t>：</a:t>
                      </a:r>
                      <a:r>
                        <a:rPr lang="zh-CN" altLang="en-US" sz="1400" b="1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以上实验随机抽取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544903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866981" y="1123155"/>
            <a:ext cx="3126859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时间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zh-CN" altLang="en-US" sz="2400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周一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晚上 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19 :00</a:t>
            </a:r>
          </a:p>
          <a:p>
            <a:pPr>
              <a:spcBef>
                <a:spcPts val="12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地点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物理实验中心（物电院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栋）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21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1">
            <a:extLst>
              <a:ext uri="{FF2B5EF4-FFF2-40B4-BE49-F238E27FC236}">
                <a16:creationId xmlns:a16="http://schemas.microsoft.com/office/drawing/2014/main" xmlns="" id="{594874D1-BD10-4F34-B003-A8ECD4355187}"/>
              </a:ext>
            </a:extLst>
          </p:cNvPr>
          <p:cNvSpPr txBox="1"/>
          <p:nvPr/>
        </p:nvSpPr>
        <p:spPr>
          <a:xfrm>
            <a:off x="261286" y="802714"/>
            <a:ext cx="828201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登录系统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http://10.62.106.112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，登录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和初始密码均为本人学号（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初次登陆后请自行修改密码并牢记，非常重要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选课系统是课程指定平台，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任何成绩查询均以此系统为准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如果不在校园网，需要先登录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VPN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客户端，再登录系统。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实验，无需选择实验项目操作，学生可登录系统查询课表、查询成绩等。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xmlns="" id="{E2975CCE-8FCD-4D87-A926-0D8A8AFBD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9" y="83754"/>
            <a:ext cx="6786177" cy="58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湖南大学普通物理</a:t>
            </a:r>
            <a:r>
              <a:rPr lang="en-US" altLang="zh-CN" sz="24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4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大学物理</a:t>
            </a:r>
            <a:r>
              <a:rPr lang="en-US" altLang="zh-CN" sz="24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实验课程选课系统</a:t>
            </a:r>
            <a:endParaRPr lang="en-US" altLang="zh-CN" sz="2400" b="1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xmlns="" id="{85260D9F-DF07-4D79-A9EC-73E98935B282}"/>
              </a:ext>
            </a:extLst>
          </p:cNvPr>
          <p:cNvSpPr txBox="1"/>
          <p:nvPr/>
        </p:nvSpPr>
        <p:spPr>
          <a:xfrm>
            <a:off x="367034" y="3313597"/>
            <a:ext cx="8891266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19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en-US" altLang="zh-CN" sz="19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如果出现无法登录等情况，请联系张力老师（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li_zhang@hnu.edu.cn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未经任课教师许可，不要退选任何实验！</a:t>
            </a:r>
          </a:p>
        </p:txBody>
      </p:sp>
      <p:sp>
        <p:nvSpPr>
          <p:cNvPr id="5" name="文本框 55">
            <a:extLst>
              <a:ext uri="{FF2B5EF4-FFF2-40B4-BE49-F238E27FC236}">
                <a16:creationId xmlns:a16="http://schemas.microsoft.com/office/drawing/2014/main" xmlns="" id="{E5BF7274-2C9B-41BC-9BFC-C8CFA8FD7596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6" name="图片 5" descr="图片2.jpg">
            <a:extLst>
              <a:ext uri="{FF2B5EF4-FFF2-40B4-BE49-F238E27FC236}">
                <a16:creationId xmlns:a16="http://schemas.microsoft.com/office/drawing/2014/main" xmlns="" id="{FEC8AAEC-5CED-4DF2-A37E-7232B285581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" name="图片 6" descr="图片4.jpg">
            <a:extLst>
              <a:ext uri="{FF2B5EF4-FFF2-40B4-BE49-F238E27FC236}">
                <a16:creationId xmlns:a16="http://schemas.microsoft.com/office/drawing/2014/main" xmlns="" id="{3216A46B-B053-4E35-8F8F-3CD482DB53C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8" name="矩形: 圆角 24">
            <a:extLst>
              <a:ext uri="{FF2B5EF4-FFF2-40B4-BE49-F238E27FC236}">
                <a16:creationId xmlns:a16="http://schemas.microsoft.com/office/drawing/2014/main" xmlns="" id="{D656B02E-909F-4B37-8C03-8ABC77DA8700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8ACB01CD-9F1E-4219-9D82-9A481D48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45" y="37738"/>
            <a:ext cx="394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A2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：自由选择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xmlns="" id="{9B78B710-5DB3-4728-9817-41E5008D06CC}"/>
              </a:ext>
            </a:extLst>
          </p:cNvPr>
          <p:cNvSpPr txBox="1"/>
          <p:nvPr/>
        </p:nvSpPr>
        <p:spPr>
          <a:xfrm>
            <a:off x="651605" y="1017899"/>
            <a:ext cx="7182427" cy="1312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湖南大学普通物理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大学物理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实验课程选课系统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Aft>
                <a:spcPts val="1000"/>
              </a:spcAft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http://10.62.106.112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Aft>
                <a:spcPts val="1000"/>
              </a:spcAft>
              <a:defRPr/>
            </a:pP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xmlns="" id="{D886FFFE-2DE1-496A-8BEA-BA32107C83DB}"/>
              </a:ext>
            </a:extLst>
          </p:cNvPr>
          <p:cNvSpPr txBox="1"/>
          <p:nvPr/>
        </p:nvSpPr>
        <p:spPr>
          <a:xfrm>
            <a:off x="651605" y="2479461"/>
            <a:ext cx="7375879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每次实验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课时或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课时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Aft>
                <a:spcPts val="1000"/>
              </a:spcAft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要求：完成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课时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的实验项目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Aft>
                <a:spcPts val="1000"/>
              </a:spcAft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具体要求请秋季学期前通过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A1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实验课程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QQ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群、选课系统网站查阅通知。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xmlns="" id="{822660EE-9164-4675-81F8-194F122BE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580" y="67853"/>
            <a:ext cx="8643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特别注意事项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97D5A2C1-69D1-46CF-8B65-717E28D32E73}"/>
              </a:ext>
            </a:extLst>
          </p:cNvPr>
          <p:cNvSpPr txBox="1"/>
          <p:nvPr/>
        </p:nvSpPr>
        <p:spPr>
          <a:xfrm>
            <a:off x="131580" y="844217"/>
            <a:ext cx="8846288" cy="32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MOOC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）普通物理实验采用线上线下混合式课程教学模式，同学们课前请先通过慕课（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SPOC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）预习（观看视频并完成思考题）。需要注意的是：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SPOC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上的实验项目序号，与线下实验项目的序号不是一一对应的。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MOOC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网址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大学物理实验（一）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https://www.icourse163.org/spoc/course/HNU-1461653164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大学物理实验（二）</a:t>
            </a:r>
            <a:endParaRPr lang="en-US" altLang="zh-C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1800" b="1" u="sng" kern="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https://www.icourse163.org/spoc/course/HNU-1462051168</a:t>
            </a:r>
            <a:r>
              <a:rPr lang="en-US" altLang="zh-CN" sz="1800" b="1" kern="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800" b="1" kern="1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）需要先注册，昵称请填写“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专业班级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姓名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如果在其他课程已经注册，可能用“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HNU+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学号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姓名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”的格式</a:t>
            </a:r>
          </a:p>
        </p:txBody>
      </p:sp>
      <p:sp>
        <p:nvSpPr>
          <p:cNvPr id="4" name="文本框 55">
            <a:extLst>
              <a:ext uri="{FF2B5EF4-FFF2-40B4-BE49-F238E27FC236}">
                <a16:creationId xmlns:a16="http://schemas.microsoft.com/office/drawing/2014/main" xmlns="" id="{5EFBB0CF-0DD9-44DE-961E-6FDD65609F7D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5" name="图片 4" descr="图片2.jpg">
            <a:extLst>
              <a:ext uri="{FF2B5EF4-FFF2-40B4-BE49-F238E27FC236}">
                <a16:creationId xmlns:a16="http://schemas.microsoft.com/office/drawing/2014/main" xmlns="" id="{6844ED14-7F6C-472E-A422-9A0FB065DE2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" name="图片 6" descr="图片4.jpg">
            <a:extLst>
              <a:ext uri="{FF2B5EF4-FFF2-40B4-BE49-F238E27FC236}">
                <a16:creationId xmlns:a16="http://schemas.microsoft.com/office/drawing/2014/main" xmlns="" id="{4470ADB5-922C-4F97-807A-B801E033195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8" name="矩形: 圆角 24">
            <a:extLst>
              <a:ext uri="{FF2B5EF4-FFF2-40B4-BE49-F238E27FC236}">
                <a16:creationId xmlns:a16="http://schemas.microsoft.com/office/drawing/2014/main" xmlns="" id="{A202D17D-9BA4-446F-AE2A-4030E432E251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E8233364-ED05-4300-94A3-EE91245C6B1D}"/>
              </a:ext>
            </a:extLst>
          </p:cNvPr>
          <p:cNvSpPr txBox="1"/>
          <p:nvPr/>
        </p:nvSpPr>
        <p:spPr>
          <a:xfrm>
            <a:off x="320374" y="174485"/>
            <a:ext cx="7438801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虚拟物理仿真实验（虚仿实验）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A2</a:t>
            </a:r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还包含虚仿实验，</a:t>
            </a:r>
            <a:r>
              <a:rPr lang="zh-CN" altLang="zh-CN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虚仿实验必须要预约，成功预约后可随时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在大学物理实验平台主页左边的菜单进入“湖南大学虚拟物理实验教学系统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http://10.62.106.112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”完成实验。</a:t>
            </a:r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）虚仿实验根据时长和难易程度分为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至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学时，每位同学最多选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学时。</a:t>
            </a:r>
          </a:p>
        </p:txBody>
      </p:sp>
      <p:sp>
        <p:nvSpPr>
          <p:cNvPr id="3" name="文本框 55">
            <a:extLst>
              <a:ext uri="{FF2B5EF4-FFF2-40B4-BE49-F238E27FC236}">
                <a16:creationId xmlns:a16="http://schemas.microsoft.com/office/drawing/2014/main" xmlns="" id="{22E32806-9203-4663-B3C6-6CC3E0A6AE2F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5" name="图片 4" descr="图片2.jpg">
            <a:extLst>
              <a:ext uri="{FF2B5EF4-FFF2-40B4-BE49-F238E27FC236}">
                <a16:creationId xmlns:a16="http://schemas.microsoft.com/office/drawing/2014/main" xmlns="" id="{53583BD7-0AD7-42B8-8923-06C79B43A54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6" name="图片 5" descr="图片4.jpg">
            <a:extLst>
              <a:ext uri="{FF2B5EF4-FFF2-40B4-BE49-F238E27FC236}">
                <a16:creationId xmlns:a16="http://schemas.microsoft.com/office/drawing/2014/main" xmlns="" id="{DAE3C619-56EF-48C0-A6F5-7D7C52331A7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7" name="矩形: 圆角 24">
            <a:extLst>
              <a:ext uri="{FF2B5EF4-FFF2-40B4-BE49-F238E27FC236}">
                <a16:creationId xmlns:a16="http://schemas.microsoft.com/office/drawing/2014/main" xmlns="" id="{00CF3B9B-7917-474A-AA7F-02F572F2C556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CB479C55-DA12-4AE9-91E3-22F80B48D3FD}"/>
              </a:ext>
            </a:extLst>
          </p:cNvPr>
          <p:cNvSpPr txBox="1"/>
          <p:nvPr/>
        </p:nvSpPr>
        <p:spPr>
          <a:xfrm>
            <a:off x="407142" y="3525223"/>
            <a:ext cx="77890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</a:rPr>
              <a:t>“</a:t>
            </a:r>
            <a:r>
              <a:rPr lang="zh-CN" altLang="zh-CN" sz="20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虚拟物理实验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</a:rPr>
              <a:t>” </a:t>
            </a:r>
            <a:r>
              <a:rPr lang="zh-CN" altLang="zh-CN" sz="20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请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务必先预约，</a:t>
            </a:r>
            <a:r>
              <a:rPr lang="zh-CN" altLang="zh-CN" sz="20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再完成，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否则成绩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无效；强调：避免做错实验项目（选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做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无成绩，课时不足，会不及格）</a:t>
            </a:r>
            <a:endParaRPr lang="zh-CN" altLang="en-US" sz="2000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65942" y="1713563"/>
            <a:ext cx="6935116" cy="3089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每个实验的成绩评定因素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(1)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预习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(2)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纪律评定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每项违纪扣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(3)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实验操作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独立思考和操作，如实记录各种实验数据和现象；</a:t>
            </a: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发现抄袭，实验操作记</a:t>
            </a:r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(4)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实验报告（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要求独立完成，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一经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发现抄袭，抄袭与被抄袭者实验报告记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分。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defRPr/>
            </a:pP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2568" y="23117"/>
            <a:ext cx="2117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成绩评定：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365942" y="520903"/>
            <a:ext cx="3326552" cy="49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平时成绩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85%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考试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15%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365942" y="1117233"/>
            <a:ext cx="6935117" cy="49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平时总成绩为全部单个实验成绩加权平均（系统自动给出）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65942" y="4494593"/>
            <a:ext cx="618502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 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春季学期末给出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A1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成绩；秋季学期末给出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A2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成绩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248369" y="149180"/>
            <a:ext cx="5940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特别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说明：不及格与重修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967991" y="1342431"/>
            <a:ext cx="3326359" cy="2076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本课程是必修课程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altLang="en-US" sz="2000" dirty="0">
                <a:solidFill>
                  <a:srgbClr val="FF010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本课程没有补考</a:t>
            </a:r>
            <a:endParaRPr lang="en-US" altLang="zh-CN" sz="2000" dirty="0">
              <a:solidFill>
                <a:srgbClr val="FF010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不及格需重新修满全部课时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重修不允许免听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75211" y="2966726"/>
            <a:ext cx="5905252" cy="2164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Aft>
                <a:spcPts val="500"/>
              </a:spcAft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预约时间未做实验即为旷课，旷课不允许事后补做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0">
              <a:lnSpc>
                <a:spcPct val="120000"/>
              </a:lnSpc>
              <a:spcAft>
                <a:spcPts val="50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旷课大于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课时，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A2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成绩不及格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0">
              <a:lnSpc>
                <a:spcPct val="120000"/>
              </a:lnSpc>
              <a:spcAft>
                <a:spcPts val="500"/>
              </a:spcAft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每次旷课在总评时强制记一个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分加入平均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0">
              <a:lnSpc>
                <a:spcPct val="120000"/>
              </a:lnSpc>
              <a:spcAft>
                <a:spcPts val="500"/>
              </a:spcAft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提前两天以上取消预约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0">
              <a:lnSpc>
                <a:spcPct val="120000"/>
              </a:lnSpc>
              <a:spcAft>
                <a:spcPts val="500"/>
              </a:spcAft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实验前请假不记旷课</a:t>
            </a:r>
          </a:p>
        </p:txBody>
      </p:sp>
      <p:sp>
        <p:nvSpPr>
          <p:cNvPr id="9" name="矩形 8"/>
          <p:cNvSpPr/>
          <p:nvPr/>
        </p:nvSpPr>
        <p:spPr>
          <a:xfrm>
            <a:off x="-32677" y="3070207"/>
            <a:ext cx="1285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对于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A2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55F800F-3D1E-4BAA-B568-55EB6D2B1DA9}"/>
              </a:ext>
            </a:extLst>
          </p:cNvPr>
          <p:cNvSpPr/>
          <p:nvPr/>
        </p:nvSpPr>
        <p:spPr>
          <a:xfrm>
            <a:off x="751048" y="697763"/>
            <a:ext cx="8276838" cy="2372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前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周的绪论课因故未在本班上课的，可联系任课教师或实验室管理员，预约前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周任一时段在其他班上课，</a:t>
            </a:r>
            <a:r>
              <a:rPr lang="zh-CN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未上绪论课的，绪论课记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其他实验请假的请联系任课教师在选课系统请假后，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自行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在系统中预约合适时段上课。（温馨提示：资源有限，可选择的时段非常少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zh-CN" altLang="zh-CN" sz="2000" b="1" dirty="0"/>
              <a:t>请假</a:t>
            </a:r>
            <a:r>
              <a:rPr lang="en-US" altLang="zh-CN" sz="2000" b="1" dirty="0"/>
              <a:t>/</a:t>
            </a:r>
            <a:r>
              <a:rPr lang="zh-CN" altLang="zh-CN" sz="2000" b="1" dirty="0"/>
              <a:t>旷课后</a:t>
            </a:r>
            <a:r>
              <a:rPr lang="zh-CN" altLang="zh-CN" sz="2000" b="1" dirty="0">
                <a:solidFill>
                  <a:srgbClr val="FF0000"/>
                </a:solidFill>
              </a:rPr>
              <a:t>若无空位可选</a:t>
            </a:r>
            <a:r>
              <a:rPr lang="zh-CN" altLang="zh-CN" sz="2000" b="1" dirty="0"/>
              <a:t>，课程组不提供补课，系统认定为</a:t>
            </a:r>
            <a:r>
              <a:rPr lang="zh-CN" altLang="zh-CN" sz="2000" b="1" dirty="0">
                <a:solidFill>
                  <a:srgbClr val="FF0000"/>
                </a:solidFill>
              </a:rPr>
              <a:t>未完成</a:t>
            </a:r>
            <a:r>
              <a:rPr lang="en-US" altLang="zh-CN" sz="2000" b="1" dirty="0">
                <a:solidFill>
                  <a:srgbClr val="FF0000"/>
                </a:solidFill>
              </a:rPr>
              <a:t>32</a:t>
            </a:r>
            <a:r>
              <a:rPr lang="zh-CN" altLang="zh-CN" sz="2000" b="1" dirty="0" smtClean="0">
                <a:solidFill>
                  <a:srgbClr val="FF0000"/>
                </a:solidFill>
              </a:rPr>
              <a:t>课时</a:t>
            </a:r>
            <a:r>
              <a:rPr lang="en-US" altLang="zh-CN" sz="2000" b="1" dirty="0" smtClean="0">
                <a:solidFill>
                  <a:srgbClr val="0033CC"/>
                </a:solidFill>
              </a:rPr>
              <a:t>(A1</a:t>
            </a:r>
            <a:r>
              <a:rPr lang="zh-CN" altLang="en-US" sz="2000" b="1" dirty="0" smtClean="0">
                <a:solidFill>
                  <a:srgbClr val="0033CC"/>
                </a:solidFill>
              </a:rPr>
              <a:t>、</a:t>
            </a:r>
            <a:r>
              <a:rPr lang="en-US" altLang="zh-CN" sz="2000" b="1" dirty="0" smtClean="0">
                <a:solidFill>
                  <a:srgbClr val="0033CC"/>
                </a:solidFill>
              </a:rPr>
              <a:t>A2</a:t>
            </a:r>
            <a:r>
              <a:rPr lang="zh-CN" altLang="en-US" sz="2000" b="1" dirty="0" smtClean="0">
                <a:solidFill>
                  <a:srgbClr val="0033CC"/>
                </a:solidFill>
              </a:rPr>
              <a:t>）</a:t>
            </a:r>
            <a:r>
              <a:rPr lang="zh-CN" altLang="zh-CN" sz="2000" b="1" dirty="0" smtClean="0"/>
              <a:t>并</a:t>
            </a:r>
            <a:r>
              <a:rPr lang="zh-CN" altLang="zh-CN" sz="2000" b="1" dirty="0">
                <a:solidFill>
                  <a:srgbClr val="FF0000"/>
                </a:solidFill>
              </a:rPr>
              <a:t>自动计不及格</a:t>
            </a:r>
            <a:r>
              <a:rPr lang="zh-CN" altLang="zh-CN" sz="2000" b="1" dirty="0"/>
              <a:t>，不及格者需重修</a:t>
            </a:r>
            <a:r>
              <a:rPr lang="zh-CN" altLang="zh-CN" sz="2000" dirty="0"/>
              <a:t>。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0F21564E-FAFD-4CCB-BCBB-BA3212F292BF}"/>
              </a:ext>
            </a:extLst>
          </p:cNvPr>
          <p:cNvSpPr/>
          <p:nvPr/>
        </p:nvSpPr>
        <p:spPr>
          <a:xfrm>
            <a:off x="-773" y="316375"/>
            <a:ext cx="1285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对于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A1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290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0E75E78F-593D-4E36-9CBF-03C7AE730898}"/>
              </a:ext>
            </a:extLst>
          </p:cNvPr>
          <p:cNvSpPr txBox="1"/>
          <p:nvPr/>
        </p:nvSpPr>
        <p:spPr>
          <a:xfrm>
            <a:off x="49619" y="453656"/>
            <a:ext cx="7804297" cy="3896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实验课请假说明：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特殊情况可以</a:t>
            </a:r>
            <a:r>
              <a:rPr lang="zh-CN" altLang="zh-C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课前请假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病假</a:t>
            </a:r>
            <a:r>
              <a:rPr lang="zh-CN" altLang="en-US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有医院证明</a:t>
            </a:r>
            <a:r>
              <a:rPr lang="zh-CN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、事假以盖有该学生所在学院印章的请假条为准。</a:t>
            </a:r>
            <a:r>
              <a:rPr lang="zh-CN" altLang="zh-C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课堂开始上课后请假无效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2800" b="1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无故缺席和非本人上课，以旷课论处，该实验计</a:t>
            </a:r>
            <a:r>
              <a:rPr lang="en-US" altLang="zh-CN" sz="2800" b="1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2800" b="1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分强制性计入加权平均</a:t>
            </a:r>
            <a:r>
              <a:rPr lang="zh-CN" altLang="zh-CN" sz="2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，且其课时无效（不算完成的课时）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dirty="0"/>
          </a:p>
        </p:txBody>
      </p:sp>
      <p:sp>
        <p:nvSpPr>
          <p:cNvPr id="3" name="文本框 55">
            <a:extLst>
              <a:ext uri="{FF2B5EF4-FFF2-40B4-BE49-F238E27FC236}">
                <a16:creationId xmlns:a16="http://schemas.microsoft.com/office/drawing/2014/main" xmlns="" id="{16BF9D79-97EE-475B-BBD5-C96DBD0F885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4" name="图片 3" descr="图片2.jpg">
            <a:extLst>
              <a:ext uri="{FF2B5EF4-FFF2-40B4-BE49-F238E27FC236}">
                <a16:creationId xmlns:a16="http://schemas.microsoft.com/office/drawing/2014/main" xmlns="" id="{9855FEFF-E5C9-494A-A4B5-4D0545A16E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5" name="图片 4" descr="图片4.jpg">
            <a:extLst>
              <a:ext uri="{FF2B5EF4-FFF2-40B4-BE49-F238E27FC236}">
                <a16:creationId xmlns:a16="http://schemas.microsoft.com/office/drawing/2014/main" xmlns="" id="{21964473-5C6E-494F-A6A2-E33193A4DD5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: 圆角 24">
            <a:extLst>
              <a:ext uri="{FF2B5EF4-FFF2-40B4-BE49-F238E27FC236}">
                <a16:creationId xmlns:a16="http://schemas.microsoft.com/office/drawing/2014/main" xmlns="" id="{71449F31-C889-45CA-9A1D-E9F6AFBFDA8C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05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20034" y="108314"/>
            <a:ext cx="3623291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进实验室前的准备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44496" y="3926607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有效证件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98717" y="3085399"/>
            <a:ext cx="32624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作业或上次的实验报告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4496" y="1056251"/>
            <a:ext cx="74782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预习报告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统一格式（在湖南大学物理实验教学平台下载实验报告、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A3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纸正反面打印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。）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完成项目：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实验目的、实验原理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400" b="1" dirty="0" smtClean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未写预习报告不允许做实验</a:t>
            </a:r>
            <a:r>
              <a:rPr lang="zh-CN" altLang="en-US" sz="24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！</a:t>
            </a:r>
            <a:endParaRPr lang="en-US" altLang="zh-CN" sz="2400" b="1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134709" y="2496630"/>
            <a:ext cx="3930936" cy="2484705"/>
            <a:chOff x="-1" y="125184"/>
            <a:chExt cx="8904513" cy="5018316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125184"/>
              <a:ext cx="8904513" cy="5018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940418DA-F33C-0672-7AC2-11E267D041A1}"/>
                </a:ext>
              </a:extLst>
            </p:cNvPr>
            <p:cNvSpPr/>
            <p:nvPr/>
          </p:nvSpPr>
          <p:spPr>
            <a:xfrm>
              <a:off x="5149673" y="2634342"/>
              <a:ext cx="3508991" cy="1227240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xmlns="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xmlns="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69043027-5445-4755-AC48-8C7347CF9B52}"/>
              </a:ext>
            </a:extLst>
          </p:cNvPr>
          <p:cNvSpPr/>
          <p:nvPr/>
        </p:nvSpPr>
        <p:spPr>
          <a:xfrm>
            <a:off x="120034" y="108314"/>
            <a:ext cx="363757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实验课的基本要求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27"/>
          <p:cNvSpPr txBox="1">
            <a:spLocks noChangeArrowheads="1"/>
          </p:cNvSpPr>
          <p:nvPr/>
        </p:nvSpPr>
        <p:spPr bwMode="auto">
          <a:xfrm>
            <a:off x="1747428" y="1458217"/>
            <a:ext cx="22102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签到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47428" y="3482048"/>
            <a:ext cx="411760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实验后的数据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教师检查、签字认可</a:t>
            </a:r>
          </a:p>
        </p:txBody>
      </p:sp>
      <p:sp>
        <p:nvSpPr>
          <p:cNvPr id="9" name="矩形 8"/>
          <p:cNvSpPr/>
          <p:nvPr/>
        </p:nvSpPr>
        <p:spPr>
          <a:xfrm>
            <a:off x="1725962" y="1921570"/>
            <a:ext cx="70138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做实验的原则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遵从实验室守则和安全规范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多动手探究，不允许抄袭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发现原始数据抄袭，该实验纪律分、操作分记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</a:p>
        </p:txBody>
      </p:sp>
      <p:sp>
        <p:nvSpPr>
          <p:cNvPr id="10" name="TextBox 27"/>
          <p:cNvSpPr txBox="1">
            <a:spLocks noChangeArrowheads="1"/>
          </p:cNvSpPr>
          <p:nvPr/>
        </p:nvSpPr>
        <p:spPr bwMode="auto">
          <a:xfrm>
            <a:off x="1747428" y="4285136"/>
            <a:ext cx="506772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回去完成实验报告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数据处理、误差分析、思考题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47428" y="962905"/>
            <a:ext cx="3653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迟到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超过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分钟不允许做实验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流程图: 终止 1">
            <a:extLst>
              <a:ext uri="{FF2B5EF4-FFF2-40B4-BE49-F238E27FC236}">
                <a16:creationId xmlns:a16="http://schemas.microsoft.com/office/drawing/2014/main" xmlns="" id="{FE115CE4-BC24-4920-80FA-69EAF54BC2F6}"/>
              </a:ext>
            </a:extLst>
          </p:cNvPr>
          <p:cNvSpPr/>
          <p:nvPr/>
        </p:nvSpPr>
        <p:spPr>
          <a:xfrm>
            <a:off x="1609060" y="1460205"/>
            <a:ext cx="949841" cy="398121"/>
          </a:xfrm>
          <a:prstGeom prst="flowChartTerminator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xmlns="" id="{D80ACF4B-2722-4B9E-BF72-79666CCA8B3C}"/>
              </a:ext>
            </a:extLst>
          </p:cNvPr>
          <p:cNvSpPr/>
          <p:nvPr/>
        </p:nvSpPr>
        <p:spPr>
          <a:xfrm>
            <a:off x="4189228" y="3803564"/>
            <a:ext cx="1311349" cy="377031"/>
          </a:xfrm>
          <a:prstGeom prst="flowChartTerminator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CFF3D38-2D5E-4D2A-B1C8-A86AF5391160}"/>
              </a:ext>
            </a:extLst>
          </p:cNvPr>
          <p:cNvSpPr txBox="1"/>
          <p:nvPr/>
        </p:nvSpPr>
        <p:spPr>
          <a:xfrm>
            <a:off x="155944" y="1013298"/>
            <a:ext cx="7910623" cy="255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请在湖南大学物理实验教学平台</a:t>
            </a:r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http://10.62.106.112 </a:t>
            </a:r>
            <a:r>
              <a:rPr lang="zh-CN" altLang="en-US" sz="1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8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查看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《普通物理实验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》基本要求</a:t>
            </a:r>
          </a:p>
          <a:p>
            <a:pPr>
              <a:lnSpc>
                <a:spcPct val="200000"/>
              </a:lnSpc>
            </a:pPr>
            <a:endParaRPr lang="zh-CN" altLang="en-US" sz="2800" dirty="0"/>
          </a:p>
        </p:txBody>
      </p:sp>
      <p:sp>
        <p:nvSpPr>
          <p:cNvPr id="6" name="文本框 55">
            <a:extLst>
              <a:ext uri="{FF2B5EF4-FFF2-40B4-BE49-F238E27FC236}">
                <a16:creationId xmlns:a16="http://schemas.microsoft.com/office/drawing/2014/main" xmlns="" id="{558B5FAE-3FF7-4315-BF00-8E10B344CADC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" name="图片 6" descr="图片2.jpg">
            <a:extLst>
              <a:ext uri="{FF2B5EF4-FFF2-40B4-BE49-F238E27FC236}">
                <a16:creationId xmlns:a16="http://schemas.microsoft.com/office/drawing/2014/main" xmlns="" id="{8BBCA90E-EF91-44BC-8A57-411E2AE809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8" name="图片 7" descr="图片4.jpg">
            <a:extLst>
              <a:ext uri="{FF2B5EF4-FFF2-40B4-BE49-F238E27FC236}">
                <a16:creationId xmlns:a16="http://schemas.microsoft.com/office/drawing/2014/main" xmlns="" id="{0C933D40-671B-4A70-B047-6227B41DA0F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9" name="矩形: 圆角 24">
            <a:extLst>
              <a:ext uri="{FF2B5EF4-FFF2-40B4-BE49-F238E27FC236}">
                <a16:creationId xmlns:a16="http://schemas.microsoft.com/office/drawing/2014/main" xmlns="" id="{650DE6A3-923B-43EB-AC5D-BE45A307F00A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30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  <a:scene3d>
          <a:camera prst="orthographicFront"/>
          <a:lightRig rig="threePt" dir="t"/>
        </a:scene3d>
        <a:sp3d contourW="12700"/>
      </a:bodyPr>
      <a:lstStyle>
        <a:defPPr>
          <a:lnSpc>
            <a:spcPct val="150000"/>
          </a:lnSpc>
          <a:defRPr sz="1600" b="1" dirty="0">
            <a:solidFill>
              <a:srgbClr val="C00000"/>
            </a:solidFill>
            <a:latin typeface="黑体" pitchFamily="49" charset="-122"/>
            <a:ea typeface="黑体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FFFFFF"/>
    </a:dk1>
    <a:lt1>
      <a:srgbClr val="FFFFFF"/>
    </a:lt1>
    <a:dk2>
      <a:srgbClr val="004646"/>
    </a:dk2>
    <a:lt2>
      <a:srgbClr val="E1F0FF"/>
    </a:lt2>
    <a:accent1>
      <a:srgbClr val="FFFFFF"/>
    </a:accent1>
    <a:accent2>
      <a:srgbClr val="268868"/>
    </a:accent2>
    <a:accent3>
      <a:srgbClr val="FFFFFF"/>
    </a:accent3>
    <a:accent4>
      <a:srgbClr val="DADADA"/>
    </a:accent4>
    <a:accent5>
      <a:srgbClr val="FFFFFF"/>
    </a:accent5>
    <a:accent6>
      <a:srgbClr val="217B5E"/>
    </a:accent6>
    <a:hlink>
      <a:srgbClr val="D9BE02"/>
    </a:hlink>
    <a:folHlink>
      <a:srgbClr val="F900F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4340</TotalTime>
  <Words>1779</Words>
  <Application>Microsoft Office PowerPoint</Application>
  <PresentationFormat>全屏显示(16:9)</PresentationFormat>
  <Paragraphs>264</Paragraphs>
  <Slides>26</Slides>
  <Notes>15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</dc:creator>
  <cp:lastModifiedBy>ltg</cp:lastModifiedBy>
  <cp:revision>252</cp:revision>
  <dcterms:created xsi:type="dcterms:W3CDTF">2016-11-25T11:25:31Z</dcterms:created>
  <dcterms:modified xsi:type="dcterms:W3CDTF">2026-03-10T08:13:45Z</dcterms:modified>
</cp:coreProperties>
</file>