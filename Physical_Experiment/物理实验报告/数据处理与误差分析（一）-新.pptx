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64" r:id="rId2"/>
    <p:sldId id="352" r:id="rId3"/>
    <p:sldId id="383" r:id="rId4"/>
    <p:sldId id="373" r:id="rId5"/>
    <p:sldId id="266" r:id="rId6"/>
    <p:sldId id="380" r:id="rId7"/>
    <p:sldId id="379" r:id="rId8"/>
    <p:sldId id="378" r:id="rId9"/>
    <p:sldId id="377" r:id="rId10"/>
    <p:sldId id="376" r:id="rId11"/>
    <p:sldId id="382" r:id="rId12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F6C"/>
    <a:srgbClr val="4A7886"/>
    <a:srgbClr val="FF0101"/>
    <a:srgbClr val="931E23"/>
    <a:srgbClr val="A92C23"/>
    <a:srgbClr val="C8A17E"/>
    <a:srgbClr val="B02423"/>
    <a:srgbClr val="F4F4F4"/>
    <a:srgbClr val="FCFCF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99" autoAdjust="0"/>
  </p:normalViewPr>
  <p:slideViewPr>
    <p:cSldViewPr snapToGrid="0">
      <p:cViewPr varScale="1">
        <p:scale>
          <a:sx n="139" d="100"/>
          <a:sy n="139" d="100"/>
        </p:scale>
        <p:origin x="63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3F5F2-24E0-4DB2-B40E-55A05319CE24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6A24-00E0-4DF0-99BB-272C5A438FD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9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3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1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4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9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D1F6A4ED-B612-40EC-8E90-83F3009E2301}" type="datetimeFigureOut">
              <a:rPr lang="zh-CN" altLang="en-US" smtClean="0"/>
              <a:pPr/>
              <a:t>2026/3/1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1995661"/>
            <a:ext cx="9144000" cy="84141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2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0" y="1415233"/>
            <a:ext cx="437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20000"/>
              </a:spcBef>
            </a:pPr>
            <a:r>
              <a:rPr lang="zh-CN" altLang="en-US" sz="32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大学物理实验</a:t>
            </a:r>
          </a:p>
        </p:txBody>
      </p:sp>
      <p:sp>
        <p:nvSpPr>
          <p:cNvPr id="43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1071001" y="2062427"/>
            <a:ext cx="7001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数据处理与误差分析（一）</a:t>
            </a:r>
            <a:endParaRPr lang="zh-CN" altLang="en-US" sz="4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7" name="图片 46" descr="图片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60" y="2955182"/>
            <a:ext cx="810768" cy="204825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7882116" y="81922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物理实验中心</a:t>
            </a:r>
            <a:endParaRPr lang="zh-CN" altLang="en-US" dirty="0">
              <a:solidFill>
                <a:srgbClr val="1A3F6C"/>
              </a:solidFill>
            </a:endParaRPr>
          </a:p>
        </p:txBody>
      </p:sp>
      <p:pic>
        <p:nvPicPr>
          <p:cNvPr id="49" name="图片 48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0988" y="234188"/>
            <a:ext cx="1407320" cy="586384"/>
          </a:xfrm>
          <a:prstGeom prst="rect">
            <a:avLst/>
          </a:prstGeom>
        </p:spPr>
      </p:pic>
      <p:pic>
        <p:nvPicPr>
          <p:cNvPr id="56" name="Picture 2" descr="http://spe.hnu.edu.cn/__local/3/7B/2F/D579F627F7D3E91FAE08CAB1264_1A148737_11A6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2311" y="2992581"/>
            <a:ext cx="1630822" cy="972000"/>
          </a:xfrm>
          <a:prstGeom prst="rect">
            <a:avLst/>
          </a:prstGeom>
          <a:noFill/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BA52F13-CF7D-40E5-BDDB-3A87AE643B3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856767" y="4013907"/>
            <a:ext cx="1613380" cy="977269"/>
          </a:xfrm>
          <a:prstGeom prst="rect">
            <a:avLst/>
          </a:prstGeom>
        </p:spPr>
      </p:pic>
      <p:pic>
        <p:nvPicPr>
          <p:cNvPr id="58" name="图片 6" descr="17">
            <a:extLst>
              <a:ext uri="{FF2B5EF4-FFF2-40B4-BE49-F238E27FC236}">
                <a16:creationId xmlns:a16="http://schemas.microsoft.com/office/drawing/2014/main" id="{FFABDE8C-76BD-4432-B8C3-C67F3531F32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188599" y="4031574"/>
            <a:ext cx="1610714" cy="97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78E21CD4-03E5-4CDE-A92C-E3ECF60DCDDF}"/>
              </a:ext>
            </a:extLst>
          </p:cNvPr>
          <p:cNvSpPr/>
          <p:nvPr/>
        </p:nvSpPr>
        <p:spPr>
          <a:xfrm>
            <a:off x="5188599" y="2994570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869D088-521C-4DEC-A8D1-5E58E0C4EF59}"/>
              </a:ext>
            </a:extLst>
          </p:cNvPr>
          <p:cNvSpPr/>
          <p:nvPr/>
        </p:nvSpPr>
        <p:spPr>
          <a:xfrm>
            <a:off x="8542067" y="4013907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61" name="Picture 4" descr="https://timgsa.baidu.com/timg?image&amp;quality=80&amp;size=b9999_10000&amp;sec=1594637107895&amp;di=8259f08702bd64f7dc9b78fb72aa5a52&amp;imgtype=0&amp;src=http%3A%2F%2F5b0988e595225.cdn.sohucs.com%2Fimages%2F20180112%2F0e8f312c2d4248c99f1fe40e52d34d37.jpe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92038" y="4015687"/>
            <a:ext cx="3274154" cy="991133"/>
          </a:xfrm>
          <a:prstGeom prst="rect">
            <a:avLst/>
          </a:prstGeom>
          <a:noFill/>
        </p:spPr>
      </p:pic>
      <p:pic>
        <p:nvPicPr>
          <p:cNvPr id="62" name="图片 61" descr="湖南大学门匾.jpg"/>
          <p:cNvPicPr>
            <a:picLocks noChangeAspect="1"/>
          </p:cNvPicPr>
          <p:nvPr/>
        </p:nvPicPr>
        <p:blipFill>
          <a:blip r:embed="rId8" cstate="print"/>
          <a:srcRect t="5283" b="3943"/>
          <a:stretch>
            <a:fillRect/>
          </a:stretch>
        </p:blipFill>
        <p:spPr>
          <a:xfrm>
            <a:off x="7440460" y="2981194"/>
            <a:ext cx="1565754" cy="9720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3100AEF4-BCEA-4A36-847D-953391623A10}"/>
              </a:ext>
            </a:extLst>
          </p:cNvPr>
          <p:cNvSpPr/>
          <p:nvPr/>
        </p:nvSpPr>
        <p:spPr>
          <a:xfrm>
            <a:off x="7442180" y="2984304"/>
            <a:ext cx="1576560" cy="967796"/>
          </a:xfrm>
          <a:prstGeom prst="rect">
            <a:avLst/>
          </a:prstGeom>
          <a:solidFill>
            <a:srgbClr val="1A3F6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244048"/>
            <a:ext cx="2356223" cy="49890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测量与误差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850168"/>
            <a:ext cx="1989468" cy="49890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系统误差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1456288"/>
            <a:ext cx="3263462" cy="49890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随机误差及其估算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2062408"/>
            <a:ext cx="2008771" cy="49890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误差传递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2668528"/>
            <a:ext cx="2023058" cy="4560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有效数字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3231776"/>
            <a:ext cx="4005858" cy="4560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测量不确定度及其评定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3795024"/>
            <a:ext cx="3661306" cy="4560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实验结果的正确表述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356231" y="4358273"/>
            <a:ext cx="2679657" cy="4560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 Origin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8572" y="206523"/>
            <a:ext cx="198002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你将学习</a:t>
            </a:r>
            <a:endParaRPr lang="en-US" altLang="zh-CN" sz="2800" b="1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以下内容：</a:t>
            </a:r>
            <a:endParaRPr lang="zh-CN" altLang="en-US" sz="2800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027539" y="1222740"/>
            <a:ext cx="26088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测量与误差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3027540" y="2508614"/>
            <a:ext cx="26088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系统误差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57162" y="747864"/>
            <a:ext cx="3721893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1.1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误差的定义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26088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测量与误差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1" name="TextBox 27"/>
          <p:cNvSpPr txBox="1">
            <a:spLocks noChangeArrowheads="1"/>
          </p:cNvSpPr>
          <p:nvPr/>
        </p:nvSpPr>
        <p:spPr bwMode="auto">
          <a:xfrm>
            <a:off x="897744" y="3800470"/>
            <a:ext cx="660320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）不确定度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uncertainty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： </a:t>
            </a: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</a:t>
            </a:r>
            <a:r>
              <a:rPr lang="en-US" altLang="zh-CN" sz="2000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±</a:t>
            </a: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u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  →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(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x−u, </a:t>
            </a: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x+u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)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数据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的离散程度，估计误差大小时所用，正数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——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“误差”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的第二种意义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矩形 8"/>
          <p:cNvSpPr>
            <a:spLocks noChangeArrowheads="1"/>
          </p:cNvSpPr>
          <p:nvPr/>
        </p:nvSpPr>
        <p:spPr bwMode="auto">
          <a:xfrm>
            <a:off x="993774" y="1398577"/>
            <a:ext cx="65428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测量：与确定了计量单位的标准物理量进行比较的过程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897744" y="2734488"/>
            <a:ext cx="497998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）误差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(error)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</a:t>
            </a:r>
            <a:r>
              <a:rPr lang="el-GR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= x</a:t>
            </a:r>
            <a:r>
              <a:rPr lang="el-GR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−</a:t>
            </a:r>
            <a:r>
              <a:rPr lang="el-GR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μ</a:t>
            </a:r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  <a:p>
            <a:pPr marL="457200" indent="-457200"/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000" i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——   </a:t>
            </a:r>
            <a:r>
              <a:rPr lang="zh-CN" altLang="en-US" sz="200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真值的偏离程度，可正可负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457200" indent="-457200"/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00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“误差” 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的第一种意义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3775" y="1773619"/>
            <a:ext cx="16834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测量值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000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4707731" y="2459833"/>
            <a:ext cx="1271588" cy="426242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8"/>
          <p:cNvSpPr>
            <a:spLocks noChangeArrowheads="1"/>
          </p:cNvSpPr>
          <p:nvPr/>
        </p:nvSpPr>
        <p:spPr bwMode="auto">
          <a:xfrm>
            <a:off x="981075" y="2148662"/>
            <a:ext cx="20050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真值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	</a:t>
            </a:r>
            <a:r>
              <a:rPr lang="el-GR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endParaRPr lang="en-US" altLang="zh-CN" sz="2000" i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37301" y="2120900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不可知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421063" y="2360613"/>
            <a:ext cx="2555875" cy="1587"/>
          </a:xfrm>
          <a:prstGeom prst="straightConnector1">
            <a:avLst/>
          </a:prstGeom>
          <a:ln w="19050">
            <a:solidFill>
              <a:srgbClr val="1A3F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D53F862A-1010-66DC-EE8F-FC0C8CC84073}"/>
              </a:ext>
            </a:extLst>
          </p:cNvPr>
          <p:cNvSpPr/>
          <p:nvPr/>
        </p:nvSpPr>
        <p:spPr>
          <a:xfrm>
            <a:off x="4221365" y="3821876"/>
            <a:ext cx="718310" cy="392060"/>
          </a:xfrm>
          <a:prstGeom prst="ellipse">
            <a:avLst/>
          </a:prstGeom>
          <a:noFill/>
          <a:ln w="34925"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9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07156" y="114150"/>
            <a:ext cx="3721893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1.2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不确定度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3101971" y="144779"/>
            <a:ext cx="4527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不确定度的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两种表述方式</a:t>
            </a:r>
            <a:endParaRPr lang="zh-CN" altLang="en-US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27"/>
          <p:cNvSpPr txBox="1">
            <a:spLocks noChangeArrowheads="1"/>
          </p:cNvSpPr>
          <p:nvPr/>
        </p:nvSpPr>
        <p:spPr bwMode="auto">
          <a:xfrm>
            <a:off x="1069138" y="992132"/>
            <a:ext cx="5310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不确定度的大小（绝对误差）：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与使用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的仪器、测量方法等相关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2" name="组合 9"/>
          <p:cNvGrpSpPr>
            <a:grpSpLocks/>
          </p:cNvGrpSpPr>
          <p:nvPr/>
        </p:nvGrpSpPr>
        <p:grpSpPr bwMode="auto">
          <a:xfrm>
            <a:off x="1069138" y="2066811"/>
            <a:ext cx="6316750" cy="710705"/>
            <a:chOff x="884238" y="4235478"/>
            <a:chExt cx="4572000" cy="710751"/>
          </a:xfrm>
        </p:grpSpPr>
        <p:graphicFrame>
          <p:nvGraphicFramePr>
            <p:cNvPr id="13" name="Object 2"/>
            <p:cNvGraphicFramePr>
              <a:graphicFrameLocks noChangeAspect="1"/>
            </p:cNvGraphicFramePr>
            <p:nvPr/>
          </p:nvGraphicFramePr>
          <p:xfrm>
            <a:off x="3861951" y="4248945"/>
            <a:ext cx="808898" cy="697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22080" imgH="393480" progId="Equation.DSMT4">
                    <p:embed/>
                  </p:oleObj>
                </mc:Choice>
                <mc:Fallback>
                  <p:oleObj name="Equation" r:id="rId5" imgW="622080" imgH="39348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1951" y="4248945"/>
                          <a:ext cx="808898" cy="697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8"/>
            <p:cNvSpPr>
              <a:spLocks noChangeArrowheads="1"/>
            </p:cNvSpPr>
            <p:nvPr/>
          </p:nvSpPr>
          <p:spPr bwMode="auto">
            <a:xfrm>
              <a:off x="884238" y="4235478"/>
              <a:ext cx="4572000" cy="707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rgbClr val="0070C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相对不确定度（相对误差）：</a:t>
              </a:r>
              <a:r>
                <a:rPr lang="en-US" altLang="zh-CN" sz="2000" dirty="0">
                  <a:solidFill>
                    <a:srgbClr val="0070C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	</a:t>
              </a:r>
            </a:p>
            <a:p>
              <a:r>
                <a:rPr lang="en-US" altLang="zh-CN" sz="2000" dirty="0">
                  <a:solidFill>
                    <a:srgbClr val="0070C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	——</a:t>
              </a:r>
              <a:r>
                <a:rPr lang="zh-CN" altLang="en-US" sz="2000" dirty="0">
                  <a:solidFill>
                    <a:srgbClr val="0070C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表征测量结果的好坏</a:t>
              </a:r>
              <a:endParaRPr lang="en-US" altLang="zh-CN" sz="2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547946" y="3435235"/>
            <a:ext cx="383292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类不确定度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统计学方法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类不确定度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其他方法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069138" y="3033497"/>
            <a:ext cx="4167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估算不确定度的方法：人为评定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07156" y="114150"/>
            <a:ext cx="4007644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1.3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系统误差与随机误差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15"/>
          <p:cNvSpPr>
            <a:spLocks noChangeArrowheads="1"/>
          </p:cNvSpPr>
          <p:nvPr/>
        </p:nvSpPr>
        <p:spPr bwMode="auto">
          <a:xfrm>
            <a:off x="4237867" y="144779"/>
            <a:ext cx="386318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误差（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error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）的来源</a:t>
            </a:r>
            <a:endParaRPr lang="zh-CN" altLang="en-US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835820" y="864351"/>
            <a:ext cx="2738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4A7886"/>
              </a:buClr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A. 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578779" y="1552533"/>
            <a:ext cx="470057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来源：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实验仪器、测量方法、特定环境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……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319356" y="3316387"/>
            <a:ext cx="443625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可消除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如何消除？</a:t>
            </a: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无统一的方法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516902" y="2378842"/>
            <a:ext cx="344327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特点：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不变，或按一定规律变化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5A32C78-C7E1-F090-77B1-68C4CC658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2638" y="2865163"/>
          <a:ext cx="1100204" cy="60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500" imgH="393700" progId="Equation.DSMT4">
                  <p:embed/>
                </p:oleObj>
              </mc:Choice>
              <mc:Fallback>
                <p:oleObj name="Equation" r:id="rId5" imgW="444500" imgH="3937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2638" y="2865163"/>
                        <a:ext cx="1100204" cy="605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3">
            <a:extLst>
              <a:ext uri="{FF2B5EF4-FFF2-40B4-BE49-F238E27FC236}">
                <a16:creationId xmlns:a16="http://schemas.microsoft.com/office/drawing/2014/main" id="{D1DD1461-0DAA-E5A5-608E-A16E7A24298B}"/>
              </a:ext>
            </a:extLst>
          </p:cNvPr>
          <p:cNvSpPr txBox="1"/>
          <p:nvPr/>
        </p:nvSpPr>
        <p:spPr>
          <a:xfrm>
            <a:off x="6736994" y="3470275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内接？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BF495C3E-3DEB-5B32-D09C-39BB44E416E1}"/>
              </a:ext>
            </a:extLst>
          </p:cNvPr>
          <p:cNvSpPr txBox="1"/>
          <p:nvPr/>
        </p:nvSpPr>
        <p:spPr>
          <a:xfrm>
            <a:off x="7621593" y="3459130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外接？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313641-8B29-FA98-5762-1BB823BAF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7190" y="766258"/>
            <a:ext cx="1481931" cy="8709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3209AD7-4E45-FB7D-AC0E-DCE259F6B4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6178" y="1807191"/>
            <a:ext cx="2196167" cy="1051585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06C99566-4515-169D-A8DB-F1741392E315}"/>
              </a:ext>
            </a:extLst>
          </p:cNvPr>
          <p:cNvSpPr txBox="1"/>
          <p:nvPr/>
        </p:nvSpPr>
        <p:spPr>
          <a:xfrm>
            <a:off x="338830" y="4250790"/>
            <a:ext cx="7282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需养成的习惯：</a:t>
            </a:r>
            <a:r>
              <a:rPr lang="en-US" altLang="zh-CN" sz="2000" b="1" dirty="0">
                <a:solidFill>
                  <a:srgbClr val="002060"/>
                </a:solidFill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</a:rPr>
              <a:t>、确定仪器、仪表（测量工具）的最小分刻度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r>
              <a:rPr lang="en-US" altLang="zh-CN" sz="2000" b="1" dirty="0">
                <a:solidFill>
                  <a:srgbClr val="002060"/>
                </a:solidFill>
              </a:rPr>
              <a:t>                          2</a:t>
            </a:r>
            <a:r>
              <a:rPr lang="zh-CN" altLang="en-US" sz="2000" b="1" dirty="0">
                <a:solidFill>
                  <a:srgbClr val="002060"/>
                </a:solidFill>
              </a:rPr>
              <a:t>、消除实验仪器本身带来的系统误差</a:t>
            </a:r>
            <a:r>
              <a:rPr lang="en-US" altLang="zh-CN" sz="2000" b="1" dirty="0">
                <a:solidFill>
                  <a:srgbClr val="002060"/>
                </a:solidFill>
              </a:rPr>
              <a:t>——</a:t>
            </a:r>
            <a:r>
              <a:rPr lang="zh-CN" altLang="en-US" sz="2000" b="1" dirty="0">
                <a:solidFill>
                  <a:srgbClr val="002060"/>
                </a:solidFill>
              </a:rPr>
              <a:t>调零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/>
      <p:bldP spid="4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1825626" y="884242"/>
            <a:ext cx="522446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来源：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大量的、微小的、不相关的因素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物理量本质上的随机性（如温度、压强等）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25626" y="3441690"/>
            <a:ext cx="30892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不满足确定的函数关系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随机变量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——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统计规律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825626" y="2316854"/>
            <a:ext cx="29448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特点：</a:t>
            </a:r>
            <a:endParaRPr lang="en-US" altLang="zh-CN" sz="200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随机变化、不可消除</a:t>
            </a:r>
            <a:endParaRPr lang="en-US" altLang="zh-CN" sz="200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27"/>
          <p:cNvSpPr txBox="1">
            <a:spLocks noChangeArrowheads="1"/>
          </p:cNvSpPr>
          <p:nvPr/>
        </p:nvSpPr>
        <p:spPr bwMode="auto">
          <a:xfrm>
            <a:off x="407195" y="228557"/>
            <a:ext cx="2738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4A7886"/>
              </a:buClr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B. 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grpSp>
        <p:nvGrpSpPr>
          <p:cNvPr id="6" name="组合 19"/>
          <p:cNvGrpSpPr>
            <a:grpSpLocks/>
          </p:cNvGrpSpPr>
          <p:nvPr/>
        </p:nvGrpSpPr>
        <p:grpSpPr bwMode="auto">
          <a:xfrm>
            <a:off x="3679022" y="1906550"/>
            <a:ext cx="1816538" cy="2690786"/>
            <a:chOff x="701622" y="4341825"/>
            <a:chExt cx="2168032" cy="3269875"/>
          </a:xfrm>
        </p:grpSpPr>
        <p:pic>
          <p:nvPicPr>
            <p:cNvPr id="7" name="图片 15" descr="101.bmp"/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1622" y="4341825"/>
              <a:ext cx="2168032" cy="2154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矩形 7"/>
            <p:cNvSpPr/>
            <p:nvPr/>
          </p:nvSpPr>
          <p:spPr>
            <a:xfrm>
              <a:off x="1066668" y="6751468"/>
              <a:ext cx="1533177" cy="8602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准确度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accuracy</a:t>
              </a:r>
              <a:endParaRPr lang="zh-CN" altLang="en-US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组合 21"/>
          <p:cNvGrpSpPr>
            <a:grpSpLocks/>
          </p:cNvGrpSpPr>
          <p:nvPr/>
        </p:nvGrpSpPr>
        <p:grpSpPr bwMode="auto">
          <a:xfrm>
            <a:off x="721468" y="1979575"/>
            <a:ext cx="1835155" cy="2600653"/>
            <a:chOff x="884187" y="4451364"/>
            <a:chExt cx="2190780" cy="3160671"/>
          </a:xfrm>
        </p:grpSpPr>
        <p:pic>
          <p:nvPicPr>
            <p:cNvPr id="10" name="图片 16" descr="102.bmp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84187" y="4451364"/>
              <a:ext cx="2190780" cy="2190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矩形 10"/>
            <p:cNvSpPr/>
            <p:nvPr/>
          </p:nvSpPr>
          <p:spPr>
            <a:xfrm>
              <a:off x="1212808" y="6751715"/>
              <a:ext cx="1606572" cy="8603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精密度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en-US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precision</a:t>
              </a:r>
              <a:endParaRPr lang="zh-CN" altLang="en-US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组合 23"/>
          <p:cNvGrpSpPr>
            <a:grpSpLocks/>
          </p:cNvGrpSpPr>
          <p:nvPr/>
        </p:nvGrpSpPr>
        <p:grpSpPr bwMode="auto">
          <a:xfrm>
            <a:off x="6673088" y="1842324"/>
            <a:ext cx="1777972" cy="2690785"/>
            <a:chOff x="6611617" y="4378338"/>
            <a:chExt cx="2122865" cy="3271023"/>
          </a:xfrm>
        </p:grpSpPr>
        <p:pic>
          <p:nvPicPr>
            <p:cNvPr id="13" name="图片 17" descr="103.bmp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611617" y="4378338"/>
              <a:ext cx="2122865" cy="2081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矩形 13"/>
            <p:cNvSpPr/>
            <p:nvPr/>
          </p:nvSpPr>
          <p:spPr>
            <a:xfrm>
              <a:off x="7013332" y="6788827"/>
              <a:ext cx="1391829" cy="8605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精确度</a:t>
              </a:r>
              <a:endParaRPr lang="en-US" altLang="zh-CN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cs typeface="Times New Roman" pitchFamily="18" charset="0"/>
                </a:rPr>
                <a:t>exactness</a:t>
              </a:r>
              <a:endParaRPr lang="zh-CN" altLang="en-US" sz="2000" dirty="0">
                <a:solidFill>
                  <a:srgbClr val="1A3F6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矩形 8"/>
          <p:cNvSpPr>
            <a:spLocks noChangeArrowheads="1"/>
          </p:cNvSpPr>
          <p:nvPr/>
        </p:nvSpPr>
        <p:spPr bwMode="auto">
          <a:xfrm>
            <a:off x="894510" y="933400"/>
            <a:ext cx="20447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随机误差小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系统误差大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矩形 8"/>
          <p:cNvSpPr>
            <a:spLocks noChangeArrowheads="1"/>
          </p:cNvSpPr>
          <p:nvPr/>
        </p:nvSpPr>
        <p:spPr bwMode="auto">
          <a:xfrm>
            <a:off x="3847298" y="933400"/>
            <a:ext cx="20447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系统误差小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随机误差大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9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07155" y="114150"/>
            <a:ext cx="7065169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1.4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系统误差与随机误差对测量数据的影响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C15055FD-2052-701C-61C4-45724AA42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35" y="944820"/>
            <a:ext cx="20447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系统误差小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随机误差小</a:t>
            </a:r>
            <a:endParaRPr lang="en-US" altLang="zh-CN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57162" y="833592"/>
            <a:ext cx="3721893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2.1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来源考察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120034" y="108314"/>
            <a:ext cx="260887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系统误差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398514" y="1653946"/>
            <a:ext cx="6781080" cy="327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spcAft>
                <a:spcPts val="1500"/>
              </a:spcAft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测量</a:t>
            </a:r>
            <a:r>
              <a:rPr lang="zh-CN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装置是否准确可靠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457200" indent="-457200">
              <a:spcAft>
                <a:spcPts val="1500"/>
              </a:spcAft>
            </a:pPr>
            <a:r>
              <a:rPr lang="en-US" altLang="zh-CN" sz="24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zh-CN" sz="24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测量方法</a:t>
            </a:r>
            <a:r>
              <a:rPr lang="zh-CN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是否完善</a:t>
            </a:r>
            <a:endParaRPr lang="en-US" altLang="zh-CN" sz="24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Aft>
                <a:spcPts val="1500"/>
              </a:spcAft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 </a:t>
            </a:r>
            <a:r>
              <a:rPr lang="zh-CN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测量装置的安装、调整、放置等是否正确合理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Aft>
                <a:spcPts val="1500"/>
              </a:spcAft>
            </a:pPr>
            <a:r>
              <a:rPr lang="en-US" altLang="zh-CN" sz="24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 </a:t>
            </a:r>
            <a:r>
              <a:rPr lang="zh-CN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操作是否正确</a:t>
            </a:r>
            <a:endParaRPr lang="en-US" altLang="zh-CN" sz="24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Aft>
                <a:spcPts val="1500"/>
              </a:spcAft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 </a:t>
            </a:r>
            <a:r>
              <a:rPr lang="zh-CN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工作环境条件是否符合</a:t>
            </a:r>
            <a:r>
              <a:rPr lang="zh-CN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规定条件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spcAft>
                <a:spcPts val="1500"/>
              </a:spcAft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……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407194" y="262089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2.2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发现与判别的方法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1063621" y="1098153"/>
            <a:ext cx="414415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defRPr/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对比法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改变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实验条件或实验方法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63620" y="3123787"/>
            <a:ext cx="565862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统计准则检验法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误差正负号的统计特性；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正误差的平方和与负误差的平方和；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……</a:t>
            </a:r>
            <a:endParaRPr lang="zh-CN" altLang="en-US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63620" y="2110970"/>
            <a:ext cx="62301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偏差观察法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观察实验数据描点（按时间排列）的分布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129346" y="907256"/>
            <a:ext cx="2028823" cy="1481137"/>
            <a:chOff x="6079340" y="571500"/>
            <a:chExt cx="2028823" cy="1481137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6079340" y="1935959"/>
              <a:ext cx="202882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 flipV="1">
              <a:off x="6186493" y="585784"/>
              <a:ext cx="2382" cy="14668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6372225" y="571500"/>
              <a:ext cx="1535906" cy="127873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6450806" y="178595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6482628" y="163830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6671613" y="1490677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6560560" y="1543065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895667" y="148115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6998927" y="141924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7069715" y="1200164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7130113" y="1066814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7204797" y="96918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7300913" y="95013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6770977" y="149544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7045037" y="131922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7548147" y="95487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7651407" y="89296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7722195" y="673884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7423457" y="96916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7697517" y="79294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407194" y="262089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削弱或消除的方法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1699438" y="1192462"/>
            <a:ext cx="594440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buAutoNum type="arabicPeriod"/>
              <a:defRPr/>
            </a:pP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分析实验方法、实验仪器、实验环境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从根源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上着手，发现问题再改进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699438" y="2324299"/>
            <a:ext cx="42581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  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典型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测量方法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）替代法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2530" name="Group 2"/>
          <p:cNvGrpSpPr>
            <a:grpSpLocks noChangeAspect="1"/>
          </p:cNvGrpSpPr>
          <p:nvPr/>
        </p:nvGrpSpPr>
        <p:grpSpPr bwMode="auto">
          <a:xfrm>
            <a:off x="6347618" y="3158331"/>
            <a:ext cx="1366838" cy="1303337"/>
            <a:chOff x="7588" y="4403"/>
            <a:chExt cx="2151" cy="2052"/>
          </a:xfrm>
        </p:grpSpPr>
        <p:sp>
          <p:nvSpPr>
            <p:cNvPr id="22531" name="AutoShape 3"/>
            <p:cNvSpPr>
              <a:spLocks noChangeAspect="1" noChangeArrowheads="1"/>
            </p:cNvSpPr>
            <p:nvPr/>
          </p:nvSpPr>
          <p:spPr bwMode="auto">
            <a:xfrm>
              <a:off x="7588" y="4403"/>
              <a:ext cx="2151" cy="205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532" name="Oval 4"/>
            <p:cNvSpPr>
              <a:spLocks noChangeArrowheads="1"/>
            </p:cNvSpPr>
            <p:nvPr/>
          </p:nvSpPr>
          <p:spPr bwMode="auto">
            <a:xfrm>
              <a:off x="7791" y="4617"/>
              <a:ext cx="1661" cy="16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533" name="Oval 5"/>
            <p:cNvSpPr>
              <a:spLocks noChangeArrowheads="1"/>
            </p:cNvSpPr>
            <p:nvPr/>
          </p:nvSpPr>
          <p:spPr bwMode="auto">
            <a:xfrm flipH="1">
              <a:off x="8586" y="5409"/>
              <a:ext cx="71" cy="7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cxnSp>
          <p:nvCxnSpPr>
            <p:cNvPr id="22534" name="AutoShape 6"/>
            <p:cNvCxnSpPr>
              <a:cxnSpLocks noChangeShapeType="1"/>
            </p:cNvCxnSpPr>
            <p:nvPr/>
          </p:nvCxnSpPr>
          <p:spPr bwMode="auto">
            <a:xfrm flipH="1">
              <a:off x="8020" y="4833"/>
              <a:ext cx="1175" cy="11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2535" name="AutoShape 7"/>
            <p:cNvCxnSpPr>
              <a:cxnSpLocks noChangeShapeType="1"/>
            </p:cNvCxnSpPr>
            <p:nvPr/>
          </p:nvCxnSpPr>
          <p:spPr bwMode="auto">
            <a:xfrm flipH="1">
              <a:off x="8427" y="4662"/>
              <a:ext cx="460" cy="15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2536" name="Freeform 8"/>
            <p:cNvSpPr>
              <a:spLocks/>
            </p:cNvSpPr>
            <p:nvPr/>
          </p:nvSpPr>
          <p:spPr bwMode="auto">
            <a:xfrm>
              <a:off x="8771" y="5116"/>
              <a:ext cx="71" cy="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9" y="18"/>
                </a:cxn>
                <a:cxn ang="0">
                  <a:pos x="109" y="83"/>
                </a:cxn>
              </a:cxnLst>
              <a:rect l="0" t="0" r="r" b="b"/>
              <a:pathLst>
                <a:path w="127" h="83">
                  <a:moveTo>
                    <a:pt x="0" y="0"/>
                  </a:moveTo>
                  <a:cubicBezTo>
                    <a:pt x="45" y="2"/>
                    <a:pt x="91" y="4"/>
                    <a:pt x="109" y="18"/>
                  </a:cubicBezTo>
                  <a:cubicBezTo>
                    <a:pt x="127" y="32"/>
                    <a:pt x="109" y="72"/>
                    <a:pt x="109" y="8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537" name="Freeform 9"/>
            <p:cNvSpPr>
              <a:spLocks/>
            </p:cNvSpPr>
            <p:nvPr/>
          </p:nvSpPr>
          <p:spPr bwMode="auto">
            <a:xfrm>
              <a:off x="8475" y="5534"/>
              <a:ext cx="146" cy="1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95"/>
                </a:cxn>
                <a:cxn ang="0">
                  <a:pos x="146" y="95"/>
                </a:cxn>
              </a:cxnLst>
              <a:rect l="0" t="0" r="r" b="b"/>
              <a:pathLst>
                <a:path w="146" h="111">
                  <a:moveTo>
                    <a:pt x="0" y="0"/>
                  </a:moveTo>
                  <a:cubicBezTo>
                    <a:pt x="1" y="39"/>
                    <a:pt x="3" y="79"/>
                    <a:pt x="27" y="95"/>
                  </a:cubicBezTo>
                  <a:cubicBezTo>
                    <a:pt x="51" y="111"/>
                    <a:pt x="126" y="95"/>
                    <a:pt x="146" y="9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538" name="Text Box 10"/>
            <p:cNvSpPr txBox="1">
              <a:spLocks noChangeArrowheads="1"/>
            </p:cNvSpPr>
            <p:nvPr/>
          </p:nvSpPr>
          <p:spPr bwMode="auto">
            <a:xfrm>
              <a:off x="8715" y="4554"/>
              <a:ext cx="721" cy="4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θ</a:t>
              </a:r>
              <a:r>
                <a:rPr kumimoji="0" lang="en-US" altLang="zh-CN" sz="1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1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2539" name="Text Box 11"/>
            <p:cNvSpPr txBox="1">
              <a:spLocks noChangeArrowheads="1"/>
            </p:cNvSpPr>
            <p:nvPr/>
          </p:nvSpPr>
          <p:spPr bwMode="auto">
            <a:xfrm>
              <a:off x="8059" y="5741"/>
              <a:ext cx="793" cy="4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θ</a:t>
              </a:r>
              <a:r>
                <a:rPr kumimoji="0" lang="en-US" altLang="zh-CN" sz="1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050249" y="3073386"/>
            <a:ext cx="34075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）交换法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50249" y="3460509"/>
            <a:ext cx="3078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）对称测量法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50249" y="3861125"/>
            <a:ext cx="365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）变更直接测量量</a:t>
            </a:r>
            <a:endParaRPr lang="en-US" altLang="zh-CN" sz="240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/>
            <a:r>
              <a:rPr lang="en-US" altLang="zh-CN" sz="24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……</a:t>
            </a:r>
            <a:endParaRPr lang="en-US" altLang="zh-CN" sz="24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  <a:scene3d>
          <a:camera prst="orthographicFront"/>
          <a:lightRig rig="threePt" dir="t"/>
        </a:scene3d>
        <a:sp3d contourW="12700"/>
      </a:bodyPr>
      <a:lstStyle>
        <a:defPPr>
          <a:lnSpc>
            <a:spcPct val="150000"/>
          </a:lnSpc>
          <a:defRPr sz="1600" b="1" dirty="0">
            <a:solidFill>
              <a:srgbClr val="C00000"/>
            </a:solidFill>
            <a:latin typeface="黑体" pitchFamily="49" charset="-122"/>
            <a:ea typeface="黑体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3573</TotalTime>
  <Words>598</Words>
  <Application>Microsoft Office PowerPoint</Application>
  <PresentationFormat>全屏显示(16:9)</PresentationFormat>
  <Paragraphs>119</Paragraphs>
  <Slides>11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黑体</vt:lpstr>
      <vt:lpstr>微软雅黑</vt:lpstr>
      <vt:lpstr>印品黑体</vt:lpstr>
      <vt:lpstr>Arial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Administrator</cp:lastModifiedBy>
  <cp:revision>132</cp:revision>
  <dcterms:created xsi:type="dcterms:W3CDTF">2016-11-25T11:25:31Z</dcterms:created>
  <dcterms:modified xsi:type="dcterms:W3CDTF">2026-03-01T05:48:08Z</dcterms:modified>
</cp:coreProperties>
</file>