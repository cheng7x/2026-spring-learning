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364" r:id="rId2"/>
    <p:sldId id="352" r:id="rId3"/>
    <p:sldId id="391" r:id="rId4"/>
    <p:sldId id="390" r:id="rId5"/>
    <p:sldId id="402" r:id="rId6"/>
    <p:sldId id="403" r:id="rId7"/>
    <p:sldId id="404" r:id="rId8"/>
    <p:sldId id="389" r:id="rId9"/>
    <p:sldId id="405" r:id="rId10"/>
    <p:sldId id="406" r:id="rId11"/>
    <p:sldId id="407" r:id="rId12"/>
    <p:sldId id="408" r:id="rId13"/>
    <p:sldId id="409" r:id="rId14"/>
    <p:sldId id="421" r:id="rId15"/>
    <p:sldId id="410" r:id="rId16"/>
    <p:sldId id="418" r:id="rId17"/>
    <p:sldId id="419" r:id="rId18"/>
    <p:sldId id="420" r:id="rId19"/>
    <p:sldId id="411" r:id="rId20"/>
    <p:sldId id="412" r:id="rId21"/>
    <p:sldId id="397" r:id="rId22"/>
    <p:sldId id="413" r:id="rId23"/>
    <p:sldId id="396" r:id="rId24"/>
    <p:sldId id="395" r:id="rId25"/>
    <p:sldId id="394" r:id="rId26"/>
    <p:sldId id="414" r:id="rId27"/>
    <p:sldId id="415" r:id="rId28"/>
    <p:sldId id="417" r:id="rId29"/>
    <p:sldId id="393" r:id="rId30"/>
    <p:sldId id="416" r:id="rId31"/>
    <p:sldId id="422" r:id="rId32"/>
  </p:sldIdLst>
  <p:sldSz cx="9144000" cy="5143500" type="screen16x9"/>
  <p:notesSz cx="6858000" cy="9144000"/>
  <p:custDataLst>
    <p:tags r:id="rId34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101"/>
    <a:srgbClr val="C8A17E"/>
    <a:srgbClr val="00FF00"/>
    <a:srgbClr val="FFFFFF"/>
    <a:srgbClr val="1A3F6C"/>
    <a:srgbClr val="4A7886"/>
    <a:srgbClr val="931E23"/>
    <a:srgbClr val="A92C23"/>
    <a:srgbClr val="B02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99" autoAdjust="0"/>
  </p:normalViewPr>
  <p:slideViewPr>
    <p:cSldViewPr snapToGrid="0">
      <p:cViewPr varScale="1">
        <p:scale>
          <a:sx n="108" d="100"/>
          <a:sy n="108" d="100"/>
        </p:scale>
        <p:origin x="-734" y="-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3F5F2-24E0-4DB2-B40E-55A05319CE24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6A24-00E0-4DF0-99BB-272C5A438FD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3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868A30E-E3F9-F407-7A91-3FA98114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2EFE5315-71A6-DF14-1CA9-CB4DABE35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EFBAD20E-2711-DD64-89FD-A968B29AE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3A993EDA-5A41-E04F-C41A-CDEAD1A6B9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430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6C8D8D9-B313-DA8A-D77D-B169EE15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8F9E9ACE-0DB4-90E7-189D-02E3E7634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B901D253-ED24-68AB-A665-8109FE0D3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31E75FB5-A7FB-6B21-F167-2A90812BDB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212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D3B077C-6358-4FBF-4ED1-EC7E94E4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34AED0E2-9E4E-2C34-BA51-01593630E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A1DD2D26-BBF0-79DF-B7FB-30758FF99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293AB57C-2820-2AD9-F7A1-0B2D27C2C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44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D66256D-F8A3-1259-5C1F-7F0C904C4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E1E28C97-C7D9-B112-8C61-31ECECCB2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94AADE98-D86E-2F9D-B45A-AA8D5688C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D87A96D-BBB9-F1AA-1165-840E4A6CF4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972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D53E270-B82F-82EA-D3E7-07AF5660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F6D5CF1D-81A1-B511-C779-C53B70F46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F9046E06-70EF-7D46-DD7F-DF9DDA141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19F576AF-329D-A1B1-1293-64FF6AD83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07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83669D7-ACBF-BD08-EB5A-140C09C4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0360217E-9CF0-CE3F-70F8-9EBF3238E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DB631F14-1A20-EC1B-5C58-B247CDFBD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A4FB2DD2-8461-BDB7-9E7D-C795D1EBE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8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8392ABD-236D-2616-BBB3-A721CF6C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79E14536-9369-94CA-DD68-6B683854E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FA860A3B-2F4C-C94D-097B-D28E2FAA6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B305FFE2-40BB-DEA4-D08E-978398577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045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8A176FD-7E7D-6AFC-5E11-E109ECA0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DFE9CC98-8169-AB3B-1F76-2D970B051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09635C74-9EAC-22B9-DED5-E8AF74A69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8EF159B-93CD-1867-761B-F37884E68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353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7820044-4362-20DE-E7BD-BA38C965D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136B2218-02F1-1976-07CB-56BB9B0D9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438F980A-9F54-64A6-1FD3-7C76F00B6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BB646487-5157-7404-5827-8E141B5D7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276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00618F3-B51F-0D4F-54A1-227A4B93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5DC9E7D3-961E-C5D2-8621-4887AAC4C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D21198B2-336E-23F0-7B42-54882F647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D0AB433D-30F9-55B1-195F-1F7B99CBB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852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82406F7-BDE5-C991-21F8-B19F7AE1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3D62640A-CD45-60B2-4A96-57F6C1D84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BC4B74D5-71C8-B55D-286D-044C8731E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72A5F83-202F-1C5E-76FE-2DE5DD5B4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701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5B36C98-B04A-3787-5E76-7161874F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CAA78137-41E0-7306-9465-25E8405FE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AAC9BE64-B1D1-2E46-9CE0-CFFCE0DB3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DAC51F6-83FF-6F52-C4EB-D50128817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327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221F84C-902C-7550-A1C9-551D158B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BC1D849D-8C5A-141D-F639-CD094AAB3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A70EFADF-2659-CCC0-F055-70ABFB9E8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A85AC12F-5DD7-F6FD-3AC5-FAD8BA943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801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8CEA968-432E-151D-6FC0-F0F9AFAAB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26B5DF2F-31AA-AEEF-C207-0838A76F0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69934CFB-7F4B-E969-EA8D-2B92313FE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8CD08F34-ED75-8BC9-55A7-015527985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890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5E74144-4A4F-1DE7-0252-A6F10084A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1896168A-687A-7CFD-2E37-6629823BC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097DAE9C-C75F-5215-401D-484DACD40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2A197B8-A1D6-BCC7-9C5A-6F5F091BF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8377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45E89AD-0EAA-A695-DFD3-CEF15B02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93EF921D-1C21-ADB7-60C5-1E4D1E8F8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9AEE5FDB-9112-E2EE-9767-987DB913E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A6E000F3-9835-F125-F210-14780E1AA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5910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276B6AF-DCC0-0FAC-C1BF-330C33E91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B4DBCB04-F235-BFEC-67CC-653046D2F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FBC36836-7724-1CA1-397B-34B58EE5C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AC425718-4DB6-DA40-5E6C-62F52279E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7425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58E75C9-4244-753A-A250-CD4307493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F483CC2F-E87E-F968-AC5E-C54E986B6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9014BCA2-B884-C058-1F63-D4ED609B8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7841D92-FB43-41CD-7B1C-00FFFE6AE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709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9DC4DAE-0B7B-AE50-F841-9BD78BD6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="" xmlns:a16="http://schemas.microsoft.com/office/drawing/2014/main" id="{971758E7-3960-A042-9805-512C14B9B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="" xmlns:a16="http://schemas.microsoft.com/office/drawing/2014/main" id="{8211982D-40B7-DE79-8705-D588346AE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E15334DA-E699-1765-FBC5-04196714CC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6A24-00E0-4DF0-99BB-272C5A438FD5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312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00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9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23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51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1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91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44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8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24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63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69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D1F6A4ED-B612-40EC-8E90-83F3009E2301}" type="datetimeFigureOut">
              <a:rPr lang="zh-CN" altLang="en-US" smtClean="0"/>
              <a:pPr/>
              <a:t>2026/3/3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fld id="{C8FB5A18-D654-4759-B2EC-A7793F083C4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06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印品黑体" panose="00000500000000000000" pitchFamily="2" charset="-122"/>
          <a:ea typeface="印品黑体" panose="00000500000000000000" pitchFamily="2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80.png"/><Relationship Id="rId4" Type="http://schemas.openxmlformats.org/officeDocument/2006/relationships/image" Target="../media/image1.jpe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jpe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0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2.jpeg"/><Relationship Id="rId9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3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6.bin"/><Relationship Id="rId4" Type="http://schemas.openxmlformats.org/officeDocument/2006/relationships/image" Target="../media/image2.jpeg"/><Relationship Id="rId9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8.png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0.png"/><Relationship Id="rId11" Type="http://schemas.openxmlformats.org/officeDocument/2006/relationships/oleObject" Target="../embeddings/oleObject8.bin"/><Relationship Id="rId5" Type="http://schemas.openxmlformats.org/officeDocument/2006/relationships/image" Target="../media/image1.jpeg"/><Relationship Id="rId10" Type="http://schemas.openxmlformats.org/officeDocument/2006/relationships/image" Target="../media/image18.wmf"/><Relationship Id="rId4" Type="http://schemas.openxmlformats.org/officeDocument/2006/relationships/image" Target="../media/image2.jpeg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.jpe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0.png"/><Relationship Id="rId5" Type="http://schemas.openxmlformats.org/officeDocument/2006/relationships/image" Target="../media/image290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2.jpe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0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1.jpeg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.jpe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jpe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1.jpeg"/><Relationship Id="rId9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2.jpe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1.jpeg"/><Relationship Id="rId9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.jpe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1.jpeg"/><Relationship Id="rId9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0.png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2.jpe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1.jpeg"/><Relationship Id="rId9" Type="http://schemas.openxmlformats.org/officeDocument/2006/relationships/image" Target="../media/image7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8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13" Type="http://schemas.openxmlformats.org/officeDocument/2006/relationships/image" Target="../media/image90.png"/><Relationship Id="rId3" Type="http://schemas.openxmlformats.org/officeDocument/2006/relationships/notesSlide" Target="../notesSlides/notesSlide28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8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4.png"/><Relationship Id="rId11" Type="http://schemas.openxmlformats.org/officeDocument/2006/relationships/image" Target="../media/image88.png"/><Relationship Id="rId5" Type="http://schemas.openxmlformats.org/officeDocument/2006/relationships/image" Target="../media/image1.jpeg"/><Relationship Id="rId10" Type="http://schemas.openxmlformats.org/officeDocument/2006/relationships/image" Target="../media/image87.png"/><Relationship Id="rId4" Type="http://schemas.openxmlformats.org/officeDocument/2006/relationships/image" Target="../media/image2.jpeg"/><Relationship Id="rId9" Type="http://schemas.openxmlformats.org/officeDocument/2006/relationships/image" Target="../media/image8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" y="1995661"/>
            <a:ext cx="9144000" cy="84141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42" name="文本框 30">
            <a:extLst>
              <a:ext uri="{FF2B5EF4-FFF2-40B4-BE49-F238E27FC236}">
                <a16:creationId xmlns="" xmlns:a16="http://schemas.microsoft.com/office/drawing/2014/main" id="{50EC4B1B-B2E2-42FD-A9AB-53CF5E5CBE55}"/>
              </a:ext>
            </a:extLst>
          </p:cNvPr>
          <p:cNvSpPr txBox="1"/>
          <p:nvPr/>
        </p:nvSpPr>
        <p:spPr>
          <a:xfrm>
            <a:off x="0" y="1415233"/>
            <a:ext cx="4370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spcBef>
                <a:spcPct val="20000"/>
              </a:spcBef>
            </a:pPr>
            <a:r>
              <a:rPr lang="zh-CN" altLang="en-US" sz="32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大学物理实验</a:t>
            </a:r>
          </a:p>
        </p:txBody>
      </p:sp>
      <p:sp>
        <p:nvSpPr>
          <p:cNvPr id="43" name="文本框 30">
            <a:extLst>
              <a:ext uri="{FF2B5EF4-FFF2-40B4-BE49-F238E27FC236}">
                <a16:creationId xmlns="" xmlns:a16="http://schemas.microsoft.com/office/drawing/2014/main" id="{50EC4B1B-B2E2-42FD-A9AB-53CF5E5CBE55}"/>
              </a:ext>
            </a:extLst>
          </p:cNvPr>
          <p:cNvSpPr txBox="1"/>
          <p:nvPr/>
        </p:nvSpPr>
        <p:spPr>
          <a:xfrm>
            <a:off x="1071001" y="2062427"/>
            <a:ext cx="70019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0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数据处理与误差分析（四）</a:t>
            </a:r>
            <a:endParaRPr lang="zh-CN" altLang="en-US" sz="4000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7" name="图片 46" descr="图片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60" y="2955182"/>
            <a:ext cx="810768" cy="2048256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7882116" y="819228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1A3F6C"/>
                </a:solidFill>
                <a:latin typeface="微软雅黑" panose="020B0503020204020204" charset="-122"/>
                <a:ea typeface="微软雅黑" panose="020B0503020204020204" charset="-122"/>
              </a:rPr>
              <a:t>物理实验中心</a:t>
            </a:r>
            <a:endParaRPr lang="zh-CN" altLang="en-US" dirty="0">
              <a:solidFill>
                <a:srgbClr val="1A3F6C"/>
              </a:solidFill>
            </a:endParaRPr>
          </a:p>
        </p:txBody>
      </p:sp>
      <p:pic>
        <p:nvPicPr>
          <p:cNvPr id="49" name="图片 48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00988" y="234188"/>
            <a:ext cx="1407320" cy="586384"/>
          </a:xfrm>
          <a:prstGeom prst="rect">
            <a:avLst/>
          </a:prstGeom>
        </p:spPr>
      </p:pic>
      <p:pic>
        <p:nvPicPr>
          <p:cNvPr id="56" name="Picture 2" descr="http://spe.hnu.edu.cn/__local/3/7B/2F/D579F627F7D3E91FAE08CAB1264_1A148737_11A6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2311" y="2992581"/>
            <a:ext cx="1630822" cy="972000"/>
          </a:xfrm>
          <a:prstGeom prst="rect">
            <a:avLst/>
          </a:prstGeom>
          <a:noFill/>
        </p:spPr>
      </p:pic>
      <p:pic>
        <p:nvPicPr>
          <p:cNvPr id="57" name="图片 56">
            <a:extLst>
              <a:ext uri="{FF2B5EF4-FFF2-40B4-BE49-F238E27FC236}">
                <a16:creationId xmlns="" xmlns:a16="http://schemas.microsoft.com/office/drawing/2014/main" id="{6BA52F13-CF7D-40E5-BDDB-3A87AE643B3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856767" y="4013907"/>
            <a:ext cx="1613380" cy="977269"/>
          </a:xfrm>
          <a:prstGeom prst="rect">
            <a:avLst/>
          </a:prstGeom>
        </p:spPr>
      </p:pic>
      <p:pic>
        <p:nvPicPr>
          <p:cNvPr id="58" name="图片 6" descr="17">
            <a:extLst>
              <a:ext uri="{FF2B5EF4-FFF2-40B4-BE49-F238E27FC236}">
                <a16:creationId xmlns="" xmlns:a16="http://schemas.microsoft.com/office/drawing/2014/main" id="{FFABDE8C-76BD-4432-B8C3-C67F3531F32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5188599" y="4031574"/>
            <a:ext cx="1610714" cy="973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" name="矩形 58">
            <a:extLst>
              <a:ext uri="{FF2B5EF4-FFF2-40B4-BE49-F238E27FC236}">
                <a16:creationId xmlns="" xmlns:a16="http://schemas.microsoft.com/office/drawing/2014/main" id="{78E21CD4-03E5-4CDE-A92C-E3ECF60DCDDF}"/>
              </a:ext>
            </a:extLst>
          </p:cNvPr>
          <p:cNvSpPr/>
          <p:nvPr/>
        </p:nvSpPr>
        <p:spPr>
          <a:xfrm>
            <a:off x="5188599" y="2994570"/>
            <a:ext cx="465547" cy="97208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="" xmlns:a16="http://schemas.microsoft.com/office/drawing/2014/main" id="{8869D088-521C-4DEC-A8D1-5E58E0C4EF59}"/>
              </a:ext>
            </a:extLst>
          </p:cNvPr>
          <p:cNvSpPr/>
          <p:nvPr/>
        </p:nvSpPr>
        <p:spPr>
          <a:xfrm>
            <a:off x="8542067" y="4013907"/>
            <a:ext cx="465547" cy="97208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pic>
        <p:nvPicPr>
          <p:cNvPr id="61" name="Picture 4" descr="https://timgsa.baidu.com/timg?image&amp;quality=80&amp;size=b9999_10000&amp;sec=1594637107895&amp;di=8259f08702bd64f7dc9b78fb72aa5a52&amp;imgtype=0&amp;src=http%3A%2F%2F5b0988e595225.cdn.sohucs.com%2Fimages%2F20180112%2F0e8f312c2d4248c99f1fe40e52d34d37.jpe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92038" y="4015687"/>
            <a:ext cx="3274154" cy="991133"/>
          </a:xfrm>
          <a:prstGeom prst="rect">
            <a:avLst/>
          </a:prstGeom>
          <a:noFill/>
        </p:spPr>
      </p:pic>
      <p:pic>
        <p:nvPicPr>
          <p:cNvPr id="62" name="图片 61" descr="湖南大学门匾.jpg"/>
          <p:cNvPicPr>
            <a:picLocks noChangeAspect="1"/>
          </p:cNvPicPr>
          <p:nvPr/>
        </p:nvPicPr>
        <p:blipFill>
          <a:blip r:embed="rId8" cstate="print"/>
          <a:srcRect t="5283" b="3943"/>
          <a:stretch>
            <a:fillRect/>
          </a:stretch>
        </p:blipFill>
        <p:spPr>
          <a:xfrm>
            <a:off x="7440460" y="2981194"/>
            <a:ext cx="1565754" cy="972000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="" xmlns:a16="http://schemas.microsoft.com/office/drawing/2014/main" id="{3100AEF4-BCEA-4A36-847D-953391623A10}"/>
              </a:ext>
            </a:extLst>
          </p:cNvPr>
          <p:cNvSpPr/>
          <p:nvPr/>
        </p:nvSpPr>
        <p:spPr>
          <a:xfrm>
            <a:off x="7442180" y="2984304"/>
            <a:ext cx="1576560" cy="967796"/>
          </a:xfrm>
          <a:prstGeom prst="rect">
            <a:avLst/>
          </a:prstGeom>
          <a:solidFill>
            <a:srgbClr val="1A3F6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: 圆角 24">
            <a:extLst>
              <a:ext uri="{FF2B5EF4-FFF2-40B4-BE49-F238E27FC236}">
                <a16:creationId xmlns=""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文本框 55">
            <a:extLst>
              <a:ext uri="{FF2B5EF4-FFF2-40B4-BE49-F238E27FC236}">
                <a16:creationId xmlns=""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3" name="图片 72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4" name="图片 73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2434627" y="1282258"/>
            <a:ext cx="4401928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测量不确定度及其评定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2434627" y="2649109"/>
            <a:ext cx="402330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实验结果的正确表述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36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69043027-5445-4755-AC48-8C7347CF9B52}"/>
              </a:ext>
            </a:extLst>
          </p:cNvPr>
          <p:cNvSpPr/>
          <p:nvPr/>
        </p:nvSpPr>
        <p:spPr>
          <a:xfrm>
            <a:off x="91477" y="103532"/>
            <a:ext cx="4401928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测量不确定度及其评定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4416" y="92504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6.1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定义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7110" y="2600311"/>
            <a:ext cx="55960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A7886"/>
              </a:buClr>
              <a:defRPr/>
            </a:pP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测量不确定度是对测量结果</a:t>
            </a:r>
            <a:r>
              <a:rPr lang="zh-CN" altLang="en-US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离</a:t>
            </a:r>
            <a:r>
              <a:rPr lang="zh-CN" altLang="zh-CN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散性</a:t>
            </a: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zh-CN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估计</a:t>
            </a:r>
            <a:endParaRPr lang="en-US" altLang="zh-CN" sz="2000" b="1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buClr>
                <a:srgbClr val="4A7886"/>
              </a:buClr>
              <a:defRPr/>
            </a:pPr>
            <a:r>
              <a:rPr lang="zh-CN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可以</a:t>
            </a: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通过对测量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结果</a:t>
            </a: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zh-CN" sz="2000" b="1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评定</a:t>
            </a: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而求出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buClr>
                <a:srgbClr val="4A7886"/>
              </a:buClr>
              <a:defRPr/>
            </a:pP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但不代表具体的误差值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87110" y="3886747"/>
            <a:ext cx="53851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现在一般不用测量误差、随机误差这样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的术语来描述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测量结果的质量</a:t>
            </a:r>
          </a:p>
        </p:txBody>
      </p:sp>
      <p:sp>
        <p:nvSpPr>
          <p:cNvPr id="10" name="矩形 9"/>
          <p:cNvSpPr/>
          <p:nvPr/>
        </p:nvSpPr>
        <p:spPr>
          <a:xfrm>
            <a:off x="1587110" y="1621652"/>
            <a:ext cx="545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测量结果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的定义：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zh-CN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被测量值的估计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值及其不确定度：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y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±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</a:t>
            </a:r>
            <a:endParaRPr lang="en-US" altLang="zh-CN" sz="2000" b="1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554" y="289259"/>
            <a:ext cx="37403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6.2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不确定度的来源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0F414AEF-6BBF-BD27-0E66-778A40C1600D}"/>
              </a:ext>
            </a:extLst>
          </p:cNvPr>
          <p:cNvSpPr txBox="1"/>
          <p:nvPr/>
        </p:nvSpPr>
        <p:spPr>
          <a:xfrm>
            <a:off x="631064" y="941167"/>
            <a:ext cx="7482627" cy="396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被测量的定义不完整，或实际操作中无法完美复现定义；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取样缺乏代表性，样本无法准确代表整个被测量；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环境条件的影响，包括对条件认识不足或环境参量测量不准确；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人为因素，如读取指示仪器时的读数偏倚；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技术限制，如仪器的分辨率或识别阈值；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测量标准和标准物质本身存在不准确性；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数据处理中，外部常量、参量的不准确性，以及测量方法、程序的近似和假设；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被测量的重复观测中存在的随机变异性。</a:t>
            </a: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10666B5-9585-CFE0-F654-A66E2666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1E04BEB1-DBDC-2E05-69D2-27283650DC09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ED7DBBED-5396-8DC8-8683-22FE2FD1871E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023F8574-D4B1-37E5-1236-2CDF16BCB98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86062987-23C8-1270-F59D-1F746AB73CF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D460A94A-0C8A-689B-5DA1-BE4F530A6C91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E5C7414B-3EED-1FEA-D2AA-443A437A686A}"/>
              </a:ext>
            </a:extLst>
          </p:cNvPr>
          <p:cNvSpPr txBox="1"/>
          <p:nvPr/>
        </p:nvSpPr>
        <p:spPr>
          <a:xfrm>
            <a:off x="498928" y="1349794"/>
            <a:ext cx="7918939" cy="31600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150000"/>
              </a:lnSpc>
              <a:spcBef>
                <a:spcPts val="9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00" spc="-8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zh-CN" dirty="0"/>
              <a:t>构建待测量的</a:t>
            </a:r>
            <a:r>
              <a:rPr lang="zh-CN" altLang="zh-CN" b="1" dirty="0">
                <a:solidFill>
                  <a:srgbClr val="FF0000"/>
                </a:solidFill>
              </a:rPr>
              <a:t>测量模型</a:t>
            </a:r>
            <a:r>
              <a:rPr lang="zh-CN" altLang="zh-CN" dirty="0"/>
              <a:t>，模型应</a:t>
            </a:r>
            <a:r>
              <a:rPr lang="zh-CN" altLang="en-US" dirty="0"/>
              <a:t>尽量包括</a:t>
            </a:r>
            <a:r>
              <a:rPr lang="zh-CN" altLang="zh-CN" dirty="0"/>
              <a:t>可能对测量结果的不确定度有贡献的量；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zh-CN" dirty="0"/>
              <a:t>分析模型中</a:t>
            </a:r>
            <a:r>
              <a:rPr lang="zh-CN" altLang="zh-CN" b="1" dirty="0">
                <a:solidFill>
                  <a:srgbClr val="0000FF"/>
                </a:solidFill>
              </a:rPr>
              <a:t>每个输入量的标准不确定度</a:t>
            </a:r>
            <a:r>
              <a:rPr lang="zh-CN" altLang="zh-CN" dirty="0"/>
              <a:t>（</a:t>
            </a:r>
            <a:r>
              <a:rPr lang="en-US" altLang="zh-CN" dirty="0"/>
              <a:t>A</a:t>
            </a:r>
            <a:r>
              <a:rPr lang="zh-CN" altLang="zh-CN" dirty="0"/>
              <a:t>类或</a:t>
            </a:r>
            <a:r>
              <a:rPr lang="en-US" altLang="zh-CN" dirty="0"/>
              <a:t>B</a:t>
            </a:r>
            <a:r>
              <a:rPr lang="zh-CN" altLang="zh-CN" dirty="0"/>
              <a:t>类评定）；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zh-CN" dirty="0"/>
              <a:t>对每个输入量的</a:t>
            </a:r>
            <a:r>
              <a:rPr lang="zh-CN" altLang="zh-CN" dirty="0">
                <a:solidFill>
                  <a:srgbClr val="0000FF"/>
                </a:solidFill>
              </a:rPr>
              <a:t>标准不确定度</a:t>
            </a:r>
            <a:r>
              <a:rPr lang="zh-CN" altLang="zh-CN" dirty="0"/>
              <a:t>进行</a:t>
            </a:r>
            <a:r>
              <a:rPr lang="zh-CN" altLang="zh-CN" dirty="0">
                <a:solidFill>
                  <a:srgbClr val="0000FF"/>
                </a:solidFill>
              </a:rPr>
              <a:t>合成</a:t>
            </a:r>
            <a:r>
              <a:rPr lang="zh-CN" altLang="zh-CN" dirty="0"/>
              <a:t>，获得待测量的合成标准不确定度；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zh-CN" dirty="0"/>
              <a:t>通过包含因子</a:t>
            </a:r>
            <a:r>
              <a:rPr lang="zh-CN" altLang="zh-CN" b="1" dirty="0"/>
              <a:t>扩大置信区间</a:t>
            </a:r>
            <a:r>
              <a:rPr lang="zh-CN" altLang="zh-CN" dirty="0"/>
              <a:t>，获得</a:t>
            </a:r>
            <a:r>
              <a:rPr lang="zh-CN" altLang="zh-CN" b="1" dirty="0"/>
              <a:t>高置信水平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C00000"/>
                </a:solidFill>
              </a:rPr>
              <a:t>扩展不确定度</a:t>
            </a:r>
            <a:r>
              <a:rPr lang="zh-CN" altLang="zh-CN" dirty="0"/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D50E0AB-82FA-46B6-9D7B-C6B5B9B03445}"/>
              </a:ext>
            </a:extLst>
          </p:cNvPr>
          <p:cNvSpPr txBox="1"/>
          <p:nvPr/>
        </p:nvSpPr>
        <p:spPr>
          <a:xfrm>
            <a:off x="411507" y="82168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0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基本步骤概述</a:t>
            </a:r>
          </a:p>
        </p:txBody>
      </p:sp>
    </p:spTree>
    <p:extLst>
      <p:ext uri="{BB962C8B-B14F-4D97-AF65-F5344CB8AC3E}">
        <p14:creationId xmlns:p14="http://schemas.microsoft.com/office/powerpoint/2010/main" val="2199139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FB7B571-0E3E-9E69-7C0B-5225FE781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36A11476-97AD-7E3C-91DB-6790003B502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19ECA97B-23C6-9EF1-618A-289179D9CCC4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BCCDAD85-0966-A82B-17FB-D4C09D854D3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127278EB-94EC-4A01-11FD-4E41C7459CC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AF8BB112-F808-1A5A-C45E-D2E6A31E019B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4604E0E1-82D3-E63B-C008-923C8E6663A7}"/>
              </a:ext>
            </a:extLst>
          </p:cNvPr>
          <p:cNvSpPr/>
          <p:nvPr/>
        </p:nvSpPr>
        <p:spPr>
          <a:xfrm>
            <a:off x="208304" y="739994"/>
            <a:ext cx="44538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6.3.1  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构建待测量的测量模型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="" xmlns:a16="http://schemas.microsoft.com/office/drawing/2014/main" id="{09B25D96-40FD-C944-393A-E2FEFF44027E}"/>
                  </a:ext>
                </a:extLst>
              </p:cNvPr>
              <p:cNvSpPr txBox="1"/>
              <p:nvPr/>
            </p:nvSpPr>
            <p:spPr>
              <a:xfrm>
                <a:off x="276121" y="1240806"/>
                <a:ext cx="82932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被测量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0" lang="zh-CN" altLang="zh-CN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lit/>
                      </m:rPr>
                      <a:rPr kumimoji="0" lang="en-US" altLang="zh-CN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看作</a:t>
                </a:r>
                <a:r>
                  <a:rPr kumimoji="0" lang="zh-CN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0" lang="zh-CN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lit/>
                      </m:rPr>
                      <a:rPr kumimoji="0" lang="en-US" altLang="zh-CN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</m:t>
                    </m:r>
                  </m:oMath>
                </a14:m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</a:t>
                </a: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量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0" lang="en-US" altLang="zh-CN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kumimoji="0" lang="zh-CN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kumimoji="0" lang="en-US" altLang="zh-CN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0" lang="zh-CN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kumimoji="0" lang="en-US" altLang="zh-CN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0" lang="zh-CN" altLang="zh-CN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r>
                      <a:rPr kumimoji="0" lang="en-US" altLang="zh-CN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0" lang="zh-CN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zh-CN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）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通过函数关系确定的。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9B25D96-40FD-C944-393A-E2FEFF440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21" y="1240806"/>
                <a:ext cx="8293240" cy="400110"/>
              </a:xfrm>
              <a:prstGeom prst="rect">
                <a:avLst/>
              </a:prstGeom>
              <a:blipFill>
                <a:blip r:embed="rId5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="" xmlns:a16="http://schemas.microsoft.com/office/drawing/2014/main" id="{261F13D9-C1D7-CC7E-7931-C63E780666C2}"/>
                  </a:ext>
                </a:extLst>
              </p:cNvPr>
              <p:cNvSpPr txBox="1"/>
              <p:nvPr/>
            </p:nvSpPr>
            <p:spPr>
              <a:xfrm>
                <a:off x="3147748" y="1713348"/>
                <a:ext cx="22465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800" i="1">
                                  <a:solidFill>
                                    <a:prstClr val="black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1800" i="1">
                                  <a:solidFill>
                                    <a:prstClr val="black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zh-CN" sz="1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…</m:t>
                          </m:r>
                          <m:r>
                            <a:rPr lang="en-US" altLang="zh-CN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1800" i="1">
                                  <a:solidFill>
                                    <a:prstClr val="black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61F13D9-C1D7-CC7E-7931-C63E78066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748" y="1713348"/>
                <a:ext cx="2246577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4885143B-1211-9F73-1037-FA3D50DFE03A}"/>
              </a:ext>
            </a:extLst>
          </p:cNvPr>
          <p:cNvGrpSpPr/>
          <p:nvPr/>
        </p:nvGrpSpPr>
        <p:grpSpPr>
          <a:xfrm>
            <a:off x="643041" y="2188897"/>
            <a:ext cx="7774375" cy="1145769"/>
            <a:chOff x="836757" y="2041059"/>
            <a:chExt cx="7774375" cy="1061381"/>
          </a:xfrm>
        </p:grpSpPr>
        <p:sp>
          <p:nvSpPr>
            <p:cNvPr id="5" name="文本框 4">
              <a:extLst>
                <a:ext uri="{FF2B5EF4-FFF2-40B4-BE49-F238E27FC236}">
                  <a16:creationId xmlns="" xmlns:a16="http://schemas.microsoft.com/office/drawing/2014/main" id="{2A762447-5F9E-75F1-D7BA-2363906BC4D7}"/>
                </a:ext>
              </a:extLst>
            </p:cNvPr>
            <p:cNvSpPr txBox="1"/>
            <p:nvPr/>
          </p:nvSpPr>
          <p:spPr>
            <a:xfrm>
              <a:off x="836757" y="2101807"/>
              <a:ext cx="1107996" cy="3421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直接测量</a:t>
              </a:r>
              <a:endPara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="" xmlns:a16="http://schemas.microsoft.com/office/drawing/2014/main" id="{449DB08E-6B32-347F-A2F1-65B96A711263}"/>
                    </a:ext>
                  </a:extLst>
                </p:cNvPr>
                <p:cNvSpPr txBox="1"/>
                <p:nvPr/>
              </p:nvSpPr>
              <p:spPr>
                <a:xfrm>
                  <a:off x="2868082" y="2481583"/>
                  <a:ext cx="2355004" cy="3706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altLang="zh-CN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CFE53EF8-6123-89E2-38A3-C2175A38C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082" y="2481583"/>
                  <a:ext cx="2355004" cy="370641"/>
                </a:xfrm>
                <a:prstGeom prst="rect">
                  <a:avLst/>
                </a:prstGeom>
                <a:blipFill>
                  <a:blip r:embed="rId7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="" xmlns:a16="http://schemas.microsoft.com/office/drawing/2014/main" id="{61920D25-E752-2B6F-3131-294062208C17}"/>
                    </a:ext>
                  </a:extLst>
                </p:cNvPr>
                <p:cNvSpPr txBox="1"/>
                <p:nvPr/>
              </p:nvSpPr>
              <p:spPr>
                <a:xfrm>
                  <a:off x="5436096" y="2041059"/>
                  <a:ext cx="3175036" cy="983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 秒表读数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：秒表的仪器误差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：启停秒表时</a:t>
                  </a:r>
                  <a:r>
                    <a:rPr lang="zh-CN" altLang="en-US" sz="1800" dirty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人</a:t>
                  </a:r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的反应时间</a:t>
                  </a: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7D81FCF-DEA4-47C0-0BAB-73C2A6486C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96" y="2041059"/>
                  <a:ext cx="3175036" cy="983208"/>
                </a:xfrm>
                <a:prstGeom prst="rect">
                  <a:avLst/>
                </a:prstGeom>
                <a:blipFill>
                  <a:blip r:embed="rId8"/>
                  <a:stretch>
                    <a:fillRect r="-1152" b="-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>
              <a:extLst>
                <a:ext uri="{FF2B5EF4-FFF2-40B4-BE49-F238E27FC236}">
                  <a16:creationId xmlns="" xmlns:a16="http://schemas.microsoft.com/office/drawing/2014/main" id="{66AA2FF3-C75E-0E12-B8EE-90BCAD69E88C}"/>
                </a:ext>
              </a:extLst>
            </p:cNvPr>
            <p:cNvSpPr/>
            <p:nvPr/>
          </p:nvSpPr>
          <p:spPr>
            <a:xfrm>
              <a:off x="836757" y="2041059"/>
              <a:ext cx="7774375" cy="1061381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="" xmlns:a16="http://schemas.microsoft.com/office/drawing/2014/main" id="{62826A40-7BE3-517F-1324-DB9E87E7B114}"/>
              </a:ext>
            </a:extLst>
          </p:cNvPr>
          <p:cNvGrpSpPr/>
          <p:nvPr/>
        </p:nvGrpSpPr>
        <p:grpSpPr>
          <a:xfrm>
            <a:off x="643041" y="3526151"/>
            <a:ext cx="7788443" cy="1506931"/>
            <a:chOff x="684812" y="3172494"/>
            <a:chExt cx="7788443" cy="12926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="" xmlns:a16="http://schemas.microsoft.com/office/drawing/2014/main" id="{BA23677B-1C75-E033-8806-3D0064325DBF}"/>
                    </a:ext>
                  </a:extLst>
                </p:cNvPr>
                <p:cNvSpPr txBox="1"/>
                <p:nvPr/>
              </p:nvSpPr>
              <p:spPr>
                <a:xfrm>
                  <a:off x="857090" y="3541826"/>
                  <a:ext cx="3527531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zh-CN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随温度变化的电阻</a:t>
                  </a:r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的</a:t>
                  </a:r>
                  <a:r>
                    <a:rPr kumimoji="0" lang="zh-CN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功率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kumimoji="0" lang="zh-CN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</m:oMath>
                  </a14:m>
                  <a:r>
                    <a:rPr kumimoji="0" lang="zh-CN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取决于两端电压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kumimoji="0" lang="zh-CN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a14:m>
                  <a:r>
                    <a:rPr kumimoji="0" lang="zh-CN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，初始电阻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kumimoji="0" lang="zh-CN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，电阻的温度系数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kumimoji="0" lang="zh-CN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α</m:t>
                      </m:r>
                    </m:oMath>
                  </a14:m>
                  <a:r>
                    <a:rPr kumimoji="0" lang="zh-CN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和温度</a:t>
                  </a:r>
                  <a14:m>
                    <m:oMath xmlns:m="http://schemas.openxmlformats.org/officeDocument/2006/math">
                      <m:r>
                        <m:rPr>
                          <m:lit/>
                        </m:rPr>
                        <a:rPr kumimoji="0" lang="zh-CN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oMath>
                  </a14:m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E489AD1-8CC4-D2B2-3928-9E797FE07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090" y="3541826"/>
                  <a:ext cx="3527531" cy="923330"/>
                </a:xfrm>
                <a:prstGeom prst="rect">
                  <a:avLst/>
                </a:prstGeom>
                <a:blipFill>
                  <a:blip r:embed="rId9"/>
                  <a:stretch>
                    <a:fillRect l="-1557" t="-28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>
              <a:extLst>
                <a:ext uri="{FF2B5EF4-FFF2-40B4-BE49-F238E27FC236}">
                  <a16:creationId xmlns="" xmlns:a16="http://schemas.microsoft.com/office/drawing/2014/main" id="{AE790559-482A-5E88-7F57-F54A084D718D}"/>
                </a:ext>
              </a:extLst>
            </p:cNvPr>
            <p:cNvSpPr txBox="1"/>
            <p:nvPr/>
          </p:nvSpPr>
          <p:spPr>
            <a:xfrm>
              <a:off x="684812" y="317249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间接测量：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="" xmlns:a16="http://schemas.microsoft.com/office/drawing/2014/main" id="{C83D3849-CFA6-5CF2-7CA6-BDFD084F3E72}"/>
                    </a:ext>
                  </a:extLst>
                </p:cNvPr>
                <p:cNvSpPr txBox="1"/>
                <p:nvPr/>
              </p:nvSpPr>
              <p:spPr>
                <a:xfrm>
                  <a:off x="4716016" y="3541826"/>
                  <a:ext cx="3460157" cy="6282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0" lang="zh-CN" alt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zh-CN" alt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836967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kumimoji="0" lang="zh-CN" alt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836967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0" lang="zh-CN" altLang="en-US" sz="1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kumimoji="0" lang="zh-CN" alt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kumimoji="0" lang="zh-CN" alt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0" lang="zh-CN" altLang="en-US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836967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836967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kumimoji="0" lang="zh-CN" altLang="en-US" sz="1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836967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0" lang="zh-CN" altLang="en-US" sz="1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kumimoji="0" lang="zh-CN" altLang="en-US" sz="1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zh-CN" altLang="en-US" sz="16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d>
                                  <m:dPr>
                                    <m:ctrlPr>
                                      <a:rPr kumimoji="0" lang="zh-CN" altLang="en-US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83696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zh-CN" altLang="en-US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kumimoji="0" lang="zh-CN" altLang="en-US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zh-CN" altLang="en-US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83696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zh-CN" altLang="en-US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kumimoji="0" lang="zh-CN" altLang="en-US" sz="1600" b="0" i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den>
                        </m:f>
                      </m:oMath>
                    </m:oMathPara>
                  </a14:m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65474D0-EC19-FA24-9A5C-52FE14294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6016" y="3541826"/>
                  <a:ext cx="3460157" cy="62824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46573957-5AB0-6919-47C9-E5F925A81F4B}"/>
                </a:ext>
              </a:extLst>
            </p:cNvPr>
            <p:cNvSpPr/>
            <p:nvPr/>
          </p:nvSpPr>
          <p:spPr>
            <a:xfrm>
              <a:off x="698880" y="3179389"/>
              <a:ext cx="7774375" cy="1231974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59E833B1-08C3-BCC9-0A9C-06B037AFAD8F}"/>
              </a:ext>
            </a:extLst>
          </p:cNvPr>
          <p:cNvSpPr txBox="1"/>
          <p:nvPr/>
        </p:nvSpPr>
        <p:spPr>
          <a:xfrm>
            <a:off x="815319" y="2695224"/>
            <a:ext cx="1978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单摆的摆动时间：</a:t>
            </a:r>
          </a:p>
        </p:txBody>
      </p:sp>
    </p:spTree>
    <p:extLst>
      <p:ext uri="{BB962C8B-B14F-4D97-AF65-F5344CB8AC3E}">
        <p14:creationId xmlns:p14="http://schemas.microsoft.com/office/powerpoint/2010/main" val="813145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36DC555-772D-C5F6-D2DB-C7C4CFD4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1647AB3-2877-8297-6173-B722DBE90F17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54B05670-DE60-ACE9-33FA-31C8D041A345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A51E5922-A89F-B4AF-96EC-F9BC92209C3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BAAA18CF-E8EA-74FB-B1C6-8A0B2FCF877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F9557478-891A-5138-16E7-8092F5EE6219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4440ECB8-4CBF-9932-6700-728A8A7E3BAB}"/>
              </a:ext>
            </a:extLst>
          </p:cNvPr>
          <p:cNvSpPr/>
          <p:nvPr/>
        </p:nvSpPr>
        <p:spPr>
          <a:xfrm>
            <a:off x="208303" y="739994"/>
            <a:ext cx="5694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6.3.2 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分析模型中输入量的标准不确定度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="" xmlns:a16="http://schemas.microsoft.com/office/drawing/2014/main" id="{4BA88469-9BC9-B44A-1923-3AF914DD04D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20597" y="1226219"/>
                <a:ext cx="7992888" cy="164609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 defTabSz="685800" fontAlgn="auto">
                  <a:lnSpc>
                    <a:spcPct val="12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  <a:defRPr/>
                </a:pPr>
                <a:r>
                  <a:rPr lang="zh-CN" altLang="en-US" sz="1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根据测量模型，需要评定每个输入量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solidFill>
                              <a:prstClr val="black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的标准不确定度，根据其评定方法不同分为两类：</a:t>
                </a:r>
              </a:p>
              <a:p>
                <a:pPr marL="720000" indent="-171450" defTabSz="685800" fontAlgn="auto">
                  <a:lnSpc>
                    <a:spcPct val="12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  <a:defRPr/>
                </a:pPr>
                <a:r>
                  <a:rPr lang="en-US" altLang="zh-CN" sz="1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sz="1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类：用统计方法对多次等精度测量结果进行评定；</a:t>
                </a:r>
              </a:p>
              <a:p>
                <a:pPr marL="720000" indent="-171450" defTabSz="685800" fontAlgn="auto">
                  <a:lnSpc>
                    <a:spcPct val="120000"/>
                  </a:lnSpc>
                  <a:spcBef>
                    <a:spcPts val="600"/>
                  </a:spcBef>
                  <a:spcAft>
                    <a:spcPts val="0"/>
                  </a:spcAft>
                  <a:buNone/>
                  <a:defRPr/>
                </a:pPr>
                <a:r>
                  <a:rPr lang="en-US" altLang="zh-CN" sz="1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1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类：用其他方法评定。</a:t>
                </a:r>
                <a:endParaRPr lang="en-US" altLang="zh-CN" sz="18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4BA88469-9BC9-B44A-1923-3AF914DD0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97" y="1226219"/>
                <a:ext cx="7992888" cy="1646098"/>
              </a:xfrm>
              <a:prstGeom prst="rect">
                <a:avLst/>
              </a:prstGeom>
              <a:blipFill>
                <a:blip r:embed="rId5"/>
                <a:stretch>
                  <a:fillRect l="-610" r="-6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="" xmlns:a16="http://schemas.microsoft.com/office/drawing/2014/main" id="{97DBA85E-F23C-651A-55DA-7E8030712D8A}"/>
                  </a:ext>
                </a:extLst>
              </p:cNvPr>
              <p:cNvSpPr txBox="1"/>
              <p:nvPr/>
            </p:nvSpPr>
            <p:spPr>
              <a:xfrm>
                <a:off x="732118" y="3027606"/>
                <a:ext cx="29269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…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7DBA85E-F23C-651A-55DA-7E8030712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18" y="3027606"/>
                <a:ext cx="2926955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="" xmlns:a16="http://schemas.microsoft.com/office/drawing/2014/main" id="{697519BD-E49E-D108-B010-4FB8E32282F5}"/>
                  </a:ext>
                </a:extLst>
              </p:cNvPr>
              <p:cNvSpPr txBox="1"/>
              <p:nvPr/>
            </p:nvSpPr>
            <p:spPr>
              <a:xfrm>
                <a:off x="3914917" y="3027606"/>
                <a:ext cx="45532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对每一个输入量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prstClr val="black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一种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评定方法来评定。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97519BD-E49E-D108-B010-4FB8E3228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917" y="3027606"/>
                <a:ext cx="4553234" cy="369332"/>
              </a:xfrm>
              <a:prstGeom prst="rect">
                <a:avLst/>
              </a:prstGeom>
              <a:blipFill>
                <a:blip r:embed="rId7"/>
                <a:stretch>
                  <a:fillRect l="-1071" t="-10000" r="-669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="" xmlns:a16="http://schemas.microsoft.com/office/drawing/2014/main" id="{153ED14C-9CEB-5A85-636F-27DCA2F5E9A6}"/>
                  </a:ext>
                </a:extLst>
              </p:cNvPr>
              <p:cNvSpPr txBox="1"/>
              <p:nvPr/>
            </p:nvSpPr>
            <p:spPr>
              <a:xfrm>
                <a:off x="808629" y="4106226"/>
                <a:ext cx="20926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𝑇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53ED14C-9CEB-5A85-636F-27DCA2F5E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29" y="4106226"/>
                <a:ext cx="2092624" cy="400110"/>
              </a:xfrm>
              <a:prstGeom prst="rect">
                <a:avLst/>
              </a:prstGeom>
              <a:blipFill>
                <a:blip r:embed="rId8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="" xmlns:a16="http://schemas.microsoft.com/office/drawing/2014/main" id="{AA12D2FC-341D-9F3E-06A2-731D8DDA8C82}"/>
                  </a:ext>
                </a:extLst>
              </p:cNvPr>
              <p:cNvSpPr txBox="1"/>
              <p:nvPr/>
            </p:nvSpPr>
            <p:spPr>
              <a:xfrm>
                <a:off x="3029750" y="3775590"/>
                <a:ext cx="3175036" cy="1061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prstClr val="black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：秒表读数                              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：秒表的仪器误差                    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：启停秒表时</a:t>
                </a:r>
                <a:r>
                  <a:rPr lang="zh-CN" altLang="en-US" sz="1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人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的反应时间     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A12D2FC-341D-9F3E-06A2-731D8DDA8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750" y="3775590"/>
                <a:ext cx="3175036" cy="1061381"/>
              </a:xfrm>
              <a:prstGeom prst="rect">
                <a:avLst/>
              </a:prstGeom>
              <a:blipFill>
                <a:blip r:embed="rId9"/>
                <a:stretch>
                  <a:fillRect r="-1344" b="-8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="" xmlns:a16="http://schemas.microsoft.com/office/drawing/2014/main" id="{2B0D17E8-5EBD-1F05-B5CB-A34F6409860A}"/>
              </a:ext>
            </a:extLst>
          </p:cNvPr>
          <p:cNvSpPr txBox="1"/>
          <p:nvPr/>
        </p:nvSpPr>
        <p:spPr>
          <a:xfrm>
            <a:off x="6434569" y="3800949"/>
            <a:ext cx="638035" cy="101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en-US" altLang="zh-CN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54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1540" y="817268"/>
            <a:ext cx="23473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类评定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6285"/>
              </p:ext>
            </p:extLst>
          </p:nvPr>
        </p:nvGraphicFramePr>
        <p:xfrm>
          <a:off x="3710622" y="1929919"/>
          <a:ext cx="22066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6" imgW="1066680" imgH="507960" progId="Equation.DSMT4">
                  <p:embed/>
                </p:oleObj>
              </mc:Choice>
              <mc:Fallback>
                <p:oleObj name="Equation" r:id="rId6" imgW="1066680" imgH="507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0622" y="1929919"/>
                        <a:ext cx="2206625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656133" y="3342483"/>
            <a:ext cx="73877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如果有足够多的时间和资源，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可以</a:t>
            </a: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对不确定度的每个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可能</a:t>
            </a: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的原因进行详尽的统计研究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所有的不确定度分量都可以用</a:t>
            </a: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类评定得到</a:t>
            </a:r>
            <a:endParaRPr lang="zh-CN" altLang="en-US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56133" y="1334530"/>
            <a:ext cx="8166397" cy="1386495"/>
            <a:chOff x="656133" y="1334530"/>
            <a:chExt cx="8166397" cy="1386495"/>
          </a:xfrm>
        </p:grpSpPr>
        <p:sp>
          <p:nvSpPr>
            <p:cNvPr id="8" name="矩形 7"/>
            <p:cNvSpPr/>
            <p:nvPr/>
          </p:nvSpPr>
          <p:spPr>
            <a:xfrm>
              <a:off x="656133" y="1375136"/>
              <a:ext cx="816639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A</a:t>
              </a:r>
              <a:r>
                <a:rPr lang="zh-CN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类评定的标准不确定度</a:t>
              </a:r>
              <a:r>
                <a:rPr lang="zh-CN" altLang="zh-CN" sz="2000" b="1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等同于</a:t>
              </a:r>
              <a:r>
                <a:rPr lang="zh-CN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等精度测量列的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均值</a:t>
              </a:r>
              <a:r>
                <a:rPr lang="zh-CN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标准差</a:t>
              </a:r>
              <a:r>
                <a:rPr lang="en-US" altLang="zh-CN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zh-CN" altLang="en-US" sz="20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，即：</a:t>
              </a:r>
              <a:endParaRPr lang="en-US" altLang="zh-CN" sz="2000" baseline="-25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graphicFrame>
          <p:nvGraphicFramePr>
            <p:cNvPr id="102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3268620"/>
                </p:ext>
              </p:extLst>
            </p:nvPr>
          </p:nvGraphicFramePr>
          <p:xfrm>
            <a:off x="7293420" y="1334530"/>
            <a:ext cx="318295" cy="440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" name="Equation" r:id="rId8" imgW="164880" imgH="228600" progId="Equation.DSMT4">
                    <p:embed/>
                  </p:oleObj>
                </mc:Choice>
                <mc:Fallback>
                  <p:oleObj name="Equation" r:id="rId8" imgW="164880" imgH="22860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93420" y="1334530"/>
                          <a:ext cx="318295" cy="4407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4711540"/>
                </p:ext>
              </p:extLst>
            </p:nvPr>
          </p:nvGraphicFramePr>
          <p:xfrm>
            <a:off x="2137982" y="2279700"/>
            <a:ext cx="884238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8" name="Equation" r:id="rId10" imgW="457200" imgH="228600" progId="Equation.DSMT4">
                    <p:embed/>
                  </p:oleObj>
                </mc:Choice>
                <mc:Fallback>
                  <p:oleObj name="Equation" r:id="rId10" imgW="457200" imgH="22860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7982" y="2279700"/>
                          <a:ext cx="884238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DE63DB6-3378-F55F-A7F5-EDE3A2A8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31A3530B-D5F6-66B2-E586-2AB418D10B66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22848BEE-3703-1AE9-3653-9FB84440E450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28ECF7EE-6F3A-CFEA-E4C8-41C55C0389E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B7241176-F469-C331-470E-34ADE093287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70CBD2E7-049F-3C65-D287-2FF1CA48DF88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D1A8F906-9E0D-A865-9EE5-826E854DE8BB}"/>
              </a:ext>
            </a:extLst>
          </p:cNvPr>
          <p:cNvSpPr/>
          <p:nvPr/>
        </p:nvSpPr>
        <p:spPr>
          <a:xfrm>
            <a:off x="431540" y="817268"/>
            <a:ext cx="23473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B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类评定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2688" y="1326407"/>
            <a:ext cx="7848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非统计分析方法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根据经验或资料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以及对测量值进行一定的分布假设，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再</a:t>
            </a: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估计</a:t>
            </a:r>
            <a:r>
              <a:rPr lang="zh-CN" altLang="en-US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其</a:t>
            </a:r>
            <a:r>
              <a:rPr lang="zh-CN" altLang="zh-CN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标准差</a:t>
            </a:r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来表征</a:t>
            </a:r>
            <a:r>
              <a:rPr lang="zh-CN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标准不确定度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8684" y="2179817"/>
            <a:ext cx="79568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假设的分布主要有正态分布、均匀分布、三角分布、反正弦分布等等。</a:t>
            </a:r>
            <a:endParaRPr lang="zh-CN" altLang="en-US" sz="2000" dirty="0">
              <a:solidFill>
                <a:srgbClr val="1A3F6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3527884" y="3401928"/>
            <a:ext cx="2310417" cy="1298654"/>
            <a:chOff x="519057" y="2767009"/>
            <a:chExt cx="2555931" cy="1355738"/>
          </a:xfrm>
        </p:grpSpPr>
        <p:grpSp>
          <p:nvGrpSpPr>
            <p:cNvPr id="5" name="组合 20"/>
            <p:cNvGrpSpPr>
              <a:grpSpLocks/>
            </p:cNvGrpSpPr>
            <p:nvPr/>
          </p:nvGrpSpPr>
          <p:grpSpPr bwMode="auto">
            <a:xfrm>
              <a:off x="811163" y="3027361"/>
              <a:ext cx="1898692" cy="803283"/>
              <a:chOff x="5703905" y="271124"/>
              <a:chExt cx="1898718" cy="803797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6251612" y="646663"/>
                <a:ext cx="985873" cy="3971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 rot="16200000" flipH="1">
                <a:off x="5411547" y="673023"/>
                <a:ext cx="803797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rot="10800000">
                <a:off x="5703905" y="1055859"/>
                <a:ext cx="1898718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headEnd type="arrow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21"/>
            <p:cNvSpPr txBox="1">
              <a:spLocks noChangeArrowheads="1"/>
            </p:cNvSpPr>
            <p:nvPr/>
          </p:nvSpPr>
          <p:spPr bwMode="auto">
            <a:xfrm>
              <a:off x="2016090" y="3753415"/>
              <a:ext cx="102232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l-GR" altLang="zh-CN" i="1">
                  <a:latin typeface="Times New Roman" pitchFamily="18" charset="0"/>
                  <a:cs typeface="Times New Roman" pitchFamily="18" charset="0"/>
                </a:rPr>
                <a:t>μ</a:t>
              </a:r>
              <a:r>
                <a:rPr lang="en-US" altLang="zh-CN" i="1">
                  <a:latin typeface="Times New Roman" pitchFamily="18" charset="0"/>
                  <a:cs typeface="Times New Roman" pitchFamily="18" charset="0"/>
                </a:rPr>
                <a:t>+a</a:t>
              </a:r>
              <a:endParaRPr lang="zh-CN" altLang="en-US" i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TextBox 22"/>
            <p:cNvSpPr txBox="1">
              <a:spLocks noChangeArrowheads="1"/>
            </p:cNvSpPr>
            <p:nvPr/>
          </p:nvSpPr>
          <p:spPr bwMode="auto">
            <a:xfrm>
              <a:off x="1066799" y="3751263"/>
              <a:ext cx="91277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l-GR" altLang="zh-CN" i="1">
                  <a:latin typeface="Times New Roman" pitchFamily="18" charset="0"/>
                  <a:cs typeface="Times New Roman" pitchFamily="18" charset="0"/>
                </a:rPr>
                <a:t>μ</a:t>
              </a:r>
              <a:r>
                <a:rPr lang="en-US" altLang="zh-CN" i="1">
                  <a:latin typeface="Times New Roman" pitchFamily="18" charset="0"/>
                  <a:cs typeface="Times New Roman" pitchFamily="18" charset="0"/>
                </a:rPr>
                <a:t>-a</a:t>
              </a:r>
              <a:endParaRPr lang="zh-CN" altLang="en-US" i="1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15" name="Object 8"/>
            <p:cNvGraphicFramePr>
              <a:graphicFrameLocks noChangeAspect="1"/>
            </p:cNvGraphicFramePr>
            <p:nvPr/>
          </p:nvGraphicFramePr>
          <p:xfrm>
            <a:off x="519057" y="3109536"/>
            <a:ext cx="318012" cy="547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" name="Equation" r:id="rId6" imgW="228600" imgH="393480" progId="Equation.DSMT4">
                    <p:embed/>
                  </p:oleObj>
                </mc:Choice>
                <mc:Fallback>
                  <p:oleObj name="Equation" r:id="rId6" imgW="228600" imgH="393480" progId="Equation.DSMT4">
                    <p:embed/>
                    <p:pic>
                      <p:nvPicPr>
                        <p:cNvPr id="1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057" y="3109536"/>
                          <a:ext cx="318012" cy="5473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Box 13"/>
            <p:cNvSpPr txBox="1"/>
            <p:nvPr/>
          </p:nvSpPr>
          <p:spPr bwMode="auto">
            <a:xfrm>
              <a:off x="2746368" y="3629030"/>
              <a:ext cx="328620" cy="36830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i="1" dirty="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TextBox 14"/>
            <p:cNvSpPr txBox="1"/>
            <p:nvPr/>
          </p:nvSpPr>
          <p:spPr bwMode="auto">
            <a:xfrm>
              <a:off x="993729" y="2767009"/>
              <a:ext cx="474673" cy="3698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i="1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altLang="zh-CN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zh-CN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zh-CN" alt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942928" y="3392490"/>
              <a:ext cx="328620" cy="158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59"/>
          <p:cNvGrpSpPr>
            <a:grpSpLocks/>
          </p:cNvGrpSpPr>
          <p:nvPr/>
        </p:nvGrpSpPr>
        <p:grpSpPr bwMode="auto">
          <a:xfrm>
            <a:off x="275830" y="2725404"/>
            <a:ext cx="3069923" cy="2015675"/>
            <a:chOff x="412111" y="1274734"/>
            <a:chExt cx="4762500" cy="3754490"/>
          </a:xfrm>
        </p:grpSpPr>
        <p:graphicFrame>
          <p:nvGraphicFramePr>
            <p:cNvPr id="23" name="Object 5"/>
            <p:cNvGraphicFramePr>
              <a:graphicFrameLocks noChangeAspect="1"/>
            </p:cNvGraphicFramePr>
            <p:nvPr/>
          </p:nvGraphicFramePr>
          <p:xfrm>
            <a:off x="412111" y="1274734"/>
            <a:ext cx="4762500" cy="3754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1" name="Graph" r:id="rId8" imgW="3261600" imgH="2511360" progId="Origin50.Graph">
                    <p:embed/>
                  </p:oleObj>
                </mc:Choice>
                <mc:Fallback>
                  <p:oleObj name="Graph" r:id="rId8" imgW="3261600" imgH="2511360" progId="Origin50.Graph">
                    <p:embed/>
                    <p:pic>
                      <p:nvPicPr>
                        <p:cNvPr id="2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11" y="1274734"/>
                          <a:ext cx="4762500" cy="3754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" name="组合 58"/>
            <p:cNvGrpSpPr>
              <a:grpSpLocks/>
            </p:cNvGrpSpPr>
            <p:nvPr/>
          </p:nvGrpSpPr>
          <p:grpSpPr bwMode="auto">
            <a:xfrm>
              <a:off x="2418405" y="2041507"/>
              <a:ext cx="728908" cy="2395573"/>
              <a:chOff x="2418405" y="2041507"/>
              <a:chExt cx="728908" cy="2395573"/>
            </a:xfrm>
          </p:grpSpPr>
          <p:cxnSp>
            <p:nvCxnSpPr>
              <p:cNvPr id="25" name="直接连接符 24"/>
              <p:cNvCxnSpPr/>
              <p:nvPr/>
            </p:nvCxnSpPr>
            <p:spPr>
              <a:xfrm rot="5400000" flipH="1" flipV="1">
                <a:off x="1637505" y="3610168"/>
                <a:ext cx="1606573" cy="279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rot="5400000" flipH="1" flipV="1">
                <a:off x="2421038" y="3710788"/>
                <a:ext cx="145258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 flipV="1">
                <a:off x="2600287" y="2041507"/>
                <a:ext cx="256034" cy="182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V="1">
                <a:off x="2563910" y="2187559"/>
                <a:ext cx="366561" cy="25559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V="1">
                <a:off x="2491158" y="2333611"/>
                <a:ext cx="475690" cy="3286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2418405" y="2479663"/>
                <a:ext cx="621195" cy="4381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flipV="1">
                <a:off x="2454781" y="2647941"/>
                <a:ext cx="621195" cy="4159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flipV="1">
                <a:off x="2454781" y="2808281"/>
                <a:ext cx="657572" cy="4381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V="1">
                <a:off x="2454781" y="3013071"/>
                <a:ext cx="670164" cy="4524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2454781" y="3222624"/>
                <a:ext cx="667366" cy="4254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flipV="1">
                <a:off x="2454781" y="3451227"/>
                <a:ext cx="670164" cy="4524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V="1">
                <a:off x="2454781" y="3684593"/>
                <a:ext cx="670164" cy="4746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V="1">
                <a:off x="2491158" y="3903671"/>
                <a:ext cx="643581" cy="4746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flipV="1">
                <a:off x="2745792" y="4135450"/>
                <a:ext cx="379153" cy="2794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组合 38"/>
          <p:cNvGrpSpPr/>
          <p:nvPr/>
        </p:nvGrpSpPr>
        <p:grpSpPr>
          <a:xfrm>
            <a:off x="6316663" y="3401928"/>
            <a:ext cx="2262981" cy="1298654"/>
            <a:chOff x="6316663" y="4773575"/>
            <a:chExt cx="2503400" cy="1355725"/>
          </a:xfrm>
        </p:grpSpPr>
        <p:grpSp>
          <p:nvGrpSpPr>
            <p:cNvPr id="40" name="组合 48"/>
            <p:cNvGrpSpPr>
              <a:grpSpLocks/>
            </p:cNvGrpSpPr>
            <p:nvPr/>
          </p:nvGrpSpPr>
          <p:grpSpPr bwMode="auto">
            <a:xfrm>
              <a:off x="6316663" y="4773575"/>
              <a:ext cx="2503400" cy="1355725"/>
              <a:chOff x="571533" y="2767009"/>
              <a:chExt cx="2503455" cy="1355738"/>
            </a:xfrm>
          </p:grpSpPr>
          <p:grpSp>
            <p:nvGrpSpPr>
              <p:cNvPr id="42" name="组合 20"/>
              <p:cNvGrpSpPr>
                <a:grpSpLocks/>
              </p:cNvGrpSpPr>
              <p:nvPr/>
            </p:nvGrpSpPr>
            <p:grpSpPr bwMode="auto">
              <a:xfrm>
                <a:off x="811163" y="3027361"/>
                <a:ext cx="1898692" cy="803283"/>
                <a:chOff x="5703905" y="271124"/>
                <a:chExt cx="1898718" cy="803797"/>
              </a:xfrm>
            </p:grpSpPr>
            <p:cxnSp>
              <p:nvCxnSpPr>
                <p:cNvPr id="49" name="直接连接符 48"/>
                <p:cNvCxnSpPr/>
                <p:nvPr/>
              </p:nvCxnSpPr>
              <p:spPr>
                <a:xfrm rot="16200000" flipH="1">
                  <a:off x="5411547" y="673023"/>
                  <a:ext cx="803797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  <a:head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 rot="10800000">
                  <a:off x="5703905" y="1055859"/>
                  <a:ext cx="1898718" cy="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" name="TextBox 21"/>
              <p:cNvSpPr txBox="1">
                <a:spLocks noChangeArrowheads="1"/>
              </p:cNvSpPr>
              <p:nvPr/>
            </p:nvSpPr>
            <p:spPr bwMode="auto">
              <a:xfrm>
                <a:off x="2016090" y="3753415"/>
                <a:ext cx="102232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l-GR" altLang="zh-CN" i="1">
                    <a:latin typeface="Times New Roman" pitchFamily="18" charset="0"/>
                    <a:cs typeface="Times New Roman" pitchFamily="18" charset="0"/>
                  </a:rPr>
                  <a:t>μ</a:t>
                </a:r>
                <a:r>
                  <a:rPr lang="en-US" altLang="zh-CN" i="1">
                    <a:latin typeface="Times New Roman" pitchFamily="18" charset="0"/>
                    <a:cs typeface="Times New Roman" pitchFamily="18" charset="0"/>
                  </a:rPr>
                  <a:t>+a</a:t>
                </a:r>
                <a:endParaRPr lang="zh-CN" altLang="en-US" i="1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TextBox 22"/>
              <p:cNvSpPr txBox="1">
                <a:spLocks noChangeArrowheads="1"/>
              </p:cNvSpPr>
              <p:nvPr/>
            </p:nvSpPr>
            <p:spPr bwMode="auto">
              <a:xfrm>
                <a:off x="1066799" y="3751263"/>
                <a:ext cx="91277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l-GR" altLang="zh-CN" i="1">
                    <a:latin typeface="Times New Roman" pitchFamily="18" charset="0"/>
                    <a:cs typeface="Times New Roman" pitchFamily="18" charset="0"/>
                  </a:rPr>
                  <a:t>μ</a:t>
                </a:r>
                <a:r>
                  <a:rPr lang="en-US" altLang="zh-CN" i="1">
                    <a:latin typeface="Times New Roman" pitchFamily="18" charset="0"/>
                    <a:cs typeface="Times New Roman" pitchFamily="18" charset="0"/>
                  </a:rPr>
                  <a:t>-a</a:t>
                </a:r>
                <a:endParaRPr lang="zh-CN" altLang="en-US" i="1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aphicFrame>
            <p:nvGraphicFramePr>
              <p:cNvPr id="45" name="Object 8"/>
              <p:cNvGraphicFramePr>
                <a:graphicFrameLocks noChangeAspect="1"/>
              </p:cNvGraphicFramePr>
              <p:nvPr/>
            </p:nvGraphicFramePr>
            <p:xfrm>
              <a:off x="571533" y="2934604"/>
              <a:ext cx="211142" cy="547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2" name="Equation" r:id="rId10" imgW="152280" imgH="393480" progId="Equation.DSMT4">
                      <p:embed/>
                    </p:oleObj>
                  </mc:Choice>
                  <mc:Fallback>
                    <p:oleObj name="Equation" r:id="rId10" imgW="152280" imgH="393480" progId="Equation.DSMT4">
                      <p:embed/>
                      <p:pic>
                        <p:nvPicPr>
                          <p:cNvPr id="43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1533" y="2934604"/>
                            <a:ext cx="211142" cy="5476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TextBox 43"/>
              <p:cNvSpPr txBox="1"/>
              <p:nvPr/>
            </p:nvSpPr>
            <p:spPr bwMode="auto">
              <a:xfrm>
                <a:off x="2746368" y="3629030"/>
                <a:ext cx="328620" cy="368304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endParaRPr lang="zh-CN" altLang="en-US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TextBox 44"/>
              <p:cNvSpPr txBox="1"/>
              <p:nvPr/>
            </p:nvSpPr>
            <p:spPr bwMode="auto">
              <a:xfrm>
                <a:off x="993729" y="2767009"/>
                <a:ext cx="474673" cy="3698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i="1" dirty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zh-CN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48" name="直接连接符 47"/>
              <p:cNvCxnSpPr/>
              <p:nvPr/>
            </p:nvCxnSpPr>
            <p:spPr>
              <a:xfrm flipV="1">
                <a:off x="915110" y="3186634"/>
                <a:ext cx="900120" cy="1344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等腰三角形 40"/>
            <p:cNvSpPr/>
            <p:nvPr/>
          </p:nvSpPr>
          <p:spPr>
            <a:xfrm>
              <a:off x="7056276" y="5170639"/>
              <a:ext cx="1044116" cy="634625"/>
            </a:xfrm>
            <a:prstGeom prst="triangle">
              <a:avLst>
                <a:gd name="adj" fmla="val 4733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666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2AD18DF-8A2E-3FC4-690B-E236F445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A1A1C857-DEA9-2938-25FD-BF62FE8A6C7D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6EB9E1EE-027D-47DE-0090-2B37E37FA404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24E17F22-E818-30C2-E981-5C118982C27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29CE68E2-ECCA-D709-1151-1447B1880DE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3653D4F6-8626-7A47-DC1F-777E1F10B7CC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49E28F92-07F2-D3E0-7CB6-470FD8A51C7E}"/>
              </a:ext>
            </a:extLst>
          </p:cNvPr>
          <p:cNvSpPr/>
          <p:nvPr/>
        </p:nvSpPr>
        <p:spPr>
          <a:xfrm>
            <a:off x="431540" y="817268"/>
            <a:ext cx="23473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B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类评定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0AF56E85-20F8-A601-6701-031AFCF0CACD}"/>
              </a:ext>
            </a:extLst>
          </p:cNvPr>
          <p:cNvSpPr txBox="1"/>
          <p:nvPr/>
        </p:nvSpPr>
        <p:spPr>
          <a:xfrm>
            <a:off x="674010" y="1303126"/>
            <a:ext cx="220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有参考资料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="" xmlns:a16="http://schemas.microsoft.com/office/drawing/2014/main" id="{9B3A7815-A416-186A-8C6B-2D6B93CF5F75}"/>
                  </a:ext>
                </a:extLst>
              </p:cNvPr>
              <p:cNvSpPr txBox="1"/>
              <p:nvPr/>
            </p:nvSpPr>
            <p:spPr>
              <a:xfrm>
                <a:off x="574639" y="2201849"/>
                <a:ext cx="8274862" cy="1238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例：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校准证书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给出标称值为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1kg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的不锈钢标准砝码的质量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1600" i="1" baseline="-25000" dirty="0" err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1000.000325 g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，并说明其不确定度按三倍标准差计为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240μg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。则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en-US" altLang="zh-CN" sz="1600" i="1" dirty="0"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dirty="0" smtClean="0">
                              <a:latin typeface="Cambria Math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240</m:t>
                          </m:r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altLang="zh-CN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den>
                      </m:f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=80 </m:t>
                      </m:r>
                      <m:r>
                        <a:rPr lang="en-US" altLang="zh-CN" sz="1600" i="1" dirty="0" err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zh-CN" sz="1600" i="1" dirty="0" err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𝑔</m:t>
                      </m:r>
                    </m:oMath>
                  </m:oMathPara>
                </a14:m>
                <a:endParaRPr lang="en-US" altLang="zh-CN" sz="1600" b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B3A7815-A416-186A-8C6B-2D6B93CF5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39" y="2201849"/>
                <a:ext cx="8274862" cy="1238416"/>
              </a:xfrm>
              <a:prstGeom prst="rect">
                <a:avLst/>
              </a:prstGeom>
              <a:blipFill>
                <a:blip r:embed="rId5"/>
                <a:stretch>
                  <a:fillRect l="-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="" xmlns:a16="http://schemas.microsoft.com/office/drawing/2014/main" id="{C34AF4B6-32F6-C842-B2B2-91DE9535DFC9}"/>
                  </a:ext>
                </a:extLst>
              </p:cNvPr>
              <p:cNvSpPr txBox="1"/>
              <p:nvPr/>
            </p:nvSpPr>
            <p:spPr>
              <a:xfrm>
                <a:off x="574639" y="3655320"/>
                <a:ext cx="7763411" cy="957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例：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校准证书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给出标称值为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的标准电阻器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6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的阻值在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23℃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时为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10.00074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±0.13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，并说明给定的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0.13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不确定度所给出的区间具有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99%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的置信水平。电阻器的标准不确定度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(0.13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)/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2.58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= 0.05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400" dirty="0"/>
                  <a:t>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4AF4B6-32F6-C842-B2B2-91DE9535D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39" y="3655320"/>
                <a:ext cx="7763411" cy="957826"/>
              </a:xfrm>
              <a:prstGeom prst="rect">
                <a:avLst/>
              </a:prstGeom>
              <a:blipFill>
                <a:blip r:embed="rId6"/>
                <a:stretch>
                  <a:fillRect l="-392" b="-70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3128946F-A129-58FC-4FE3-EA25D3436A94}"/>
              </a:ext>
            </a:extLst>
          </p:cNvPr>
          <p:cNvSpPr txBox="1"/>
          <p:nvPr/>
        </p:nvSpPr>
        <p:spPr>
          <a:xfrm>
            <a:off x="1217068" y="1718236"/>
            <a:ext cx="6007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使用参考资料并根据给出的数据计算标准不确定度。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17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4A70B18-C9E6-780B-0DE1-9A5DDCAF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C548216A-00D6-CD35-110E-045A69A97B67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5F5B59C3-0576-BB86-4135-06CCCC87C9ED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ABAB2388-1B87-E171-F09F-A623B42044E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7A39E9B8-F113-1A8B-F773-96FF70514C4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27DAFED-435F-5A74-3CE2-5F09A4E084B8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7F3607A5-0C51-42C4-96F8-87565C201EB9}"/>
              </a:ext>
            </a:extLst>
          </p:cNvPr>
          <p:cNvSpPr/>
          <p:nvPr/>
        </p:nvSpPr>
        <p:spPr>
          <a:xfrm>
            <a:off x="431540" y="817268"/>
            <a:ext cx="23473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B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类评定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5F3E4E0C-3D86-A313-1174-42480E19D383}"/>
              </a:ext>
            </a:extLst>
          </p:cNvPr>
          <p:cNvSpPr txBox="1"/>
          <p:nvPr/>
        </p:nvSpPr>
        <p:spPr>
          <a:xfrm>
            <a:off x="674010" y="1303126"/>
            <a:ext cx="220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无参考资料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838B5A2D-8DD2-49FA-B8CE-5BCB674872D3}"/>
              </a:ext>
            </a:extLst>
          </p:cNvPr>
          <p:cNvSpPr txBox="1"/>
          <p:nvPr/>
        </p:nvSpPr>
        <p:spPr>
          <a:xfrm>
            <a:off x="1198337" y="1703236"/>
            <a:ext cx="6445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根据具体测量方法假设误差分布，求出标准不确定度。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="" xmlns:a16="http://schemas.microsoft.com/office/drawing/2014/main" id="{B37F8533-4E1A-BFE5-3FB0-D52577E67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337" y="2115811"/>
            <a:ext cx="6747326" cy="15003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0A4AC708-9756-7CFD-50A7-E106D1539A87}"/>
              </a:ext>
            </a:extLst>
          </p:cNvPr>
          <p:cNvSpPr txBox="1"/>
          <p:nvPr/>
        </p:nvSpPr>
        <p:spPr>
          <a:xfrm>
            <a:off x="574639" y="3655194"/>
            <a:ext cx="8049913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已知最大不确定度，无任何分布信息，可以采用等分假设，常见于数字仪表。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容易受到测量过程中大量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随机因素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影响时，尤其是需要估读时，常可以认为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属于正态分布。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681613" y="853319"/>
                <a:ext cx="1510542" cy="8642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/>
                          <a:ea typeface="黑体" pitchFamily="49" charset="-122"/>
                        </a:rPr>
                        <m:t>𝒖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/>
                          <a:ea typeface="黑体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</m:ctrlPr>
                        </m:fPr>
                        <m:num>
                          <m:r>
                            <a:rPr lang="zh-CN" altLang="en-US" sz="1600" b="1" i="1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  <m:t>最大</m:t>
                          </m:r>
                          <m:r>
                            <a:rPr lang="zh-CN" altLang="en-US" sz="1600" b="1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  <m:t>允差</m:t>
                          </m:r>
                        </m:num>
                        <m:den>
                          <m:r>
                            <a:rPr lang="zh-CN" altLang="en-US" sz="1600" b="1" i="1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  <m:t>置信</m:t>
                          </m:r>
                          <m:r>
                            <a:rPr lang="zh-CN" altLang="en-US" sz="1600" b="1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  <m:t>系数</m:t>
                          </m:r>
                        </m:den>
                      </m:f>
                    </m:oMath>
                  </m:oMathPara>
                </a14:m>
                <a:endParaRPr lang="zh-CN" altLang="en-US" sz="1600" b="1" dirty="0">
                  <a:solidFill>
                    <a:srgbClr val="C00000"/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13" y="853319"/>
                <a:ext cx="1510542" cy="86421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69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44574E1-6E93-33D1-CC54-538A5A64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B1E3DFAD-4107-245C-FBE4-430EB8780242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4A7A107E-DFD6-B10C-6B8A-99CCBEB2B692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698FF2BA-2D15-DB1B-019C-9952425A16E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B4FAA68A-F789-AE1F-A33D-CC0C2687395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pic>
        <p:nvPicPr>
          <p:cNvPr id="4" name="图片 3" descr="表格&#10;&#10;AI 生成的内容可能不正确。">
            <a:extLst>
              <a:ext uri="{FF2B5EF4-FFF2-40B4-BE49-F238E27FC236}">
                <a16:creationId xmlns="" xmlns:a16="http://schemas.microsoft.com/office/drawing/2014/main" id="{172E4B27-FFF3-63FB-1671-8A7914FF6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7775" y="0"/>
            <a:ext cx="5468450" cy="51435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="" xmlns:a16="http://schemas.microsoft.com/office/drawing/2014/main" id="{1C25B021-AFAD-C4D7-427B-1AE50494C7DA}"/>
              </a:ext>
            </a:extLst>
          </p:cNvPr>
          <p:cNvSpPr/>
          <p:nvPr/>
        </p:nvSpPr>
        <p:spPr>
          <a:xfrm>
            <a:off x="2223655" y="2043545"/>
            <a:ext cx="4710545" cy="415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F98491B-99C6-6674-AE4C-8B38D7443454}"/>
              </a:ext>
            </a:extLst>
          </p:cNvPr>
          <p:cNvSpPr/>
          <p:nvPr/>
        </p:nvSpPr>
        <p:spPr>
          <a:xfrm>
            <a:off x="2230588" y="1558633"/>
            <a:ext cx="4710545" cy="415637"/>
          </a:xfrm>
          <a:prstGeom prst="rect">
            <a:avLst/>
          </a:prstGeom>
          <a:noFill/>
          <a:ln w="19050">
            <a:solidFill>
              <a:srgbClr val="0000FF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4C379029-C960-C8EC-7A7B-3DA7746A9317}"/>
              </a:ext>
            </a:extLst>
          </p:cNvPr>
          <p:cNvSpPr/>
          <p:nvPr/>
        </p:nvSpPr>
        <p:spPr>
          <a:xfrm>
            <a:off x="2175164" y="2860964"/>
            <a:ext cx="4918369" cy="519545"/>
          </a:xfrm>
          <a:prstGeom prst="rect">
            <a:avLst/>
          </a:prstGeom>
          <a:noFill/>
          <a:ln w="19050">
            <a:solidFill>
              <a:srgbClr val="0000FF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88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CE6387-FA32-C116-72D2-FD402E46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BE08B4A7-35CA-E52D-A621-B6521B86FDAF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3AFB02E0-1B5C-7A07-8A50-11C7BEFBA34F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B90F5340-FBA7-8DF5-CCB8-90317880CAB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300EEBDB-755E-CD33-4745-7EF06730A933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9663C731-B7CE-C024-C6D9-8DD42A46B09D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3FFC6C25-F812-D451-ACD8-E104993C3755}"/>
              </a:ext>
            </a:extLst>
          </p:cNvPr>
          <p:cNvSpPr/>
          <p:nvPr/>
        </p:nvSpPr>
        <p:spPr>
          <a:xfrm>
            <a:off x="208303" y="739994"/>
            <a:ext cx="5694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6.3.3 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合成标准不确定度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79971A27-E671-EE37-5EE3-4F806E2B52EF}"/>
              </a:ext>
            </a:extLst>
          </p:cNvPr>
          <p:cNvSpPr txBox="1"/>
          <p:nvPr/>
        </p:nvSpPr>
        <p:spPr>
          <a:xfrm>
            <a:off x="755576" y="2169991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当各个分量不相关时：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="" xmlns:a16="http://schemas.microsoft.com/office/drawing/2014/main" id="{947D5202-61FB-D392-732A-AAD46329895A}"/>
                  </a:ext>
                </a:extLst>
              </p:cNvPr>
              <p:cNvSpPr txBox="1"/>
              <p:nvPr/>
            </p:nvSpPr>
            <p:spPr>
              <a:xfrm>
                <a:off x="361207" y="1215235"/>
                <a:ext cx="8447952" cy="787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42900" algn="just"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被测量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的标准不确定度是由输入量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,…</m:t>
                        </m:r>
                        <m:r>
                          <a:rPr lang="en-US" altLang="zh-CN" sz="16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 dirty="0" err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16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 dirty="0" err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的标准不确定度分量合成得到的。这个合成的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标准不确定度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begChr m:val=""/>
                        <m:ctrlPr>
                          <a:rPr lang="en-US" altLang="zh-CN" sz="1600" i="1" dirty="0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endChr m:val=""/>
                            <m:ctrlPr>
                              <a:rPr lang="en-US" altLang="zh-CN" sz="16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47D5202-61FB-D392-732A-AAD463298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07" y="1215235"/>
                <a:ext cx="8447952" cy="787523"/>
              </a:xfrm>
              <a:prstGeom prst="rect">
                <a:avLst/>
              </a:prstGeom>
              <a:blipFill>
                <a:blip r:embed="rId6"/>
                <a:stretch>
                  <a:fillRect l="-361" r="-433" b="-7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="" xmlns:a16="http://schemas.microsoft.com/office/drawing/2014/main" id="{67D1AB73-B4CE-130B-7D3D-B992F0FDD642}"/>
                  </a:ext>
                </a:extLst>
              </p:cNvPr>
              <p:cNvSpPr txBox="1"/>
              <p:nvPr/>
            </p:nvSpPr>
            <p:spPr>
              <a:xfrm>
                <a:off x="755576" y="2897142"/>
                <a:ext cx="7488832" cy="1965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900"/>
                  </a:spcBef>
                </a:pP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  <m:r>
                      <m:rPr>
                        <m:lit/>
                      </m:rP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：测量模型的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函数关系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spcBef>
                    <a:spcPts val="900"/>
                  </a:spcBef>
                </a:pP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𝒖</m:t>
                    </m:r>
                    <m:d>
                      <m:dPr>
                        <m:ctrlPr>
                          <a:rPr lang="zh-CN" altLang="zh-CN" sz="1600" b="1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00" b="1" i="1"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根据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类或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类评定方法评定的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输入量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标准不确定度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spcBef>
                    <a:spcPts val="900"/>
                  </a:spcBef>
                </a:pPr>
                <a:r>
                  <a:rPr lang="zh-CN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灵敏系数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偏导数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zh-CN" altLang="zh-CN" sz="16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1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1600" i="1"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lit/>
                      </m:rP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lit/>
                      </m:rPr>
                      <a:rPr lang="zh-CN" altLang="zh-CN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描述了输出量估计值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zh-CN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m:rPr>
                        <m:lit/>
                      </m:rP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如何随输入估计值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6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6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CN" altLang="zh-CN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6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的变化而变化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</a:pP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由估计值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的标准不确定度引起的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的变化可以表示为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6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1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zh-CN" sz="1600" i="1"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zh-CN" altLang="zh-CN" sz="16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00" i="1"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zh-CN" altLang="zh-CN" sz="1600" i="1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00" i="1">
                                <a:latin typeface="Cambria Math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7D1AB73-B4CE-130B-7D3D-B992F0FDD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897142"/>
                <a:ext cx="7488832" cy="1965538"/>
              </a:xfrm>
              <a:prstGeom prst="rect">
                <a:avLst/>
              </a:prstGeom>
              <a:blipFill>
                <a:blip r:embed="rId7"/>
                <a:stretch>
                  <a:fillRect l="-489" t="-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="" xmlns:a16="http://schemas.microsoft.com/office/drawing/2014/main" id="{ED92147E-0344-361D-A4DB-754FA624D0F4}"/>
                  </a:ext>
                </a:extLst>
              </p:cNvPr>
              <p:cNvSpPr txBox="1"/>
              <p:nvPr/>
            </p:nvSpPr>
            <p:spPr bwMode="auto">
              <a:xfrm>
                <a:off x="3163190" y="1899801"/>
                <a:ext cx="4762500" cy="909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16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zh-CN" altLang="en-US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6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ED92147E-0344-361D-A4DB-754FA624D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3190" y="1899801"/>
                <a:ext cx="4762500" cy="9097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="" xmlns:a16="http://schemas.microsoft.com/office/drawing/2014/main" id="{7DBBE136-6937-A4BF-8E52-5468FE4A6475}"/>
              </a:ext>
            </a:extLst>
          </p:cNvPr>
          <p:cNvGrpSpPr/>
          <p:nvPr/>
        </p:nvGrpSpPr>
        <p:grpSpPr>
          <a:xfrm>
            <a:off x="4421981" y="173685"/>
            <a:ext cx="3712906" cy="996745"/>
            <a:chOff x="4421981" y="173685"/>
            <a:chExt cx="3712906" cy="996745"/>
          </a:xfrm>
        </p:grpSpPr>
        <p:graphicFrame>
          <p:nvGraphicFramePr>
            <p:cNvPr id="8" name="对象 7">
              <a:extLst>
                <a:ext uri="{FF2B5EF4-FFF2-40B4-BE49-F238E27FC236}">
                  <a16:creationId xmlns="" xmlns:a16="http://schemas.microsoft.com/office/drawing/2014/main" id="{1155DFF3-5E01-3CF5-970E-47CB735002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8783900"/>
                </p:ext>
              </p:extLst>
            </p:nvPr>
          </p:nvGraphicFramePr>
          <p:xfrm>
            <a:off x="5371311" y="173685"/>
            <a:ext cx="1513021" cy="3447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Equation" r:id="rId9" imgW="1002960" imgH="228600" progId="Equation.DSMT4">
                    <p:embed/>
                  </p:oleObj>
                </mc:Choice>
                <mc:Fallback>
                  <p:oleObj name="Equation" r:id="rId9" imgW="10029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71311" y="173685"/>
                          <a:ext cx="1513021" cy="3447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="" xmlns:a16="http://schemas.microsoft.com/office/drawing/2014/main" id="{A5671F64-CA2F-BADC-715C-E935A27EC9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9806778"/>
                </p:ext>
              </p:extLst>
            </p:nvPr>
          </p:nvGraphicFramePr>
          <p:xfrm>
            <a:off x="4421981" y="549653"/>
            <a:ext cx="3712906" cy="620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Equation" r:id="rId11" imgW="3352680" imgH="558720" progId="Equation.DSMT4">
                    <p:embed/>
                  </p:oleObj>
                </mc:Choice>
                <mc:Fallback>
                  <p:oleObj name="Equation" r:id="rId11" imgW="3352680" imgH="558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421981" y="549653"/>
                          <a:ext cx="3712906" cy="6207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5325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9A01174E-242B-E7D3-02D3-4BF4B98A2473}"/>
              </a:ext>
            </a:extLst>
          </p:cNvPr>
          <p:cNvSpPr txBox="1"/>
          <p:nvPr/>
        </p:nvSpPr>
        <p:spPr>
          <a:xfrm>
            <a:off x="892058" y="570786"/>
            <a:ext cx="548811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defRPr>
            </a:lvl1pPr>
          </a:lstStyle>
          <a:p>
            <a:r>
              <a:rPr lang="zh-CN" altLang="zh-CN" sz="2000" dirty="0"/>
              <a:t>常用函数的</a:t>
            </a:r>
            <a:r>
              <a:rPr lang="zh-CN" altLang="en-US" sz="2000" dirty="0"/>
              <a:t>标准</a:t>
            </a:r>
            <a:r>
              <a:rPr lang="zh-CN" altLang="zh-CN" sz="2000" dirty="0"/>
              <a:t>不确定度传递</a:t>
            </a:r>
            <a:r>
              <a:rPr lang="en-US" altLang="zh-CN" sz="2000" dirty="0"/>
              <a:t> (</a:t>
            </a:r>
            <a:r>
              <a:rPr lang="zh-CN" altLang="zh-CN" sz="2000" dirty="0"/>
              <a:t>合成</a:t>
            </a:r>
            <a:r>
              <a:rPr lang="en-US" altLang="zh-CN" sz="2000" dirty="0"/>
              <a:t>) </a:t>
            </a:r>
            <a:r>
              <a:rPr lang="zh-CN" altLang="zh-CN" sz="2000" dirty="0"/>
              <a:t>公式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6086DC53-9A3C-4DF3-FF61-047A8F835D68}"/>
              </a:ext>
            </a:extLst>
          </p:cNvPr>
          <p:cNvSpPr txBox="1"/>
          <p:nvPr/>
        </p:nvSpPr>
        <p:spPr>
          <a:xfrm>
            <a:off x="1932784" y="1417188"/>
            <a:ext cx="16878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i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A=</a:t>
            </a:r>
            <a:r>
              <a:rPr lang="en-US" altLang="zh-CN" dirty="0" err="1"/>
              <a:t>x±y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="" xmlns:a16="http://schemas.microsoft.com/office/drawing/2014/main" id="{22963934-6525-CD31-95EC-34CE69484A28}"/>
                  </a:ext>
                </a:extLst>
              </p:cNvPr>
              <p:cNvSpPr txBox="1"/>
              <p:nvPr/>
            </p:nvSpPr>
            <p:spPr>
              <a:xfrm>
                <a:off x="2791326" y="1347179"/>
                <a:ext cx="3379155" cy="53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400" i="1" kern="100" smtClean="0">
                              <a:effectLst/>
                              <a:latin typeface="Cambria Math"/>
                              <a:ea typeface="XITS Math"/>
                              <a:cs typeface="XITS Math"/>
                            </a:rPr>
                          </m:ctrlPr>
                        </m:sSubPr>
                        <m:e>
                          <m:r>
                            <a:rPr lang="en-US" altLang="zh-CN" sz="1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1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1400" i="1" kern="100">
                              <a:effectLst/>
                              <a:latin typeface="Cambria Math"/>
                              <a:ea typeface="XITS Math"/>
                              <a:cs typeface="XITS Math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zh-CN" altLang="zh-CN" sz="1400" i="1" kern="100">
                                  <a:effectLst/>
                                  <a:latin typeface="Cambria Math"/>
                                  <a:ea typeface="XITS Math"/>
                                  <a:cs typeface="XITS Math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1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1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sz="1400" i="1" kern="100">
                                  <a:effectLst/>
                                  <a:latin typeface="Cambria Math"/>
                                  <a:ea typeface="XITS Math"/>
                                  <a:cs typeface="XITS Math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sz="1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2963934-6525-CD31-95EC-34CE69484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326" y="1347179"/>
                <a:ext cx="3379155" cy="5307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9D89E63C-A314-C44B-41D8-8B449EC92931}"/>
              </a:ext>
            </a:extLst>
          </p:cNvPr>
          <p:cNvSpPr txBox="1"/>
          <p:nvPr/>
        </p:nvSpPr>
        <p:spPr>
          <a:xfrm>
            <a:off x="1803875" y="2171257"/>
            <a:ext cx="24853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i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A=</a:t>
            </a:r>
            <a:r>
              <a:rPr lang="en-US" altLang="zh-CN" dirty="0" err="1"/>
              <a:t>x⋅y</a:t>
            </a:r>
            <a:r>
              <a:rPr lang="zh-CN" altLang="zh-CN" dirty="0"/>
              <a:t>或</a:t>
            </a:r>
            <a:r>
              <a:rPr lang="en-US" altLang="zh-CN" dirty="0"/>
              <a:t>x/y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="" xmlns:a16="http://schemas.microsoft.com/office/drawing/2014/main" id="{FA0F61D1-59BC-E4E2-2280-FD40306EDB3A}"/>
                  </a:ext>
                </a:extLst>
              </p:cNvPr>
              <p:cNvSpPr txBox="1"/>
              <p:nvPr/>
            </p:nvSpPr>
            <p:spPr>
              <a:xfrm>
                <a:off x="3694558" y="2123425"/>
                <a:ext cx="2306626" cy="530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400" i="1" kern="100">
                            <a:effectLst/>
                            <a:latin typeface="Cambria Math"/>
                            <a:ea typeface="XITS Math"/>
                            <a:cs typeface="XITS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400" i="1" kern="100">
                                <a:effectLst/>
                                <a:latin typeface="Cambria Math"/>
                                <a:ea typeface="XITS Math"/>
                                <a:cs typeface="XITS Math"/>
                              </a:rPr>
                            </m:ctrlPr>
                          </m:sSubPr>
                          <m:e>
                            <m:r>
                              <a:rPr lang="en-US" altLang="zh-CN" sz="1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1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altLang="zh-CN" sz="1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CN" sz="14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1400" i="1" kern="100">
                            <a:effectLst/>
                            <a:latin typeface="Cambria Math"/>
                            <a:ea typeface="XITS Math"/>
                            <a:cs typeface="XITS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sz="1400" i="1" kern="100">
                                <a:effectLst/>
                                <a:latin typeface="Cambria Math"/>
                                <a:ea typeface="XITS Math"/>
                                <a:cs typeface="XITS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400" i="1" kern="100">
                                    <a:effectLst/>
                                    <a:latin typeface="Cambria Math"/>
                                    <a:ea typeface="XITS Math"/>
                                    <a:cs typeface="XITS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1400" i="1" kern="100">
                                        <a:effectLst/>
                                        <a:latin typeface="Cambria Math"/>
                                        <a:ea typeface="XITS Math"/>
                                        <a:cs typeface="XITS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1400" i="1" kern="100">
                                            <a:effectLst/>
                                            <a:latin typeface="Cambria Math"/>
                                            <a:ea typeface="XITS Math"/>
                                            <a:cs typeface="XITS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US" altLang="zh-CN" sz="1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4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1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1400" i="1" kern="100">
                                <a:effectLst/>
                                <a:latin typeface="Cambria Math"/>
                                <a:ea typeface="XITS Math"/>
                                <a:cs typeface="XITS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400" i="1" kern="100">
                                    <a:effectLst/>
                                    <a:latin typeface="Cambria Math"/>
                                    <a:ea typeface="XITS Math"/>
                                    <a:cs typeface="XITS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1400" i="1" kern="100">
                                        <a:effectLst/>
                                        <a:latin typeface="Cambria Math"/>
                                        <a:ea typeface="XITS Math"/>
                                        <a:cs typeface="XITS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1400" i="1" kern="100">
                                            <a:effectLst/>
                                            <a:latin typeface="Cambria Math"/>
                                            <a:ea typeface="XITS Math"/>
                                            <a:cs typeface="XITS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US" altLang="zh-CN" sz="1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4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14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A0F61D1-59BC-E4E2-2280-FD40306ED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558" y="2123425"/>
                <a:ext cx="2306626" cy="530723"/>
              </a:xfrm>
              <a:prstGeom prst="rect">
                <a:avLst/>
              </a:prstGeom>
              <a:blipFill>
                <a:blip r:embed="rId3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="" xmlns:a16="http://schemas.microsoft.com/office/drawing/2014/main" id="{EB633FCF-0FC8-C463-204C-ECEB8A2C484B}"/>
                  </a:ext>
                </a:extLst>
              </p:cNvPr>
              <p:cNvSpPr txBox="1"/>
              <p:nvPr/>
            </p:nvSpPr>
            <p:spPr>
              <a:xfrm>
                <a:off x="2776714" y="2968693"/>
                <a:ext cx="4572000" cy="706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zh-CN" alt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B633FCF-0FC8-C463-204C-ECEB8A2C4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714" y="2968693"/>
                <a:ext cx="4572000" cy="7061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C27F9857-8D1D-0DE5-087E-13BF96EC0F48}"/>
              </a:ext>
            </a:extLst>
          </p:cNvPr>
          <p:cNvSpPr txBox="1"/>
          <p:nvPr/>
        </p:nvSpPr>
        <p:spPr>
          <a:xfrm>
            <a:off x="1694738" y="3105094"/>
            <a:ext cx="1483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 = Cx</a:t>
            </a:r>
            <a:r>
              <a:rPr lang="en-US" altLang="zh-CN" sz="1400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</a:t>
            </a:r>
            <a:r>
              <a:rPr lang="en-US" altLang="zh-CN" sz="1400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lang="en-US" altLang="zh-CN" sz="1400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1400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z</a:t>
            </a:r>
            <a:r>
              <a:rPr lang="en-US" altLang="zh-CN" sz="1400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5">
                <a:extLst>
                  <a:ext uri="{FF2B5EF4-FFF2-40B4-BE49-F238E27FC236}">
                    <a16:creationId xmlns="" xmlns:a16="http://schemas.microsoft.com/office/drawing/2014/main" id="{2E5ED91D-1EA6-81EE-7FF2-B17D704579FA}"/>
                  </a:ext>
                </a:extLst>
              </p:cNvPr>
              <p:cNvSpPr txBox="1"/>
              <p:nvPr/>
            </p:nvSpPr>
            <p:spPr bwMode="auto">
              <a:xfrm>
                <a:off x="5209672" y="3837227"/>
                <a:ext cx="2839452" cy="909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16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1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zh-CN" altLang="en-US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6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4" name="Object 5">
                <a:extLst>
                  <a:ext uri="{FF2B5EF4-FFF2-40B4-BE49-F238E27FC236}">
                    <a16:creationId xmlns:a16="http://schemas.microsoft.com/office/drawing/2014/main" id="{2E5ED91D-1EA6-81EE-7FF2-B17D70457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9672" y="3837227"/>
                <a:ext cx="2839452" cy="909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46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2EE3BDC-9023-D74D-0530-65DF72FE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E79361B7-05D2-769E-9481-0CE6BFA47B4F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F19CF16E-E1EC-6A36-9A54-64B80C72ADB0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C5882072-899E-3380-D991-58ED88BEE40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3D8923AF-E9B4-DBE8-85E8-A0240AEBB42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82B4340E-0CA3-8189-A7D6-94765E9ADE78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5B92D46D-29D8-9E56-51CA-D3E0095B67FB}"/>
              </a:ext>
            </a:extLst>
          </p:cNvPr>
          <p:cNvSpPr/>
          <p:nvPr/>
        </p:nvSpPr>
        <p:spPr>
          <a:xfrm>
            <a:off x="208303" y="739994"/>
            <a:ext cx="5694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6.3.4 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扩展不确定度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="" xmlns:a16="http://schemas.microsoft.com/office/drawing/2014/main" id="{3D8932E6-DEE2-B96E-4330-7DAAA763C133}"/>
                  </a:ext>
                </a:extLst>
              </p:cNvPr>
              <p:cNvSpPr txBox="1"/>
              <p:nvPr/>
            </p:nvSpPr>
            <p:spPr>
              <a:xfrm>
                <a:off x="399071" y="1230498"/>
                <a:ext cx="8280920" cy="14229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扩展不确定度，通常用符号</a:t>
                </a:r>
                <a:r>
                  <a:rPr lang="en-US" altLang="zh-CN" sz="2000" i="1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（或</a:t>
                </a:r>
                <a:r>
                  <a:rPr lang="en-US" altLang="zh-CN" sz="2000" i="1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000" baseline="-25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）表示，是由合成标准不确定度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乘以一个包含因子</a:t>
                </a:r>
                <a:r>
                  <a:rPr lang="en-US" altLang="zh-CN" sz="2000" i="1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(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000" i="1" dirty="0" err="1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000" i="1" baseline="-25000" dirty="0" err="1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得到的。包含因子</a:t>
                </a:r>
                <a:r>
                  <a:rPr lang="en-US" altLang="zh-CN" sz="2000" i="1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(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000" i="1" dirty="0" err="1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000" i="1" baseline="-25000" dirty="0" err="1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是一个扩大因子，用于生成一个包含大部分可能值的区间</a:t>
                </a:r>
                <a:r>
                  <a:rPr lang="zh-CN" altLang="en-US" sz="20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D8932E6-DEE2-B96E-4330-7DAAA763C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71" y="1230498"/>
                <a:ext cx="8280920" cy="1422954"/>
              </a:xfrm>
              <a:prstGeom prst="rect">
                <a:avLst/>
              </a:prstGeom>
              <a:blipFill>
                <a:blip r:embed="rId5"/>
                <a:stretch>
                  <a:fillRect l="-736" r="-736" b="-6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="" xmlns:a16="http://schemas.microsoft.com/office/drawing/2014/main" id="{057278FF-C45E-35C5-2E91-E6D610F2FA1A}"/>
                  </a:ext>
                </a:extLst>
              </p:cNvPr>
              <p:cNvSpPr txBox="1"/>
              <p:nvPr/>
            </p:nvSpPr>
            <p:spPr>
              <a:xfrm>
                <a:off x="1951697" y="2857376"/>
                <a:ext cx="2304682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zh-CN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zh-CN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57278FF-C45E-35C5-2E91-E6D610F2F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697" y="2857376"/>
                <a:ext cx="2304682" cy="423770"/>
              </a:xfrm>
              <a:prstGeom prst="rect">
                <a:avLst/>
              </a:prstGeom>
              <a:blipFill>
                <a:blip r:embed="rId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="" xmlns:a16="http://schemas.microsoft.com/office/drawing/2014/main" id="{6E48981D-E9B0-C3E3-91BE-399C0E61A461}"/>
                  </a:ext>
                </a:extLst>
              </p:cNvPr>
              <p:cNvSpPr txBox="1"/>
              <p:nvPr/>
            </p:nvSpPr>
            <p:spPr>
              <a:xfrm>
                <a:off x="476343" y="3660602"/>
                <a:ext cx="7560073" cy="876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来自单个物理量（直接测量）</a:t>
                </a:r>
                <a:endParaRPr lang="en-US" altLang="zh-CN" sz="2000" kern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zh-CN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根据所要求的置信水平</a:t>
                </a:r>
                <a:r>
                  <a:rPr lang="en-US" altLang="zh-CN" sz="2000" i="1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及自由度</a:t>
                </a:r>
                <a:r>
                  <a:rPr lang="en-US" altLang="zh-CN" sz="2000" b="1" i="1" kern="0" dirty="0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zh-CN" altLang="zh-CN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，查</a:t>
                </a:r>
                <a:r>
                  <a:rPr lang="en-US" altLang="zh-CN" sz="2000" b="1" i="1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</a:t>
                </a:r>
                <a:r>
                  <a:rPr lang="zh-CN" altLang="en-US" sz="2000" b="1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分布表</a:t>
                </a:r>
                <a:r>
                  <a:rPr lang="zh-CN" altLang="en-US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得到</a:t>
                </a:r>
                <a:r>
                  <a:rPr lang="en-US" altLang="zh-CN" sz="2000" b="1" i="1" kern="0" dirty="0" err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altLang="zh-CN" sz="2000" b="1" i="1" kern="0" baseline="-25000" dirty="0" err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sz="2000" b="1" i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:r>
                  <a:rPr lang="en-US" altLang="zh-CN" sz="2000" b="1" i="1" kern="0" dirty="0" err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en-US" altLang="zh-CN" sz="2000" b="1" i="1" kern="0" baseline="-25000" dirty="0" err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en-US" altLang="zh-CN" sz="20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000" b="1" i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 </a:t>
                </a:r>
                <a:r>
                  <a:rPr lang="en-US" altLang="zh-CN" sz="20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zh-CN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kern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E48981D-E9B0-C3E3-91BE-399C0E61A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43" y="3660602"/>
                <a:ext cx="7560073" cy="876650"/>
              </a:xfrm>
              <a:prstGeom prst="rect">
                <a:avLst/>
              </a:prstGeom>
              <a:blipFill>
                <a:blip r:embed="rId7"/>
                <a:stretch>
                  <a:fillRect l="-806" b="-11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5">
                <a:extLst>
                  <a:ext uri="{FF2B5EF4-FFF2-40B4-BE49-F238E27FC236}">
                    <a16:creationId xmlns="" xmlns:a16="http://schemas.microsoft.com/office/drawing/2014/main" id="{D4EC5D58-167B-39A9-D7E0-D3D7FCD7A8D7}"/>
                  </a:ext>
                </a:extLst>
              </p:cNvPr>
              <p:cNvSpPr txBox="1"/>
              <p:nvPr/>
            </p:nvSpPr>
            <p:spPr bwMode="auto">
              <a:xfrm>
                <a:off x="4791070" y="2646890"/>
                <a:ext cx="3245346" cy="909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D4EC5D58-167B-39A9-D7E0-D3D7FCD7A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1070" y="2646890"/>
                <a:ext cx="3245346" cy="9097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898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ABDDD0-B2DA-D153-CB01-ECEE26CBF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4AB4E984-6D74-5A41-68C2-753E8D13F204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2149752B-7267-0B81-4B2E-0689AD000E54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3374CC21-9EE2-6323-0FD5-D2CDEEA3877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2D52A03B-679A-E55C-E4B7-F764989C48A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49B6AFD9-8FA1-7EC7-195C-C09E18D6AB43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24D74D5E-2107-E73F-108E-3230E2CFAA59}"/>
              </a:ext>
            </a:extLst>
          </p:cNvPr>
          <p:cNvSpPr/>
          <p:nvPr/>
        </p:nvSpPr>
        <p:spPr>
          <a:xfrm>
            <a:off x="208303" y="739994"/>
            <a:ext cx="5694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6.3.4 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扩展不确定度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C940E23A-1B7D-06EE-9AF4-3AC50ABF3032}"/>
                  </a:ext>
                </a:extLst>
              </p:cNvPr>
              <p:cNvSpPr txBox="1"/>
              <p:nvPr/>
            </p:nvSpPr>
            <p:spPr>
              <a:xfrm>
                <a:off x="772757" y="2426324"/>
                <a:ext cx="3487661" cy="789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00" smtClean="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000" kern="1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eff</m:t>
                          </m:r>
                        </m:sub>
                      </m:sSub>
                      <m:r>
                        <a:rPr lang="en-US" altLang="zh-CN" sz="20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 kern="10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2000" i="1" kern="100"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bSup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zh-CN" altLang="zh-CN" sz="2000" i="1" kern="100"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000" i="1" kern="10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CN" sz="2000" i="1" kern="100" dirty="0">
                                          <a:latin typeface="Cambria Math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kern="100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zh-CN" sz="2000" i="1" kern="100">
                                          <a:latin typeface="Cambria Math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)]</m:t>
                                  </m:r>
                                </m:e>
                                <m:sup>
                                  <m:r>
                                    <a:rPr lang="en-US" altLang="zh-CN" sz="2000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lit/>
                                </m:rP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</m:e>
                          </m:nary>
                          <m:sSub>
                            <m:sSubPr>
                              <m:ctrlPr>
                                <a:rPr lang="zh-CN" altLang="zh-CN" sz="2000" i="1" kern="100"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940E23A-1B7D-06EE-9AF4-3AC50ABF3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57" y="2426324"/>
                <a:ext cx="3487661" cy="7897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FA9BBC08-9D50-4166-F577-FED9EE9AAC8B}"/>
              </a:ext>
            </a:extLst>
          </p:cNvPr>
          <p:cNvSpPr txBox="1"/>
          <p:nvPr/>
        </p:nvSpPr>
        <p:spPr>
          <a:xfrm>
            <a:off x="540961" y="1834969"/>
            <a:ext cx="6134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韦尔奇</a:t>
            </a:r>
            <a:r>
              <a:rPr lang="en-US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萨特思韦特（</a:t>
            </a:r>
            <a:r>
              <a:rPr lang="en-US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Welch-Satterthwaite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公式</a:t>
            </a:r>
            <a:endParaRPr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="" xmlns:a16="http://schemas.microsoft.com/office/drawing/2014/main" id="{691D1F21-0D52-2231-D552-6AAECCB5F095}"/>
                  </a:ext>
                </a:extLst>
              </p:cNvPr>
              <p:cNvSpPr txBox="1"/>
              <p:nvPr/>
            </p:nvSpPr>
            <p:spPr>
              <a:xfrm>
                <a:off x="4421981" y="2326005"/>
                <a:ext cx="383432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kern="100" smtClean="0">
                            <a:latin typeface="Cambria Math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是对应分量的自由度，</a:t>
                </a:r>
                <a:r>
                  <a:rPr lang="en-US" altLang="zh-CN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类评定可以取为</a:t>
                </a:r>
                <a:r>
                  <a:rPr lang="en-US" altLang="zh-CN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n-1</a:t>
                </a:r>
                <a:r>
                  <a:rPr lang="zh-CN" altLang="en-US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类评定可取为</a:t>
                </a:r>
                <a14:m>
                  <m:oMath xmlns:m="http://schemas.openxmlformats.org/officeDocument/2006/math">
                    <m:r>
                      <a:rPr lang="zh-CN" altLang="en-US" sz="1600" i="1" kern="10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zh-CN" altLang="en-US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，线性拟合取为</a:t>
                </a:r>
                <a:r>
                  <a:rPr lang="en-US" altLang="zh-CN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n-2</a:t>
                </a:r>
                <a:r>
                  <a:rPr lang="zh-CN" altLang="en-US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6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kern="100" dirty="0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i="1" kern="1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为测量模型中的各输入量的灵敏度。</a:t>
                </a:r>
                <a:endParaRPr lang="zh-CN" altLang="zh-CN" sz="16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91D1F21-0D52-2231-D552-6AAECCB5F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981" y="2326005"/>
                <a:ext cx="3834323" cy="1077218"/>
              </a:xfrm>
              <a:prstGeom prst="rect">
                <a:avLst/>
              </a:prstGeom>
              <a:blipFill>
                <a:blip r:embed="rId6"/>
                <a:stretch>
                  <a:fillRect l="-636" t="-1705" r="-6359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="" xmlns:a16="http://schemas.microsoft.com/office/drawing/2014/main" id="{8F4A774F-9800-C8F8-5B0F-C8574B7FC62F}"/>
                  </a:ext>
                </a:extLst>
              </p:cNvPr>
              <p:cNvSpPr txBox="1"/>
              <p:nvPr/>
            </p:nvSpPr>
            <p:spPr>
              <a:xfrm>
                <a:off x="381898" y="1260264"/>
                <a:ext cx="7560073" cy="430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zh-CN" altLang="en-US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来自</a:t>
                </a: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多个物理量的不确定度合成</a:t>
                </a:r>
                <a:r>
                  <a:rPr lang="zh-CN" altLang="en-US" sz="2000" kern="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（间接测量）</a:t>
                </a:r>
                <a:endParaRPr lang="en-US" altLang="zh-CN" sz="2000" kern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F4A774F-9800-C8F8-5B0F-C8574B7FC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98" y="1260264"/>
                <a:ext cx="7560073" cy="430374"/>
              </a:xfrm>
              <a:prstGeom prst="rect">
                <a:avLst/>
              </a:prstGeom>
              <a:blipFill>
                <a:blip r:embed="rId7"/>
                <a:stretch>
                  <a:fillRect l="-887" t="-1429" b="-2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D5FC207C-90C6-569D-BDD9-F4AF4D44A4D4}"/>
              </a:ext>
            </a:extLst>
          </p:cNvPr>
          <p:cNvSpPr txBox="1"/>
          <p:nvPr/>
        </p:nvSpPr>
        <p:spPr>
          <a:xfrm>
            <a:off x="608848" y="3555705"/>
            <a:ext cx="7333123" cy="1245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根据所要求的置信水平</a:t>
            </a:r>
            <a:r>
              <a:rPr lang="en-US" altLang="zh-CN" sz="2000" i="1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及有效自由度</a:t>
            </a:r>
            <a:r>
              <a:rPr lang="en-US" altLang="zh-CN" sz="2000" b="1" i="1" kern="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2000" b="1" i="1" kern="0" baseline="-2500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eff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，查</a:t>
            </a:r>
            <a:r>
              <a:rPr lang="en-US" altLang="zh-CN" sz="2000" b="1" i="1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2000" b="1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分布表</a:t>
            </a:r>
            <a:r>
              <a:rPr lang="zh-CN" altLang="en-US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en-US" altLang="zh-CN" sz="2000" b="1" i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i="1" kern="0" baseline="-25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b="1" i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000" b="1" i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b="1" i="1" kern="0" baseline="-25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b="1" i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2000" b="1" i="1" kern="0" baseline="-25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eff</a:t>
            </a:r>
            <a:r>
              <a:rPr lang="en-US" altLang="zh-CN" sz="2000" b="1" i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i="1" kern="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2000" b="1" i="1" kern="0" baseline="-2500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eff</a:t>
            </a:r>
            <a:r>
              <a:rPr lang="en-US" altLang="zh-CN" sz="2000" b="1" i="1" kern="0" baseline="30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不是整数，可修约到较小的整数。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3118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0D40C61-4FEF-517E-335C-3D6C3B0C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0FDAD757-1E08-FC92-E695-A3A4A7A44B1F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071A2775-5C38-4D7D-9DBE-72A49540B99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24A43870-BA60-5F20-96EC-A4949B795C6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9A89748F-A34D-65C2-8750-BAF56A48862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4FB4745-1465-541F-578D-A1264019673C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E345B1-520C-FE24-15CA-0560729C75BB}"/>
              </a:ext>
            </a:extLst>
          </p:cNvPr>
          <p:cNvSpPr/>
          <p:nvPr/>
        </p:nvSpPr>
        <p:spPr>
          <a:xfrm>
            <a:off x="208303" y="739994"/>
            <a:ext cx="5694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6.3.5 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不确定度的正确表达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4F286094-FD1D-6B9F-E4C3-B24C6C195571}"/>
              </a:ext>
            </a:extLst>
          </p:cNvPr>
          <p:cNvSpPr txBox="1"/>
          <p:nvPr/>
        </p:nvSpPr>
        <p:spPr>
          <a:xfrm>
            <a:off x="363235" y="1276413"/>
            <a:ext cx="78220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）以（合成）标准不确定度表达结果时，需提供估计值、标准不确定度、相对标准不确定度。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53B9DB21-324B-B3BB-1A4D-613609A4EB09}"/>
              </a:ext>
            </a:extLst>
          </p:cNvPr>
          <p:cNvSpPr txBox="1"/>
          <p:nvPr/>
        </p:nvSpPr>
        <p:spPr>
          <a:xfrm>
            <a:off x="858880" y="3316232"/>
            <a:ext cx="3532336" cy="1230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①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800" i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​ = 100.02147 g, 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​=0.35 mg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solidFill>
                  <a:srgbClr val="FF0000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②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800" i="1" kern="100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​ = 100.02147(35) g</a:t>
            </a:r>
            <a:endParaRPr lang="en-US" altLang="zh-CN" sz="1800" kern="1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③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800" i="1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​= 100.02147(0.00035) g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79A2FCFF-A1CB-1957-E884-99A183C69A3D}"/>
              </a:ext>
            </a:extLst>
          </p:cNvPr>
          <p:cNvSpPr txBox="1"/>
          <p:nvPr/>
        </p:nvSpPr>
        <p:spPr>
          <a:xfrm>
            <a:off x="380272" y="2059053"/>
            <a:ext cx="79577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绝对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不确定度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位有效数字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，测量结果的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末位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需与不确定度的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末位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-34290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相对标准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不确定度：百分数形式表示，</a:t>
            </a:r>
            <a:r>
              <a:rPr lang="en-US" altLang="zh-CN" sz="2000" dirty="0">
                <a:solidFill>
                  <a:srgbClr val="FF010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2-3</a:t>
            </a:r>
            <a:r>
              <a:rPr lang="zh-CN" altLang="en-US" sz="2000" dirty="0">
                <a:solidFill>
                  <a:srgbClr val="FF010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位有效数字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06A23DB7-EA52-8077-D7C4-EA4FB5198D2D}"/>
              </a:ext>
            </a:extLst>
          </p:cNvPr>
          <p:cNvSpPr txBox="1"/>
          <p:nvPr/>
        </p:nvSpPr>
        <p:spPr>
          <a:xfrm>
            <a:off x="4752786" y="3558806"/>
            <a:ext cx="34939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约定：直接测量结果以标准不确定度形式表达。</a:t>
            </a:r>
          </a:p>
        </p:txBody>
      </p:sp>
    </p:spTree>
    <p:extLst>
      <p:ext uri="{BB962C8B-B14F-4D97-AF65-F5344CB8AC3E}">
        <p14:creationId xmlns:p14="http://schemas.microsoft.com/office/powerpoint/2010/main" val="1671138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23D8529-768D-6C53-C924-F0A1F6EE6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A7E7B5B-DD1C-9ECA-E101-F6E9127F9C77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C7CEAFCD-AAC8-D4BD-BE39-C1118AFD278E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D0775750-E91D-32AE-DEC5-101D57B10C3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9A578CA2-F2E6-279E-73ED-DDB33B55C38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2E45610D-C830-BF6A-AAA6-3DC3D6755EDB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BF2EB67-94A7-0DE1-C878-813BB245E05C}"/>
              </a:ext>
            </a:extLst>
          </p:cNvPr>
          <p:cNvSpPr/>
          <p:nvPr/>
        </p:nvSpPr>
        <p:spPr>
          <a:xfrm>
            <a:off x="208303" y="739994"/>
            <a:ext cx="5694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6.3.5 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不确定度的正确表达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76564B80-5FCD-6705-DA69-B5F446193917}"/>
              </a:ext>
            </a:extLst>
          </p:cNvPr>
          <p:cNvSpPr txBox="1"/>
          <p:nvPr/>
        </p:nvSpPr>
        <p:spPr>
          <a:xfrm>
            <a:off x="363235" y="1276413"/>
            <a:ext cx="78220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）以扩展不确定度表达结果时，需提供估计值、扩展不确定度、置信水平（概率）。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3738EB04-AE89-C621-D4DB-580DE334B4A3}"/>
              </a:ext>
            </a:extLst>
          </p:cNvPr>
          <p:cNvSpPr txBox="1"/>
          <p:nvPr/>
        </p:nvSpPr>
        <p:spPr>
          <a:xfrm>
            <a:off x="380272" y="2059053"/>
            <a:ext cx="79577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绝对不确定度保留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位有效数字，测量结果的末位需与不确定度的末位对齐。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F661498C-B0FE-4094-FF68-AFE22320B6D3}"/>
              </a:ext>
            </a:extLst>
          </p:cNvPr>
          <p:cNvSpPr txBox="1"/>
          <p:nvPr/>
        </p:nvSpPr>
        <p:spPr>
          <a:xfrm>
            <a:off x="746136" y="2916122"/>
            <a:ext cx="4418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1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i="1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​= (100.02147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等线" panose="02010600030101010101" pitchFamily="2" charset="-122"/>
              </a:rPr>
              <a:t>±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0.00035) g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i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=0.95</a:t>
            </a:r>
            <a:endParaRPr lang="zh-CN" altLang="en-US" sz="1800" dirty="0"/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6098F19F-1EDF-27C6-E9D0-5DE789051A2A}"/>
              </a:ext>
            </a:extLst>
          </p:cNvPr>
          <p:cNvSpPr txBox="1"/>
          <p:nvPr/>
        </p:nvSpPr>
        <p:spPr>
          <a:xfrm>
            <a:off x="4752786" y="3558806"/>
            <a:ext cx="34939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约定：间接测量结果以扩展不确定度形式表达。</a:t>
            </a:r>
          </a:p>
        </p:txBody>
      </p:sp>
    </p:spTree>
    <p:extLst>
      <p:ext uri="{BB962C8B-B14F-4D97-AF65-F5344CB8AC3E}">
        <p14:creationId xmlns:p14="http://schemas.microsoft.com/office/powerpoint/2010/main" val="3307410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F3CC7FC-9263-62FC-80EA-121408049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47A04B36-E621-B408-9FB7-9C2AD105796C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A5970731-29C6-82EB-F303-C5D616BAAD90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880FD962-F7F5-30C3-E27F-CBAE138EC63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4E4CC69D-63AE-B704-D308-1CE7B8A6B7E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983BEC3-9F78-F78D-6F28-C9D0FCFB2FE0}"/>
              </a:ext>
            </a:extLst>
          </p:cNvPr>
          <p:cNvSpPr/>
          <p:nvPr/>
        </p:nvSpPr>
        <p:spPr>
          <a:xfrm>
            <a:off x="131554" y="189243"/>
            <a:ext cx="4290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6.3  </a:t>
            </a:r>
            <a:r>
              <a:rPr lang="zh-CN" altLang="en-US" sz="280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不确定度的评定方法</a:t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38864F27-A529-D757-205D-D7798ACAE08C}"/>
              </a:ext>
            </a:extLst>
          </p:cNvPr>
          <p:cNvSpPr/>
          <p:nvPr/>
        </p:nvSpPr>
        <p:spPr>
          <a:xfrm>
            <a:off x="208303" y="739994"/>
            <a:ext cx="5694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6.3.5 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不确定度的正确表达</a:t>
            </a:r>
            <a:r>
              <a:rPr lang="en-US" altLang="zh-CN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特别说明</a:t>
            </a:r>
            <a:endParaRPr lang="en-US" altLang="zh-CN" sz="24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43A09C45-449D-640B-3B21-08A1EFD74CFF}"/>
              </a:ext>
            </a:extLst>
          </p:cNvPr>
          <p:cNvSpPr txBox="1"/>
          <p:nvPr/>
        </p:nvSpPr>
        <p:spPr>
          <a:xfrm>
            <a:off x="221804" y="1239246"/>
            <a:ext cx="9036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计算结果和不确定度的修约规则“四舍六入五凑偶”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要舍弃数字的最后一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位为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时，若前一位数为奇数则进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，为偶数则舍弃。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4F60D3BF-C244-5ECD-A0EE-03407E2766AE}"/>
              </a:ext>
            </a:extLst>
          </p:cNvPr>
          <p:cNvSpPr txBox="1"/>
          <p:nvPr/>
        </p:nvSpPr>
        <p:spPr>
          <a:xfrm>
            <a:off x="-61914" y="2668300"/>
            <a:ext cx="847978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如有必要，在测量结果后补“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以实现对齐。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（可能是读数或运算过程中随意减少了末位的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的个数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末位仅与不确定度第一位对齐，不建议补“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”与第二位对齐，可取一位不确定度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如果不确定度的位数低于测量结果的若干数量级，可能需修正测量模型。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="" xmlns:a16="http://schemas.microsoft.com/office/drawing/2014/main" id="{E2CC5F7D-7BA1-DB83-5B13-F06BFC6F9A32}"/>
                  </a:ext>
                </a:extLst>
              </p:cNvPr>
              <p:cNvSpPr txBox="1"/>
              <p:nvPr/>
            </p:nvSpPr>
            <p:spPr>
              <a:xfrm>
                <a:off x="1249230" y="4197112"/>
                <a:ext cx="458773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=1.2350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=0.00025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=1.2350</m:t>
                      </m:r>
                      <m:d>
                        <m:dPr>
                          <m:ctrlPr>
                            <a:rPr lang="en-US" altLang="zh-CN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2CC5F7D-7BA1-DB83-5B13-F06BFC6F9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230" y="4197112"/>
                <a:ext cx="4587731" cy="246221"/>
              </a:xfrm>
              <a:prstGeom prst="rect">
                <a:avLst/>
              </a:prstGeom>
              <a:blipFill>
                <a:blip r:embed="rId5"/>
                <a:stretch>
                  <a:fillRect l="-664" r="-398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="" xmlns:a16="http://schemas.microsoft.com/office/drawing/2014/main" id="{4BD9F013-05BD-CDC4-29CE-806EE16EBD43}"/>
                  </a:ext>
                </a:extLst>
              </p:cNvPr>
              <p:cNvSpPr txBox="1"/>
              <p:nvPr/>
            </p:nvSpPr>
            <p:spPr>
              <a:xfrm>
                <a:off x="1249230" y="4600112"/>
                <a:ext cx="4815356" cy="246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=1.2350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=0.00025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=1.2350</m:t>
                      </m:r>
                      <m:acc>
                        <m:accPr>
                          <m:chr m:val="̅"/>
                          <m:ctrlP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d>
                        <m:dPr>
                          <m:ctrlPr>
                            <a:rPr lang="en-US" altLang="zh-CN" sz="16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BD9F013-05BD-CDC4-29CE-806EE16EB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230" y="4600112"/>
                <a:ext cx="4815356" cy="246799"/>
              </a:xfrm>
              <a:prstGeom prst="rect">
                <a:avLst/>
              </a:prstGeom>
              <a:blipFill>
                <a:blip r:embed="rId6"/>
                <a:stretch>
                  <a:fillRect l="-506" t="-2500" r="-38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AA58E1B5-5463-E832-53FF-66601BFF245B}"/>
              </a:ext>
            </a:extLst>
          </p:cNvPr>
          <p:cNvSpPr txBox="1"/>
          <p:nvPr/>
        </p:nvSpPr>
        <p:spPr>
          <a:xfrm>
            <a:off x="1110268" y="1911319"/>
            <a:ext cx="4675030" cy="741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6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=1.2350 g, </a:t>
            </a:r>
            <a:r>
              <a:rPr lang="en-US" altLang="zh-CN" sz="16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16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​(</a:t>
            </a:r>
            <a:r>
              <a:rPr lang="en-US" altLang="zh-CN" sz="16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=0.25 g; 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16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=1.24(25) g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6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=1234.56 mA, </a:t>
            </a:r>
            <a:r>
              <a:rPr lang="en-US" altLang="zh-CN" sz="16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=16 mA; 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16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(1234±16) mA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 descr="推荐标签-花瓣网">
            <a:extLst>
              <a:ext uri="{FF2B5EF4-FFF2-40B4-BE49-F238E27FC236}">
                <a16:creationId xmlns="" xmlns:a16="http://schemas.microsoft.com/office/drawing/2014/main" id="{5412C1C7-4A9B-DBF6-6BEC-5F27156C7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298" y="3899496"/>
            <a:ext cx="789533" cy="78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669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53D427-E4AE-A08A-E18E-43E72F673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74CE6B78-34B3-293A-CE45-6B344C86AF7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D366DFE0-2997-E231-09E6-7860E322E9A8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533FE6B6-9B63-CDEB-49DA-C61D6B20702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38E1E613-ED6F-CEF9-B52B-6ED795FE4D9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="" xmlns:a16="http://schemas.microsoft.com/office/drawing/2014/main" id="{326B864C-1514-B657-00A4-10E3C3EBE20F}"/>
              </a:ext>
            </a:extLst>
          </p:cNvPr>
          <p:cNvSpPr/>
          <p:nvPr/>
        </p:nvSpPr>
        <p:spPr>
          <a:xfrm>
            <a:off x="105764" y="91625"/>
            <a:ext cx="4023309" cy="734638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7. </a:t>
            </a:r>
            <a:r>
              <a:rPr lang="zh-CN" altLang="en-US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实验结果的正确表述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AE5DC886-EF7A-AAFD-7FA1-8EA152DB0738}"/>
              </a:ext>
            </a:extLst>
          </p:cNvPr>
          <p:cNvSpPr txBox="1"/>
          <p:nvPr/>
        </p:nvSpPr>
        <p:spPr>
          <a:xfrm>
            <a:off x="276121" y="859402"/>
            <a:ext cx="31473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90365051-2CEF-D2EA-7357-7A93CE630C5D}"/>
              </a:ext>
            </a:extLst>
          </p:cNvPr>
          <p:cNvSpPr txBox="1"/>
          <p:nvPr/>
        </p:nvSpPr>
        <p:spPr>
          <a:xfrm>
            <a:off x="1339259" y="891890"/>
            <a:ext cx="73011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用千分尺测量一个球的直径</a:t>
            </a:r>
            <a:r>
              <a:rPr lang="en-US" altLang="zh-CN" sz="1800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，测量了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次，结果如下表，求该球的直径及其标准不确定度。</a:t>
            </a:r>
            <a:endParaRPr lang="zh-CN" altLang="en-US" sz="1600" dirty="0"/>
          </a:p>
        </p:txBody>
      </p:sp>
      <p:graphicFrame>
        <p:nvGraphicFramePr>
          <p:cNvPr id="4" name="Group 6">
            <a:extLst>
              <a:ext uri="{FF2B5EF4-FFF2-40B4-BE49-F238E27FC236}">
                <a16:creationId xmlns="" xmlns:a16="http://schemas.microsoft.com/office/drawing/2014/main" id="{5A11A31C-E2A3-784F-DD79-BB7AF63BBD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8161873"/>
              </p:ext>
            </p:extLst>
          </p:nvPr>
        </p:nvGraphicFramePr>
        <p:xfrm>
          <a:off x="903088" y="1582847"/>
          <a:ext cx="7605194" cy="308394"/>
        </p:xfrm>
        <a:graphic>
          <a:graphicData uri="http://schemas.openxmlformats.org/drawingml/2006/table">
            <a:tbl>
              <a:tblPr/>
              <a:tblGrid>
                <a:gridCol w="6912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912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9221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9038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9221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9129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9129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9129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91298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9129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9129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3083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/mm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12.33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12.34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12.33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12.35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12.33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12.35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12.34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12.34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12.35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12.34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0722062-9121-DD51-2BD8-88BA4837C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190" y="3114146"/>
            <a:ext cx="29146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="" xmlns:a16="http://schemas.microsoft.com/office/drawing/2014/main" id="{BEEFAA6F-4F6D-6F07-0CF5-C5345A7D38F1}"/>
                  </a:ext>
                </a:extLst>
              </p:cNvPr>
              <p:cNvSpPr txBox="1"/>
              <p:nvPr/>
            </p:nvSpPr>
            <p:spPr>
              <a:xfrm>
                <a:off x="525046" y="2326052"/>
                <a:ext cx="2560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𝐷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D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EEFAA6F-4F6D-6F07-0CF5-C5345A7D3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46" y="2326052"/>
                <a:ext cx="256095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BCB02858-7B91-BB15-B132-B72EA091187C}"/>
              </a:ext>
            </a:extLst>
          </p:cNvPr>
          <p:cNvSpPr txBox="1"/>
          <p:nvPr/>
        </p:nvSpPr>
        <p:spPr>
          <a:xfrm>
            <a:off x="456647" y="1995916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(1)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测量模型：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="" xmlns:a16="http://schemas.microsoft.com/office/drawing/2014/main" id="{B5790EAC-9320-2990-8101-9D39BBDF3ED4}"/>
                  </a:ext>
                </a:extLst>
              </p:cNvPr>
              <p:cNvSpPr txBox="1"/>
              <p:nvPr/>
            </p:nvSpPr>
            <p:spPr>
              <a:xfrm>
                <a:off x="3495147" y="1990769"/>
                <a:ext cx="5522602" cy="13935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D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：千分尺的视读长度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D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：千分尺校准证书给出的仪器偏差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D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：千分尺卡钳与待测球接触点偏离直径引起的偏差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D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：加持球时形变或者温度波动引起的偏差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5790EAC-9320-2990-8101-9D39BBDF3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147" y="1990769"/>
                <a:ext cx="5522602" cy="1393587"/>
              </a:xfrm>
              <a:prstGeom prst="rect">
                <a:avLst/>
              </a:prstGeom>
              <a:blipFill>
                <a:blip r:embed="rId6"/>
                <a:stretch>
                  <a:fillRect t="-439" r="-331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6">
                <a:extLst>
                  <a:ext uri="{FF2B5EF4-FFF2-40B4-BE49-F238E27FC236}">
                    <a16:creationId xmlns="" xmlns:a16="http://schemas.microsoft.com/office/drawing/2014/main" id="{B79EA663-125D-1C4D-643D-DA5AA86A131B}"/>
                  </a:ext>
                </a:extLst>
              </p:cNvPr>
              <p:cNvSpPr txBox="1"/>
              <p:nvPr/>
            </p:nvSpPr>
            <p:spPr bwMode="auto">
              <a:xfrm>
                <a:off x="1558930" y="3714911"/>
                <a:ext cx="3729095" cy="6525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D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barPr>
                        <m:e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𝐷</m:t>
                          </m:r>
                        </m:e>
                      </m:bar>
                      <m:r>
                        <a:rPr kumimoji="0" lang="zh-CN" alt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0" lang="zh-CN" alt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=12.345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kumimoji="0" lang="en-US" altLang="zh-CN" sz="16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+mn-cs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kumimoji="0" lang="zh-CN" alt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  <a:cs typeface="+mn-cs"/>
                              </a:rPr>
                              <m:t>mm</m:t>
                            </m:r>
                          </m:e>
                          <m:e/>
                        </m:mr>
                      </m:m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25" name="对象 6">
                <a:extLst>
                  <a:ext uri="{FF2B5EF4-FFF2-40B4-BE49-F238E27FC236}">
                    <a16:creationId xmlns:a16="http://schemas.microsoft.com/office/drawing/2014/main" id="{B79EA663-125D-1C4D-643D-DA5AA86A1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8930" y="3714911"/>
                <a:ext cx="3729095" cy="652564"/>
              </a:xfrm>
              <a:prstGeom prst="rect">
                <a:avLst/>
              </a:prstGeom>
              <a:blipFill>
                <a:blip r:embed="rId7"/>
                <a:stretch>
                  <a:fillRect b="-112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10">
                <a:extLst>
                  <a:ext uri="{FF2B5EF4-FFF2-40B4-BE49-F238E27FC236}">
                    <a16:creationId xmlns="" xmlns:a16="http://schemas.microsoft.com/office/drawing/2014/main" id="{63CA52AC-4379-189F-541B-7C5E6B66E824}"/>
                  </a:ext>
                </a:extLst>
              </p:cNvPr>
              <p:cNvSpPr txBox="1"/>
              <p:nvPr/>
            </p:nvSpPr>
            <p:spPr>
              <a:xfrm>
                <a:off x="525046" y="3887935"/>
                <a:ext cx="105990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D</m:t>
                        </m:r>
                      </m:e>
                      <m:sub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：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defTabSz="914400">
                  <a:defRPr/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10">
                <a:extLst>
                  <a:ext uri="{FF2B5EF4-FFF2-40B4-BE49-F238E27FC236}">
                    <a16:creationId xmlns:a16="http://schemas.microsoft.com/office/drawing/2014/main" id="{63CA52AC-4379-189F-541B-7C5E6B66E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46" y="3887935"/>
                <a:ext cx="1059907" cy="954107"/>
              </a:xfrm>
              <a:prstGeom prst="rect">
                <a:avLst/>
              </a:prstGeom>
              <a:blipFill>
                <a:blip r:embed="rId8"/>
                <a:stretch>
                  <a:fillRect l="-5747" t="-3846" r="-40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8">
                <a:extLst>
                  <a:ext uri="{FF2B5EF4-FFF2-40B4-BE49-F238E27FC236}">
                    <a16:creationId xmlns="" xmlns:a16="http://schemas.microsoft.com/office/drawing/2014/main" id="{62AE7237-37AD-BE76-AE30-F3C82C0D6EB4}"/>
                  </a:ext>
                </a:extLst>
              </p:cNvPr>
              <p:cNvSpPr txBox="1"/>
              <p:nvPr/>
            </p:nvSpPr>
            <p:spPr bwMode="auto">
              <a:xfrm>
                <a:off x="5052567" y="3589582"/>
                <a:ext cx="3673150" cy="971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kumimoji="0" lang="zh-CN" alt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bar>
                                  <m:sSup>
                                    <m:s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rad>
                      <m:r>
                        <a:rPr kumimoji="0" lang="zh-CN" alt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=0.00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24 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kumimoji="0" lang="zh-CN" altLang="en-US" sz="16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6030504050203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mm</m:t>
                            </m:r>
                          </m:e>
                          <m:e/>
                        </m:mr>
                      </m:m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对象 8">
                <a:extLst>
                  <a:ext uri="{FF2B5EF4-FFF2-40B4-BE49-F238E27FC236}">
                    <a16:creationId xmlns:a16="http://schemas.microsoft.com/office/drawing/2014/main" id="{62AE7237-37AD-BE76-AE30-F3C82C0D6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2567" y="3589582"/>
                <a:ext cx="3673150" cy="9715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10">
                <a:extLst>
                  <a:ext uri="{FF2B5EF4-FFF2-40B4-BE49-F238E27FC236}">
                    <a16:creationId xmlns="" xmlns:a16="http://schemas.microsoft.com/office/drawing/2014/main" id="{4832EDED-A1AD-3A95-B4F5-C586FA3F1402}"/>
                  </a:ext>
                </a:extLst>
              </p:cNvPr>
              <p:cNvSpPr txBox="1"/>
              <p:nvPr/>
            </p:nvSpPr>
            <p:spPr>
              <a:xfrm>
                <a:off x="561611" y="4492804"/>
                <a:ext cx="10233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D</m:t>
                        </m:r>
                      </m:e>
                      <m:sub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：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defTabSz="914400">
                  <a:defRPr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(B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TextBox 10">
                <a:extLst>
                  <a:ext uri="{FF2B5EF4-FFF2-40B4-BE49-F238E27FC236}">
                    <a16:creationId xmlns:a16="http://schemas.microsoft.com/office/drawing/2014/main" id="{4832EDED-A1AD-3A95-B4F5-C586FA3F1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11" y="4492804"/>
                <a:ext cx="1023342" cy="646331"/>
              </a:xfrm>
              <a:prstGeom prst="rect">
                <a:avLst/>
              </a:prstGeom>
              <a:blipFill>
                <a:blip r:embed="rId10"/>
                <a:stretch>
                  <a:fillRect l="-5952" t="-4717" r="-31548" b="-11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="" xmlns:a16="http://schemas.microsoft.com/office/drawing/2014/main" id="{6EA90B6D-E0D6-6F1C-78ED-2A875D183FA2}"/>
              </a:ext>
            </a:extLst>
          </p:cNvPr>
          <p:cNvSpPr txBox="1"/>
          <p:nvPr/>
        </p:nvSpPr>
        <p:spPr>
          <a:xfrm>
            <a:off x="3487532" y="458169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标准不确定度：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="" xmlns:a16="http://schemas.microsoft.com/office/drawing/2014/main" id="{DB17A7E8-997D-AFE5-3A89-FD455DEA258C}"/>
                  </a:ext>
                </a:extLst>
              </p:cNvPr>
              <p:cNvSpPr txBox="1"/>
              <p:nvPr/>
            </p:nvSpPr>
            <p:spPr>
              <a:xfrm>
                <a:off x="5178106" y="4508586"/>
                <a:ext cx="3111915" cy="441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𝐷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kumimoji="0" lang="en-US" altLang="zh-CN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.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num>
                      <m:den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den>
                    </m:f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mm</m:t>
                    </m:r>
                    <m:r>
                      <a:rPr kumimoji="0" lang="en-US" altLang="zh-CN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宋体" panose="02010600030101010101" pitchFamily="2" charset="-122"/>
                    <a:cs typeface="+mn-cs"/>
                  </a:rPr>
                  <a:t>0.0013</a:t>
                </a:r>
                <a:r>
                  <a:rPr kumimoji="0" lang="en-US" altLang="zh-CN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宋体" panose="02010600030101010101" pitchFamily="2" charset="-122"/>
                    <a:cs typeface="+mn-cs"/>
                  </a:rPr>
                  <a:t>mm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B17A7E8-997D-AFE5-3A89-FD455DEA2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106" y="4508586"/>
                <a:ext cx="3111915" cy="441788"/>
              </a:xfrm>
              <a:prstGeom prst="rect">
                <a:avLst/>
              </a:prstGeom>
              <a:blipFill>
                <a:blip r:embed="rId11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="" xmlns:a16="http://schemas.microsoft.com/office/drawing/2014/main" id="{9251B1D7-2BE4-3C4D-28D1-868DCA6B4E3A}"/>
                  </a:ext>
                </a:extLst>
              </p:cNvPr>
              <p:cNvSpPr txBox="1"/>
              <p:nvPr/>
            </p:nvSpPr>
            <p:spPr>
              <a:xfrm>
                <a:off x="1584953" y="4620790"/>
                <a:ext cx="146706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 </m:t>
                    </m:r>
                  </m:oMath>
                </a14:m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 mm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251B1D7-2BE4-3C4D-28D1-868DCA6B4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53" y="4620790"/>
                <a:ext cx="1467068" cy="338554"/>
              </a:xfrm>
              <a:prstGeom prst="rect">
                <a:avLst/>
              </a:prstGeom>
              <a:blipFill>
                <a:blip r:embed="rId12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>
            <a:extLst>
              <a:ext uri="{FF2B5EF4-FFF2-40B4-BE49-F238E27FC236}">
                <a16:creationId xmlns="" xmlns:a16="http://schemas.microsoft.com/office/drawing/2014/main" id="{8BF140D1-3A85-3382-A161-55555F6000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3730" y="2551666"/>
            <a:ext cx="2364378" cy="10540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23F7ABD1-6CE5-8092-66C1-97A009726C64}"/>
              </a:ext>
            </a:extLst>
          </p:cNvPr>
          <p:cNvSpPr txBox="1"/>
          <p:nvPr/>
        </p:nvSpPr>
        <p:spPr>
          <a:xfrm>
            <a:off x="4803203" y="318906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8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标准不确定度分析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F31ECFCE-E1B3-2787-51C9-CA24F1654F9D}"/>
              </a:ext>
            </a:extLst>
          </p:cNvPr>
          <p:cNvSpPr txBox="1"/>
          <p:nvPr/>
        </p:nvSpPr>
        <p:spPr>
          <a:xfrm>
            <a:off x="357762" y="3535120"/>
            <a:ext cx="4630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(2) </a:t>
            </a:r>
            <a:r>
              <a:rPr lang="zh-CN" altLang="en-US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分析模型中输入量</a:t>
            </a:r>
            <a:r>
              <a:rPr lang="zh-CN" altLang="zh-CN" sz="1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zh-CN" sz="1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类或</a:t>
            </a:r>
            <a:r>
              <a:rPr lang="en-US" altLang="zh-CN" sz="1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zh-CN" sz="1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类评定）</a:t>
            </a:r>
            <a:r>
              <a:rPr lang="zh-CN" altLang="en-US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的标准不确定度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344F7CDF-A865-F1A9-EC0F-4BE173DB3C5B}"/>
              </a:ext>
            </a:extLst>
          </p:cNvPr>
          <p:cNvSpPr txBox="1"/>
          <p:nvPr/>
        </p:nvSpPr>
        <p:spPr>
          <a:xfrm>
            <a:off x="3944571" y="11963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直接测量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1743E6DF-B5BD-3002-8BD2-7E4B93552E6D}"/>
              </a:ext>
            </a:extLst>
          </p:cNvPr>
          <p:cNvSpPr txBox="1"/>
          <p:nvPr/>
        </p:nvSpPr>
        <p:spPr>
          <a:xfrm>
            <a:off x="7011598" y="4790067"/>
            <a:ext cx="13264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正态分布</a:t>
            </a:r>
          </a:p>
        </p:txBody>
      </p:sp>
    </p:spTree>
    <p:extLst>
      <p:ext uri="{BB962C8B-B14F-4D97-AF65-F5344CB8AC3E}">
        <p14:creationId xmlns:p14="http://schemas.microsoft.com/office/powerpoint/2010/main" val="1508211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="" xmlns:a16="http://schemas.microsoft.com/office/drawing/2014/main" id="{171EB9D7-7985-5BEF-B30E-CA0096B8C371}"/>
                  </a:ext>
                </a:extLst>
              </p:cNvPr>
              <p:cNvSpPr txBox="1"/>
              <p:nvPr/>
            </p:nvSpPr>
            <p:spPr>
              <a:xfrm>
                <a:off x="549859" y="349173"/>
                <a:ext cx="7374941" cy="799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342900">
                  <a:lnSpc>
                    <a:spcPct val="120000"/>
                  </a:lnSpc>
                  <a:defRPr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如测量过程中较为仔细或精度要求不太高时，可认为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的影响可忽略。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71EB9D7-7985-5BEF-B30E-CA0096B8C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59" y="349173"/>
                <a:ext cx="7374941" cy="799706"/>
              </a:xfrm>
              <a:prstGeom prst="rect">
                <a:avLst/>
              </a:prstGeom>
              <a:blipFill>
                <a:blip r:embed="rId5"/>
                <a:stretch>
                  <a:fillRect l="-826" b="-12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="" xmlns:a16="http://schemas.microsoft.com/office/drawing/2014/main" id="{3A3AEA9F-10C5-C77A-A152-56AFEF4A80BD}"/>
                  </a:ext>
                </a:extLst>
              </p:cNvPr>
              <p:cNvSpPr txBox="1"/>
              <p:nvPr/>
            </p:nvSpPr>
            <p:spPr>
              <a:xfrm>
                <a:off x="907183" y="1787847"/>
                <a:ext cx="4758354" cy="6263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858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000" i="1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</m:sSub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0.0027 mm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A3AEA9F-10C5-C77A-A152-56AFEF4A8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83" y="1787847"/>
                <a:ext cx="4758354" cy="626325"/>
              </a:xfrm>
              <a:prstGeom prst="rect">
                <a:avLst/>
              </a:prstGeom>
              <a:blipFill>
                <a:blip r:embed="rId6"/>
                <a:stretch>
                  <a:fillRect r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540AEC2-93D6-1DE4-E5CE-25E94FC6804E}"/>
              </a:ext>
            </a:extLst>
          </p:cNvPr>
          <p:cNvSpPr txBox="1"/>
          <p:nvPr/>
        </p:nvSpPr>
        <p:spPr>
          <a:xfrm>
            <a:off x="779331" y="1417011"/>
            <a:ext cx="3457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则直径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标准不确定度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BCE1148E-A438-784C-3BE3-A531B739351D}"/>
              </a:ext>
            </a:extLst>
          </p:cNvPr>
          <p:cNvSpPr txBox="1"/>
          <p:nvPr/>
        </p:nvSpPr>
        <p:spPr>
          <a:xfrm>
            <a:off x="395744" y="2916122"/>
            <a:ext cx="1824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最终结果：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6A277278-F3E2-D228-5CE9-C0AC1106D9B9}"/>
              </a:ext>
            </a:extLst>
          </p:cNvPr>
          <p:cNvSpPr txBox="1"/>
          <p:nvPr/>
        </p:nvSpPr>
        <p:spPr>
          <a:xfrm>
            <a:off x="3520825" y="2980537"/>
            <a:ext cx="494791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标准不确定度用“</a:t>
            </a:r>
            <a:r>
              <a:rPr lang="en-US" altLang="zh-CN" sz="20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(xx)</a:t>
            </a:r>
            <a:r>
              <a:rPr lang="zh-CN" altLang="en-US" sz="20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”表示；</a:t>
            </a:r>
            <a:endParaRPr lang="en-US" altLang="zh-CN" sz="20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通常情况下取两位；</a:t>
            </a:r>
            <a:endParaRPr lang="en-US" altLang="zh-CN" sz="2000" b="1" dirty="0">
              <a:solidFill>
                <a:srgbClr val="1A3F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测量结果与标准不确定度最后一位对齐。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="" xmlns:a16="http://schemas.microsoft.com/office/drawing/2014/main" id="{0CFE09DD-3536-915A-706D-E23BBF526154}"/>
                  </a:ext>
                </a:extLst>
              </p:cNvPr>
              <p:cNvSpPr txBox="1"/>
              <p:nvPr/>
            </p:nvSpPr>
            <p:spPr>
              <a:xfrm>
                <a:off x="860423" y="2271347"/>
                <a:ext cx="7015886" cy="600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zh-CN" altLang="zh-CN" sz="2000" b="1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相对不确定度</a:t>
                </a:r>
                <a:r>
                  <a:rPr lang="zh-CN" altLang="zh-CN" sz="20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/>
                            <a:ea typeface="XITS Math" panose="02000503000000000000" pitchFamily="50" charset="0"/>
                            <a:cs typeface="XITS Math" panose="02000503000000000000" pitchFamily="50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i="1" kern="100">
                            <a:effectLst/>
                            <a:latin typeface="Cambria Math"/>
                            <a:ea typeface="XITS Math" panose="02000503000000000000" pitchFamily="50" charset="0"/>
                            <a:cs typeface="XITS Math" panose="02000503000000000000" pitchFamily="50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000" i="1" kern="100">
                                <a:effectLst/>
                                <a:latin typeface="Cambria Math"/>
                                <a:ea typeface="XITS Math" panose="02000503000000000000" pitchFamily="50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000" i="1" kern="100">
                                <a:effectLst/>
                                <a:latin typeface="Cambria Math"/>
                                <a:ea typeface="XITS Math" panose="02000503000000000000" pitchFamily="50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</m:d>
                      </m:num>
                      <m:den>
                        <m:acc>
                          <m:accPr>
                            <m:chr m:val="̅"/>
                            <m:ctrlPr>
                              <a:rPr lang="zh-CN" altLang="zh-CN" sz="2000" i="1" kern="100">
                                <a:effectLst/>
                                <a:latin typeface="Cambria Math"/>
                                <a:ea typeface="XITS Math" panose="02000503000000000000" pitchFamily="50" charset="0"/>
                                <a:cs typeface="XITS Math" panose="02000503000000000000" pitchFamily="50" charset="0"/>
                              </a:rPr>
                            </m:ctrlPr>
                          </m:acc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</m:acc>
                      </m:den>
                    </m:f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×100%=0.0219%</m:t>
                    </m:r>
                  </m:oMath>
                </a14:m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zh-CN" altLang="zh-CN" sz="2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0.022%</m:t>
                    </m:r>
                  </m:oMath>
                </a14:m>
                <a:endParaRPr lang="zh-CN" altLang="zh-CN" sz="2000" kern="100" dirty="0"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CFE09DD-3536-915A-706D-E23BBF526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423" y="2271347"/>
                <a:ext cx="7015886" cy="600805"/>
              </a:xfrm>
              <a:prstGeom prst="rect">
                <a:avLst/>
              </a:prstGeom>
              <a:blipFill>
                <a:blip r:embed="rId7"/>
                <a:stretch>
                  <a:fillRect l="-869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734EA476-4019-9FAD-E3BB-5CC5D45DBC52}"/>
                  </a:ext>
                </a:extLst>
              </p:cNvPr>
              <p:cNvSpPr txBox="1"/>
              <p:nvPr/>
            </p:nvSpPr>
            <p:spPr>
              <a:xfrm>
                <a:off x="549859" y="3343359"/>
                <a:ext cx="3140344" cy="9844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2000" i="1" kern="100">
                              <a:effectLst/>
                              <a:latin typeface="Cambria Math"/>
                              <a:ea typeface="XITS Math" panose="02000503000000000000" pitchFamily="50" charset="0"/>
                              <a:cs typeface="XITS Math" panose="02000503000000000000" pitchFamily="50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000" i="1" kern="100">
                                  <a:effectLst/>
                                  <a:latin typeface="Cambria Math"/>
                                  <a:ea typeface="XITS Math" panose="02000503000000000000" pitchFamily="50" charset="0"/>
                                  <a:cs typeface="XITS Math" panose="02000503000000000000" pitchFamily="50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=12.3452</m:t>
                              </m:r>
                              <m:d>
                                <m:dPr>
                                  <m:ctrlPr>
                                    <a:rPr lang="zh-CN" altLang="zh-CN" sz="2000" i="1" kern="100">
                                      <a:effectLst/>
                                      <a:latin typeface="Cambria Math"/>
                                      <a:ea typeface="XITS Math" panose="02000503000000000000" pitchFamily="50" charset="0"/>
                                      <a:cs typeface="XITS Math" panose="02000503000000000000" pitchFamily="50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27</m:t>
                                  </m:r>
                                </m:e>
                              </m:d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𝑚𝑚</m:t>
                              </m:r>
                              <m:r>
                                <a:rPr lang="en-US" altLang="zh-CN" sz="2000" i="1" kern="100" smtClean="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effectLst/>
                                      <a:latin typeface="Cambria Math"/>
                                      <a:ea typeface="XITS Math" panose="02000503000000000000" pitchFamily="50" charset="0"/>
                                      <a:cs typeface="XITS Math" panose="02000503000000000000" pitchFamily="5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= 0.0219%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34EA476-4019-9FAD-E3BB-5CC5D45DB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59" y="3343359"/>
                <a:ext cx="3140344" cy="9844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5EDE2901-9EE6-D4C5-0BAB-CFD00488614F}"/>
              </a:ext>
            </a:extLst>
          </p:cNvPr>
          <p:cNvSpPr txBox="1"/>
          <p:nvPr/>
        </p:nvSpPr>
        <p:spPr>
          <a:xfrm>
            <a:off x="1127793" y="4620344"/>
            <a:ext cx="5307643" cy="400110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txBody>
          <a:bodyPr wrap="square">
            <a:spAutoFit/>
          </a:bodyPr>
          <a:lstStyle/>
          <a:p>
            <a:pPr marL="0"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约定：直接测量结果以标准不确定度形式表达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11294423-50D8-D4B2-C658-F39A681D8746}"/>
              </a:ext>
            </a:extLst>
          </p:cNvPr>
          <p:cNvSpPr txBox="1"/>
          <p:nvPr/>
        </p:nvSpPr>
        <p:spPr>
          <a:xfrm>
            <a:off x="395744" y="1105444"/>
            <a:ext cx="4630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(3)</a:t>
            </a:r>
            <a:r>
              <a:rPr lang="zh-CN" altLang="en-US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合成标准不确定度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B25A4C2D-3535-80F5-FAC2-370A1340AD6E}"/>
              </a:ext>
            </a:extLst>
          </p:cNvPr>
          <p:cNvSpPr txBox="1"/>
          <p:nvPr/>
        </p:nvSpPr>
        <p:spPr>
          <a:xfrm>
            <a:off x="3898021" y="4173907"/>
            <a:ext cx="4630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相对标准不确定度：百分数形式表示，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位有效数字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C1753C1-4AF9-4F76-4734-6098E577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894AC4A1-F14F-DCD0-0C0F-00F761748687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EF5A93E6-47CC-2E50-46D2-72C5F49A9C45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3553B742-E817-94CC-7E5A-C32C07D716D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F83BC314-36F4-2812-92AE-D7F8D7B5B7B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DEBEB681-7EAF-110A-A00B-D3199CAE0672}"/>
              </a:ext>
            </a:extLst>
          </p:cNvPr>
          <p:cNvSpPr txBox="1"/>
          <p:nvPr/>
        </p:nvSpPr>
        <p:spPr>
          <a:xfrm>
            <a:off x="276121" y="726319"/>
            <a:ext cx="31473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="" xmlns:a16="http://schemas.microsoft.com/office/drawing/2014/main" id="{391D7FC1-EC60-5D4A-3214-B51CF661B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405" y="762104"/>
            <a:ext cx="752111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342900" defTabSz="685800">
              <a:spcBef>
                <a:spcPct val="50000"/>
              </a:spcBef>
              <a:buNone/>
              <a:defRPr/>
            </a:pPr>
            <a:r>
              <a:rPr lang="zh-CN" altLang="en-US" sz="21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测量圆柱体合金的密度，并给出</a:t>
            </a:r>
            <a:r>
              <a:rPr lang="en-US" altLang="zh-CN" sz="21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P=0.95</a:t>
            </a:r>
            <a:r>
              <a:rPr lang="zh-CN" altLang="en-US" sz="21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的扩展不确定度。 </a:t>
            </a:r>
            <a:endParaRPr lang="el-GR" altLang="zh-CN" sz="21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Group 6">
            <a:extLst>
              <a:ext uri="{FF2B5EF4-FFF2-40B4-BE49-F238E27FC236}">
                <a16:creationId xmlns="" xmlns:a16="http://schemas.microsoft.com/office/drawing/2014/main" id="{5F0D594A-5D5B-F160-59E3-E6C1931B9B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239627"/>
              </p:ext>
            </p:extLst>
          </p:nvPr>
        </p:nvGraphicFramePr>
        <p:xfrm>
          <a:off x="1098756" y="1940753"/>
          <a:ext cx="6326982" cy="708422"/>
        </p:xfrm>
        <a:graphic>
          <a:graphicData uri="http://schemas.openxmlformats.org/drawingml/2006/table">
            <a:tbl>
              <a:tblPr/>
              <a:tblGrid>
                <a:gridCol w="9036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0368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0249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0368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0368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/mm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10.502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10.488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10.516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10.480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10.495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10.470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5997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/mm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20.00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20.02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19.98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20.00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20.00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20.02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3">
            <a:extLst>
              <a:ext uri="{FF2B5EF4-FFF2-40B4-BE49-F238E27FC236}">
                <a16:creationId xmlns="" xmlns:a16="http://schemas.microsoft.com/office/drawing/2014/main" id="{8F9EC144-76DE-4A3F-6E5A-7CFEACB49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763" y="1384893"/>
            <a:ext cx="63786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直径</a:t>
            </a:r>
            <a:r>
              <a:rPr lang="en-US" altLang="zh-CN" sz="1800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用千分尺测量，高</a:t>
            </a:r>
            <a:r>
              <a:rPr lang="en-US" altLang="zh-CN" sz="1800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用游标卡尺测量，测量数据如下：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="" xmlns:a16="http://schemas.microsoft.com/office/drawing/2014/main" id="{2C64EDFF-5192-9F94-140D-3C4F0CBF1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543" y="2996883"/>
            <a:ext cx="64011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质量用天平测量，天平的仪器允差为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0.04 g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，测量数据如下：</a:t>
            </a:r>
          </a:p>
        </p:txBody>
      </p:sp>
      <p:graphicFrame>
        <p:nvGraphicFramePr>
          <p:cNvPr id="14" name="Group 6">
            <a:extLst>
              <a:ext uri="{FF2B5EF4-FFF2-40B4-BE49-F238E27FC236}">
                <a16:creationId xmlns="" xmlns:a16="http://schemas.microsoft.com/office/drawing/2014/main" id="{BA16639A-5504-C7ED-4DD7-309AFF6EA4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9700820"/>
              </p:ext>
            </p:extLst>
          </p:nvPr>
        </p:nvGraphicFramePr>
        <p:xfrm>
          <a:off x="1094432" y="3942870"/>
          <a:ext cx="1631609" cy="352425"/>
        </p:xfrm>
        <a:graphic>
          <a:graphicData uri="http://schemas.openxmlformats.org/drawingml/2006/table">
            <a:tbl>
              <a:tblPr/>
              <a:tblGrid>
                <a:gridCol w="875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560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/g</a:t>
                      </a:r>
                    </a:p>
                  </a:txBody>
                  <a:tcPr marL="68580" marR="68580" marT="34290" marB="3429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14.00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="" xmlns:a16="http://schemas.microsoft.com/office/drawing/2014/main" id="{E01294F5-52AC-9FA1-110F-64E29F60E254}"/>
                  </a:ext>
                </a:extLst>
              </p:cNvPr>
              <p:cNvSpPr txBox="1"/>
              <p:nvPr/>
            </p:nvSpPr>
            <p:spPr>
              <a:xfrm>
                <a:off x="2555776" y="3942870"/>
                <a:ext cx="4572000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en-US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01294F5-52AC-9FA1-110F-64E29F60E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3942870"/>
                <a:ext cx="4572000" cy="7848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A4CEC8F5-2392-9063-0132-DB987885B336}"/>
              </a:ext>
            </a:extLst>
          </p:cNvPr>
          <p:cNvSpPr txBox="1"/>
          <p:nvPr/>
        </p:nvSpPr>
        <p:spPr>
          <a:xfrm>
            <a:off x="574639" y="16486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8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扩展不确定度分析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5B3378E2-872B-D13D-3A6B-CC2E44457431}"/>
              </a:ext>
            </a:extLst>
          </p:cNvPr>
          <p:cNvSpPr txBox="1"/>
          <p:nvPr/>
        </p:nvSpPr>
        <p:spPr>
          <a:xfrm>
            <a:off x="2473807" y="438139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测量模型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ACEC0927-3F9D-59A1-A26B-20590472BDA9}"/>
              </a:ext>
            </a:extLst>
          </p:cNvPr>
          <p:cNvSpPr txBox="1"/>
          <p:nvPr/>
        </p:nvSpPr>
        <p:spPr>
          <a:xfrm>
            <a:off x="2576399" y="10862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间接测量</a:t>
            </a:r>
          </a:p>
        </p:txBody>
      </p:sp>
    </p:spTree>
    <p:extLst>
      <p:ext uri="{BB962C8B-B14F-4D97-AF65-F5344CB8AC3E}">
        <p14:creationId xmlns:p14="http://schemas.microsoft.com/office/powerpoint/2010/main" val="538986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6ABEB9C4-42BF-24B6-FAED-ED790E81179C}"/>
              </a:ext>
            </a:extLst>
          </p:cNvPr>
          <p:cNvSpPr txBox="1"/>
          <p:nvPr/>
        </p:nvSpPr>
        <p:spPr>
          <a:xfrm>
            <a:off x="574639" y="16486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8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扩展不确定度分析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9">
                <a:extLst>
                  <a:ext uri="{FF2B5EF4-FFF2-40B4-BE49-F238E27FC236}">
                    <a16:creationId xmlns="" xmlns:a16="http://schemas.microsoft.com/office/drawing/2014/main" id="{C7C92220-3C79-68F2-E08A-D7FEB0EBF796}"/>
                  </a:ext>
                </a:extLst>
              </p:cNvPr>
              <p:cNvSpPr txBox="1"/>
              <p:nvPr/>
            </p:nvSpPr>
            <p:spPr bwMode="auto">
              <a:xfrm>
                <a:off x="1487279" y="2387128"/>
                <a:ext cx="1864519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=10.491</m:t>
                      </m:r>
                      <m:r>
                        <a:rPr lang="zh-CN" alt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Object 29">
                <a:extLst>
                  <a:ext uri="{FF2B5EF4-FFF2-40B4-BE49-F238E27FC236}">
                    <a16:creationId xmlns:a16="http://schemas.microsoft.com/office/drawing/2014/main" id="{C7C92220-3C79-68F2-E08A-D7FEB0EBF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279" y="2387128"/>
                <a:ext cx="1864519" cy="342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0">
                <a:extLst>
                  <a:ext uri="{FF2B5EF4-FFF2-40B4-BE49-F238E27FC236}">
                    <a16:creationId xmlns="" xmlns:a16="http://schemas.microsoft.com/office/drawing/2014/main" id="{A17131B9-A7FF-1334-FFF3-2BBC00428DA2}"/>
                  </a:ext>
                </a:extLst>
              </p:cNvPr>
              <p:cNvSpPr txBox="1"/>
              <p:nvPr/>
            </p:nvSpPr>
            <p:spPr bwMode="auto">
              <a:xfrm>
                <a:off x="3351797" y="2184002"/>
                <a:ext cx="3456384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ba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=0.00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66 </m:t>
                      </m:r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Object 30">
                <a:extLst>
                  <a:ext uri="{FF2B5EF4-FFF2-40B4-BE49-F238E27FC236}">
                    <a16:creationId xmlns:a16="http://schemas.microsoft.com/office/drawing/2014/main" id="{A17131B9-A7FF-1334-FFF3-2BBC00428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1797" y="2184002"/>
                <a:ext cx="3456384" cy="628650"/>
              </a:xfrm>
              <a:prstGeom prst="rect">
                <a:avLst/>
              </a:prstGeom>
              <a:blipFill>
                <a:blip r:embed="rId6"/>
                <a:stretch>
                  <a:fillRect b="-48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2">
                <a:extLst>
                  <a:ext uri="{FF2B5EF4-FFF2-40B4-BE49-F238E27FC236}">
                    <a16:creationId xmlns="" xmlns:a16="http://schemas.microsoft.com/office/drawing/2014/main" id="{554CA93F-E46C-D174-68B1-A346FF8306A0}"/>
                  </a:ext>
                </a:extLst>
              </p:cNvPr>
              <p:cNvSpPr txBox="1"/>
              <p:nvPr/>
            </p:nvSpPr>
            <p:spPr bwMode="auto">
              <a:xfrm>
                <a:off x="3460739" y="2926668"/>
                <a:ext cx="323850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仪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0.004</m:t>
                          </m:r>
                        </m:num>
                        <m:den>
                          <m:r>
                            <a:rPr lang="zh-CN" alt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=0.0013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Object 42">
                <a:extLst>
                  <a:ext uri="{FF2B5EF4-FFF2-40B4-BE49-F238E27FC236}">
                    <a16:creationId xmlns:a16="http://schemas.microsoft.com/office/drawing/2014/main" id="{554CA93F-E46C-D174-68B1-A346FF830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0739" y="2926668"/>
                <a:ext cx="3238500" cy="5905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3">
                <a:extLst>
                  <a:ext uri="{FF2B5EF4-FFF2-40B4-BE49-F238E27FC236}">
                    <a16:creationId xmlns="" xmlns:a16="http://schemas.microsoft.com/office/drawing/2014/main" id="{D7DFA54A-CA39-1144-425F-AA3BE7212BBF}"/>
                  </a:ext>
                </a:extLst>
              </p:cNvPr>
              <p:cNvSpPr txBox="1"/>
              <p:nvPr/>
            </p:nvSpPr>
            <p:spPr bwMode="auto">
              <a:xfrm>
                <a:off x="1482850" y="3533975"/>
                <a:ext cx="2952750" cy="1393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/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0.0066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+0.001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/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m:rPr>
                          <m:nor/>
                        </m:rP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= 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0.00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67 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Object 43">
                <a:extLst>
                  <a:ext uri="{FF2B5EF4-FFF2-40B4-BE49-F238E27FC236}">
                    <a16:creationId xmlns:a16="http://schemas.microsoft.com/office/drawing/2014/main" id="{D7DFA54A-CA39-1144-425F-AA3BE7212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2850" y="3533975"/>
                <a:ext cx="2952750" cy="13930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Group 6">
            <a:extLst>
              <a:ext uri="{FF2B5EF4-FFF2-40B4-BE49-F238E27FC236}">
                <a16:creationId xmlns="" xmlns:a16="http://schemas.microsoft.com/office/drawing/2014/main" id="{E450B887-90ED-5F52-3D6D-68DAB423FF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2500732"/>
              </p:ext>
            </p:extLst>
          </p:nvPr>
        </p:nvGraphicFramePr>
        <p:xfrm>
          <a:off x="1136176" y="1237515"/>
          <a:ext cx="6326982" cy="352425"/>
        </p:xfrm>
        <a:graphic>
          <a:graphicData uri="http://schemas.openxmlformats.org/drawingml/2006/table">
            <a:tbl>
              <a:tblPr/>
              <a:tblGrid>
                <a:gridCol w="9036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0368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0249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0368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0368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/mm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10.502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10.488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10.516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10.480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10.495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10.470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="" xmlns:a16="http://schemas.microsoft.com/office/drawing/2014/main" id="{05D5B5A9-1BEE-070B-7331-123D0BA7F234}"/>
                  </a:ext>
                </a:extLst>
              </p:cNvPr>
              <p:cNvSpPr txBox="1"/>
              <p:nvPr/>
            </p:nvSpPr>
            <p:spPr>
              <a:xfrm>
                <a:off x="2286640" y="1777734"/>
                <a:ext cx="135402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5D5B5A9-1BEE-070B-7331-123D0BA7F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640" y="1777734"/>
                <a:ext cx="1354025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96B3A75C-20F7-525B-2377-24C06DF836CB}"/>
              </a:ext>
            </a:extLst>
          </p:cNvPr>
          <p:cNvSpPr txBox="1"/>
          <p:nvPr/>
        </p:nvSpPr>
        <p:spPr>
          <a:xfrm>
            <a:off x="1018451" y="178504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测量模型：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9">
                <a:extLst>
                  <a:ext uri="{FF2B5EF4-FFF2-40B4-BE49-F238E27FC236}">
                    <a16:creationId xmlns="" xmlns:a16="http://schemas.microsoft.com/office/drawing/2014/main" id="{DAB93D72-8FEB-1FD4-CD60-D95CACBFE91F}"/>
                  </a:ext>
                </a:extLst>
              </p:cNvPr>
              <p:cNvSpPr txBox="1"/>
              <p:nvPr/>
            </p:nvSpPr>
            <p:spPr bwMode="auto">
              <a:xfrm>
                <a:off x="1525612" y="3050493"/>
                <a:ext cx="1864519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Object 29">
                <a:extLst>
                  <a:ext uri="{FF2B5EF4-FFF2-40B4-BE49-F238E27FC236}">
                    <a16:creationId xmlns:a16="http://schemas.microsoft.com/office/drawing/2014/main" id="{DAB93D72-8FEB-1FD4-CD60-D95CACBFE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5612" y="3050493"/>
                <a:ext cx="1864519" cy="342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7">
                <a:extLst>
                  <a:ext uri="{FF2B5EF4-FFF2-40B4-BE49-F238E27FC236}">
                    <a16:creationId xmlns="" xmlns:a16="http://schemas.microsoft.com/office/drawing/2014/main" id="{739C1AEC-1483-475B-B774-1DA8AA97FA18}"/>
                  </a:ext>
                </a:extLst>
              </p:cNvPr>
              <p:cNvSpPr txBox="1"/>
              <p:nvPr/>
            </p:nvSpPr>
            <p:spPr bwMode="auto">
              <a:xfrm>
                <a:off x="4003451" y="4007853"/>
                <a:ext cx="2800302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10.4918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67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Object 7">
                <a:extLst>
                  <a:ext uri="{FF2B5EF4-FFF2-40B4-BE49-F238E27FC236}">
                    <a16:creationId xmlns:a16="http://schemas.microsoft.com/office/drawing/2014/main" id="{739C1AEC-1483-475B-B774-1DA8AA97F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3451" y="4007853"/>
                <a:ext cx="2800302" cy="3667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="" xmlns:a16="http://schemas.microsoft.com/office/drawing/2014/main" id="{917A66AC-D1AF-B974-A865-528B54583F70}"/>
                  </a:ext>
                </a:extLst>
              </p:cNvPr>
              <p:cNvSpPr txBox="1"/>
              <p:nvPr/>
            </p:nvSpPr>
            <p:spPr>
              <a:xfrm>
                <a:off x="3819209" y="1793713"/>
                <a:ext cx="34954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千分尺的仪器误差对测量的影响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17A66AC-D1AF-B974-A865-528B54583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209" y="1793713"/>
                <a:ext cx="3495480" cy="338554"/>
              </a:xfrm>
              <a:prstGeom prst="rect">
                <a:avLst/>
              </a:prstGeom>
              <a:blipFill>
                <a:blip r:embed="rId12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B9ABACA3-EC62-5F86-EAEF-21BFA9325CB9}"/>
              </a:ext>
            </a:extLst>
          </p:cNvPr>
          <p:cNvSpPr txBox="1"/>
          <p:nvPr/>
        </p:nvSpPr>
        <p:spPr>
          <a:xfrm>
            <a:off x="6723012" y="3050493"/>
            <a:ext cx="13264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正态分布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0E141968-5EAB-36FA-0223-2F4355527350}"/>
              </a:ext>
            </a:extLst>
          </p:cNvPr>
          <p:cNvSpPr txBox="1"/>
          <p:nvPr/>
        </p:nvSpPr>
        <p:spPr>
          <a:xfrm>
            <a:off x="4678007" y="4402219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标准不确定度的表示：“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)”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="" xmlns:a16="http://schemas.microsoft.com/office/drawing/2014/main" id="{FC740C63-95C0-26F1-1CFD-94E95BC8F918}"/>
              </a:ext>
            </a:extLst>
          </p:cNvPr>
          <p:cNvSpPr txBox="1"/>
          <p:nvPr/>
        </p:nvSpPr>
        <p:spPr>
          <a:xfrm>
            <a:off x="276121" y="726319"/>
            <a:ext cx="396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求直径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的标准不确定度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B782FC0D-BA6F-B341-31A3-B011060AFE43}"/>
              </a:ext>
            </a:extLst>
          </p:cNvPr>
          <p:cNvSpPr txBox="1"/>
          <p:nvPr/>
        </p:nvSpPr>
        <p:spPr>
          <a:xfrm>
            <a:off x="4088254" y="820325"/>
            <a:ext cx="49663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分析模型中输入量</a:t>
            </a:r>
            <a:r>
              <a:rPr lang="en-US" altLang="zh-CN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直接测量</a:t>
            </a:r>
            <a:r>
              <a:rPr lang="en-US" altLang="zh-CN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的标准不确定度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582F1A96-F0AC-BC26-3824-E5F1BC2C7CEC}"/>
              </a:ext>
            </a:extLst>
          </p:cNvPr>
          <p:cNvSpPr txBox="1"/>
          <p:nvPr/>
        </p:nvSpPr>
        <p:spPr>
          <a:xfrm>
            <a:off x="574639" y="16486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8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扩展不确定度分析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F2E9F02-C235-1BDB-8921-5E6F6420C129}"/>
              </a:ext>
            </a:extLst>
          </p:cNvPr>
          <p:cNvSpPr txBox="1"/>
          <p:nvPr/>
        </p:nvSpPr>
        <p:spPr>
          <a:xfrm>
            <a:off x="276121" y="726319"/>
            <a:ext cx="396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的标准不确定度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9">
                <a:extLst>
                  <a:ext uri="{FF2B5EF4-FFF2-40B4-BE49-F238E27FC236}">
                    <a16:creationId xmlns="" xmlns:a16="http://schemas.microsoft.com/office/drawing/2014/main" id="{7FB08929-D2BF-10A7-9125-9422AA1E01F1}"/>
                  </a:ext>
                </a:extLst>
              </p:cNvPr>
              <p:cNvSpPr txBox="1"/>
              <p:nvPr/>
            </p:nvSpPr>
            <p:spPr bwMode="auto">
              <a:xfrm>
                <a:off x="1556487" y="1881824"/>
                <a:ext cx="1864519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" name="Object 29">
                <a:extLst>
                  <a:ext uri="{FF2B5EF4-FFF2-40B4-BE49-F238E27FC236}">
                    <a16:creationId xmlns:a16="http://schemas.microsoft.com/office/drawing/2014/main" id="{7FB08929-D2BF-10A7-9125-9422AA1E0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6487" y="1881824"/>
                <a:ext cx="1864519" cy="342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0">
                <a:extLst>
                  <a:ext uri="{FF2B5EF4-FFF2-40B4-BE49-F238E27FC236}">
                    <a16:creationId xmlns="" xmlns:a16="http://schemas.microsoft.com/office/drawing/2014/main" id="{56856E8F-D326-C8C1-4ACC-81D7D095B852}"/>
                  </a:ext>
                </a:extLst>
              </p:cNvPr>
              <p:cNvSpPr txBox="1"/>
              <p:nvPr/>
            </p:nvSpPr>
            <p:spPr bwMode="auto">
              <a:xfrm>
                <a:off x="3421006" y="1678698"/>
                <a:ext cx="3456384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bar>
                                  <m:sSup>
                                    <m:sSupPr>
                                      <m:ctrlP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rad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=0.00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61 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" name="Object 30">
                <a:extLst>
                  <a:ext uri="{FF2B5EF4-FFF2-40B4-BE49-F238E27FC236}">
                    <a16:creationId xmlns:a16="http://schemas.microsoft.com/office/drawing/2014/main" id="{56856E8F-D326-C8C1-4ACC-81D7D095B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1006" y="1678698"/>
                <a:ext cx="3456384" cy="628650"/>
              </a:xfrm>
              <a:prstGeom prst="rect">
                <a:avLst/>
              </a:prstGeom>
              <a:blipFill>
                <a:blip r:embed="rId6"/>
                <a:stretch>
                  <a:fillRect b="-230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2">
                <a:extLst>
                  <a:ext uri="{FF2B5EF4-FFF2-40B4-BE49-F238E27FC236}">
                    <a16:creationId xmlns="" xmlns:a16="http://schemas.microsoft.com/office/drawing/2014/main" id="{DBA82910-3561-23B6-9C69-3775E6BD7A3B}"/>
                  </a:ext>
                </a:extLst>
              </p:cNvPr>
              <p:cNvSpPr txBox="1"/>
              <p:nvPr/>
            </p:nvSpPr>
            <p:spPr bwMode="auto">
              <a:xfrm>
                <a:off x="3529948" y="2637811"/>
                <a:ext cx="323850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仪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60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=0.01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" name="Object 42">
                <a:extLst>
                  <a:ext uri="{FF2B5EF4-FFF2-40B4-BE49-F238E27FC236}">
                    <a16:creationId xmlns:a16="http://schemas.microsoft.com/office/drawing/2014/main" id="{DBA82910-3561-23B6-9C69-3775E6BD7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9948" y="2637811"/>
                <a:ext cx="3238500" cy="590550"/>
              </a:xfrm>
              <a:prstGeom prst="rect">
                <a:avLst/>
              </a:prstGeom>
              <a:blipFill>
                <a:blip r:embed="rId7"/>
                <a:stretch>
                  <a:fillRect b="-10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3">
                <a:extLst>
                  <a:ext uri="{FF2B5EF4-FFF2-40B4-BE49-F238E27FC236}">
                    <a16:creationId xmlns="" xmlns:a16="http://schemas.microsoft.com/office/drawing/2014/main" id="{D23A3598-AF39-C295-C35B-3903D431E76A}"/>
                  </a:ext>
                </a:extLst>
              </p:cNvPr>
              <p:cNvSpPr txBox="1"/>
              <p:nvPr/>
            </p:nvSpPr>
            <p:spPr bwMode="auto">
              <a:xfrm>
                <a:off x="1556487" y="3397294"/>
                <a:ext cx="2952750" cy="1393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/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0.0061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/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m:rPr>
                          <m:nor/>
                        </m:rPr>
                        <a:rPr lang="zh-CN" altLang="en-US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13 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" name="Object 43">
                <a:extLst>
                  <a:ext uri="{FF2B5EF4-FFF2-40B4-BE49-F238E27FC236}">
                    <a16:creationId xmlns:a16="http://schemas.microsoft.com/office/drawing/2014/main" id="{D23A3598-AF39-C295-C35B-3903D431E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6487" y="3397294"/>
                <a:ext cx="2952750" cy="13930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="" xmlns:a16="http://schemas.microsoft.com/office/drawing/2014/main" id="{AA176BB4-B714-F4FF-C97A-300900097D55}"/>
                  </a:ext>
                </a:extLst>
              </p:cNvPr>
              <p:cNvSpPr txBox="1"/>
              <p:nvPr/>
            </p:nvSpPr>
            <p:spPr>
              <a:xfrm>
                <a:off x="2356868" y="1319887"/>
                <a:ext cx="13732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A176BB4-B714-F4FF-C97A-300900097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868" y="1319887"/>
                <a:ext cx="137326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79B239C8-1387-2CDD-75EE-A9557FFF33F6}"/>
              </a:ext>
            </a:extLst>
          </p:cNvPr>
          <p:cNvSpPr txBox="1"/>
          <p:nvPr/>
        </p:nvSpPr>
        <p:spPr>
          <a:xfrm>
            <a:off x="1242268" y="131988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测量模型：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9">
                <a:extLst>
                  <a:ext uri="{FF2B5EF4-FFF2-40B4-BE49-F238E27FC236}">
                    <a16:creationId xmlns="" xmlns:a16="http://schemas.microsoft.com/office/drawing/2014/main" id="{FD6D4A69-B3CB-5D30-5D1A-46C3B677C9CC}"/>
                  </a:ext>
                </a:extLst>
              </p:cNvPr>
              <p:cNvSpPr txBox="1"/>
              <p:nvPr/>
            </p:nvSpPr>
            <p:spPr bwMode="auto">
              <a:xfrm>
                <a:off x="1594820" y="2761636"/>
                <a:ext cx="1864519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9" name="Object 29">
                <a:extLst>
                  <a:ext uri="{FF2B5EF4-FFF2-40B4-BE49-F238E27FC236}">
                    <a16:creationId xmlns:a16="http://schemas.microsoft.com/office/drawing/2014/main" id="{FD6D4A69-B3CB-5D30-5D1A-46C3B677C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4820" y="2761636"/>
                <a:ext cx="1864519" cy="342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7">
                <a:extLst>
                  <a:ext uri="{FF2B5EF4-FFF2-40B4-BE49-F238E27FC236}">
                    <a16:creationId xmlns="" xmlns:a16="http://schemas.microsoft.com/office/drawing/2014/main" id="{9BF76FA9-1ADE-BF39-2C30-66A05CF15AF7}"/>
                  </a:ext>
                </a:extLst>
              </p:cNvPr>
              <p:cNvSpPr txBox="1"/>
              <p:nvPr/>
            </p:nvSpPr>
            <p:spPr bwMode="auto">
              <a:xfrm>
                <a:off x="4077087" y="3951594"/>
                <a:ext cx="2468292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20.003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0" name="Object 7">
                <a:extLst>
                  <a:ext uri="{FF2B5EF4-FFF2-40B4-BE49-F238E27FC236}">
                    <a16:creationId xmlns:a16="http://schemas.microsoft.com/office/drawing/2014/main" id="{9BF76FA9-1ADE-BF39-2C30-66A05CF15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7087" y="3951594"/>
                <a:ext cx="2468292" cy="3667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="" xmlns:a16="http://schemas.microsoft.com/office/drawing/2014/main" id="{0DC24519-B087-BF18-935F-63D5985411A5}"/>
                  </a:ext>
                </a:extLst>
              </p:cNvPr>
              <p:cNvSpPr txBox="1"/>
              <p:nvPr/>
            </p:nvSpPr>
            <p:spPr>
              <a:xfrm>
                <a:off x="3951531" y="1311465"/>
                <a:ext cx="40925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游标卡尺的仪器误差对测量的影响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DC24519-B087-BF18-935F-63D598541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531" y="1311465"/>
                <a:ext cx="4092537" cy="338554"/>
              </a:xfrm>
              <a:prstGeom prst="rect">
                <a:avLst/>
              </a:prstGeom>
              <a:blipFill>
                <a:blip r:embed="rId12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99ABAC35-DA25-7812-FB78-3DB076FEA839}"/>
              </a:ext>
            </a:extLst>
          </p:cNvPr>
          <p:cNvSpPr txBox="1"/>
          <p:nvPr/>
        </p:nvSpPr>
        <p:spPr>
          <a:xfrm>
            <a:off x="6545379" y="2804997"/>
            <a:ext cx="1479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均匀分布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675C1F7-8A58-9157-4FC3-FD9A77E10135}"/>
              </a:ext>
            </a:extLst>
          </p:cNvPr>
          <p:cNvSpPr txBox="1"/>
          <p:nvPr/>
        </p:nvSpPr>
        <p:spPr>
          <a:xfrm>
            <a:off x="276121" y="726319"/>
            <a:ext cx="396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求质量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的标准不确定度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9">
                <a:extLst>
                  <a:ext uri="{FF2B5EF4-FFF2-40B4-BE49-F238E27FC236}">
                    <a16:creationId xmlns="" xmlns:a16="http://schemas.microsoft.com/office/drawing/2014/main" id="{01549DE5-7B21-C831-0020-10DA65F4C3D3}"/>
                  </a:ext>
                </a:extLst>
              </p:cNvPr>
              <p:cNvSpPr txBox="1"/>
              <p:nvPr/>
            </p:nvSpPr>
            <p:spPr bwMode="auto">
              <a:xfrm>
                <a:off x="1256205" y="2559832"/>
                <a:ext cx="1864519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Object 29">
                <a:extLst>
                  <a:ext uri="{FF2B5EF4-FFF2-40B4-BE49-F238E27FC236}">
                    <a16:creationId xmlns:a16="http://schemas.microsoft.com/office/drawing/2014/main" id="{01549DE5-7B21-C831-0020-10DA65F4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6205" y="2559832"/>
                <a:ext cx="1864519" cy="342900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0">
                <a:extLst>
                  <a:ext uri="{FF2B5EF4-FFF2-40B4-BE49-F238E27FC236}">
                    <a16:creationId xmlns="" xmlns:a16="http://schemas.microsoft.com/office/drawing/2014/main" id="{97AF6FA6-FF08-AFE0-4A3F-A5F08744009D}"/>
                  </a:ext>
                </a:extLst>
              </p:cNvPr>
              <p:cNvSpPr txBox="1"/>
              <p:nvPr/>
            </p:nvSpPr>
            <p:spPr bwMode="auto">
              <a:xfrm>
                <a:off x="3157450" y="2416957"/>
                <a:ext cx="2425724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0.0044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=0.00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44 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Object 30">
                <a:extLst>
                  <a:ext uri="{FF2B5EF4-FFF2-40B4-BE49-F238E27FC236}">
                    <a16:creationId xmlns:a16="http://schemas.microsoft.com/office/drawing/2014/main" id="{97AF6FA6-FF08-AFE0-4A3F-A5F087440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57450" y="2416957"/>
                <a:ext cx="2425724" cy="6286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2">
                <a:extLst>
                  <a:ext uri="{FF2B5EF4-FFF2-40B4-BE49-F238E27FC236}">
                    <a16:creationId xmlns="" xmlns:a16="http://schemas.microsoft.com/office/drawing/2014/main" id="{CC648FB8-D298-CC9A-2D63-86A0C6149C41}"/>
                  </a:ext>
                </a:extLst>
              </p:cNvPr>
              <p:cNvSpPr txBox="1"/>
              <p:nvPr/>
            </p:nvSpPr>
            <p:spPr bwMode="auto">
              <a:xfrm>
                <a:off x="3145768" y="3143241"/>
                <a:ext cx="3238500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仪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=0.01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Object 42">
                <a:extLst>
                  <a:ext uri="{FF2B5EF4-FFF2-40B4-BE49-F238E27FC236}">
                    <a16:creationId xmlns:a16="http://schemas.microsoft.com/office/drawing/2014/main" id="{CC648FB8-D298-CC9A-2D63-86A0C6149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5768" y="3143241"/>
                <a:ext cx="3238500" cy="5905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="" xmlns:a16="http://schemas.microsoft.com/office/drawing/2014/main" id="{879FE740-A2D1-9773-0FD6-123CF7E3BE39}"/>
                  </a:ext>
                </a:extLst>
              </p:cNvPr>
              <p:cNvSpPr txBox="1"/>
              <p:nvPr/>
            </p:nvSpPr>
            <p:spPr>
              <a:xfrm>
                <a:off x="2056586" y="1997895"/>
                <a:ext cx="146206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16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9FE740-A2D1-9773-0FD6-123CF7E3B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586" y="1997895"/>
                <a:ext cx="1462067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55AA4816-2884-CF65-D593-8051CD04E729}"/>
              </a:ext>
            </a:extLst>
          </p:cNvPr>
          <p:cNvSpPr txBox="1"/>
          <p:nvPr/>
        </p:nvSpPr>
        <p:spPr>
          <a:xfrm>
            <a:off x="941985" y="199789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测量模型：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7">
                <a:extLst>
                  <a:ext uri="{FF2B5EF4-FFF2-40B4-BE49-F238E27FC236}">
                    <a16:creationId xmlns="" xmlns:a16="http://schemas.microsoft.com/office/drawing/2014/main" id="{5587C913-E769-B6AC-8713-CCDD6B8C66DF}"/>
                  </a:ext>
                </a:extLst>
              </p:cNvPr>
              <p:cNvSpPr txBox="1"/>
              <p:nvPr/>
            </p:nvSpPr>
            <p:spPr bwMode="auto">
              <a:xfrm>
                <a:off x="3339898" y="4441639"/>
                <a:ext cx="1890266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.00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Object 7">
                <a:extLst>
                  <a:ext uri="{FF2B5EF4-FFF2-40B4-BE49-F238E27FC236}">
                    <a16:creationId xmlns:a16="http://schemas.microsoft.com/office/drawing/2014/main" id="{5587C913-E769-B6AC-8713-CCDD6B8C6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9898" y="4441639"/>
                <a:ext cx="1890266" cy="3667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Group 6">
            <a:extLst>
              <a:ext uri="{FF2B5EF4-FFF2-40B4-BE49-F238E27FC236}">
                <a16:creationId xmlns="" xmlns:a16="http://schemas.microsoft.com/office/drawing/2014/main" id="{7F35156B-BB96-31EF-F047-0F17C2052E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4889413"/>
              </p:ext>
            </p:extLst>
          </p:nvPr>
        </p:nvGraphicFramePr>
        <p:xfrm>
          <a:off x="976633" y="1309941"/>
          <a:ext cx="1631609" cy="352425"/>
        </p:xfrm>
        <a:graphic>
          <a:graphicData uri="http://schemas.openxmlformats.org/drawingml/2006/table">
            <a:tbl>
              <a:tblPr/>
              <a:tblGrid>
                <a:gridCol w="875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5608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/g</a:t>
                      </a:r>
                    </a:p>
                  </a:txBody>
                  <a:tcPr marL="68580" marR="68580" marT="34290" marB="3429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14.00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="" xmlns:a16="http://schemas.microsoft.com/office/drawing/2014/main" id="{A888F220-E213-E530-6FAE-1F5075B35D4D}"/>
                  </a:ext>
                </a:extLst>
              </p:cNvPr>
              <p:cNvSpPr txBox="1"/>
              <p:nvPr/>
            </p:nvSpPr>
            <p:spPr>
              <a:xfrm>
                <a:off x="3631886" y="1990724"/>
                <a:ext cx="34954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天平的仪器误差对测量的影响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888F220-E213-E530-6FAE-1F5075B3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886" y="1990724"/>
                <a:ext cx="3495480" cy="338554"/>
              </a:xfrm>
              <a:prstGeom prst="rect">
                <a:avLst/>
              </a:prstGeom>
              <a:blipFill>
                <a:blip r:embed="rId10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4">
            <a:extLst>
              <a:ext uri="{FF2B5EF4-FFF2-40B4-BE49-F238E27FC236}">
                <a16:creationId xmlns="" xmlns:a16="http://schemas.microsoft.com/office/drawing/2014/main" id="{EBEC0ABD-B963-5F27-28E5-C523680AFBD6}"/>
              </a:ext>
            </a:extLst>
          </p:cNvPr>
          <p:cNvSpPr txBox="1"/>
          <p:nvPr/>
        </p:nvSpPr>
        <p:spPr>
          <a:xfrm>
            <a:off x="5932175" y="3334607"/>
            <a:ext cx="116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685800"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正态分布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7ED2D544-6172-5363-B973-BBB3C43AB9BD}"/>
              </a:ext>
            </a:extLst>
          </p:cNvPr>
          <p:cNvSpPr txBox="1"/>
          <p:nvPr/>
        </p:nvSpPr>
        <p:spPr>
          <a:xfrm>
            <a:off x="3069086" y="1226219"/>
            <a:ext cx="4515575" cy="65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0000" indent="-540000" defTabSz="685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已知：预先对质量进行的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次独立重复观测，其实验（样本）标准差为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0.0044 g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AC2E6D5D-FCB0-7347-33E8-969E3D248F9E}"/>
              </a:ext>
            </a:extLst>
          </p:cNvPr>
          <p:cNvSpPr txBox="1"/>
          <p:nvPr/>
        </p:nvSpPr>
        <p:spPr>
          <a:xfrm>
            <a:off x="5045075" y="4480949"/>
            <a:ext cx="3429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通常：两位；需补零时：一位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9">
                <a:extLst>
                  <a:ext uri="{FF2B5EF4-FFF2-40B4-BE49-F238E27FC236}">
                    <a16:creationId xmlns="" xmlns:a16="http://schemas.microsoft.com/office/drawing/2014/main" id="{0D9E6747-9295-1667-0673-56FA86CAC3D4}"/>
                  </a:ext>
                </a:extLst>
              </p:cNvPr>
              <p:cNvSpPr txBox="1"/>
              <p:nvPr/>
            </p:nvSpPr>
            <p:spPr bwMode="auto">
              <a:xfrm>
                <a:off x="1210641" y="3267066"/>
                <a:ext cx="1864519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6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  <m:r>
                        <m:rPr>
                          <m:sty m:val="p"/>
                        </m:rPr>
                        <a:rPr lang="en-US" altLang="zh-CN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zh-CN" altLang="en-US" sz="1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Object 29">
                <a:extLst>
                  <a:ext uri="{FF2B5EF4-FFF2-40B4-BE49-F238E27FC236}">
                    <a16:creationId xmlns:a16="http://schemas.microsoft.com/office/drawing/2014/main" id="{0D9E6747-9295-1667-0673-56FA86CAC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0641" y="3267066"/>
                <a:ext cx="1864519" cy="342900"/>
              </a:xfrm>
              <a:prstGeom prst="rect">
                <a:avLst/>
              </a:prstGeom>
              <a:blipFill>
                <a:blip r:embed="rId11"/>
                <a:stretch>
                  <a:fillRect b="-3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0BD4083A-D1AB-F5FC-FBEE-F7CEA6416F35}"/>
              </a:ext>
            </a:extLst>
          </p:cNvPr>
          <p:cNvSpPr txBox="1"/>
          <p:nvPr/>
        </p:nvSpPr>
        <p:spPr>
          <a:xfrm>
            <a:off x="574639" y="16486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8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扩展不确定度分析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="" xmlns:a16="http://schemas.microsoft.com/office/drawing/2014/main" id="{00CEC32A-A5C2-CA12-7F98-53547E0C0E76}"/>
                  </a:ext>
                </a:extLst>
              </p:cNvPr>
              <p:cNvSpPr txBox="1"/>
              <p:nvPr/>
            </p:nvSpPr>
            <p:spPr>
              <a:xfrm>
                <a:off x="753867" y="3802570"/>
                <a:ext cx="4630438" cy="515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ctrlPr>
                                    <a:rPr lang="zh-CN" alt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endChr m:val=""/>
                                          <m:ctrlPr>
                                            <a:rPr lang="zh-CN" altLang="en-US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</m:d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0.0044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0.013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nor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zh-CN" altLang="en-US" b="0" i="0">
                          <a:latin typeface="Cambria Math" panose="02040503050406030204" pitchFamily="18" charset="0"/>
                        </a:rPr>
                        <m:t>0.014 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0CEC32A-A5C2-CA12-7F98-53547E0C0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67" y="3802570"/>
                <a:ext cx="4630438" cy="5150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2755F57-AD3F-7D35-9980-C20B6400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5225D6E-C0E1-E123-CA44-808C702E9D3D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81D944F0-38E7-D9FE-5FAB-27BF76900ECA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0EDA0BFA-4AE3-A5D6-E89C-AA97446C983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01783066-A839-745A-F41B-22384B567BA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7543D26A-B0F5-A31A-BEAD-93A7937867D0}"/>
              </a:ext>
            </a:extLst>
          </p:cNvPr>
          <p:cNvSpPr txBox="1"/>
          <p:nvPr/>
        </p:nvSpPr>
        <p:spPr>
          <a:xfrm>
            <a:off x="574639" y="16486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8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扩展不确定度分析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="" xmlns:a16="http://schemas.microsoft.com/office/drawing/2014/main" id="{EC6C12F7-F147-EE10-8B47-5640AD2110D3}"/>
                  </a:ext>
                </a:extLst>
              </p:cNvPr>
              <p:cNvSpPr txBox="1"/>
              <p:nvPr/>
            </p:nvSpPr>
            <p:spPr bwMode="auto">
              <a:xfrm>
                <a:off x="1566736" y="1329446"/>
                <a:ext cx="6799659" cy="5322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en-US" sz="1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4×14.00</m:t>
                          </m:r>
                        </m:num>
                        <m:den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3.1416×10.49</m:t>
                          </m:r>
                          <m:sSup>
                            <m:sSupPr>
                              <m:ctrlPr>
                                <a:rPr lang="zh-CN" altLang="en-US" sz="1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  <m:sup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×20.003</m:t>
                          </m:r>
                        </m:den>
                      </m:f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=8.09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549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×1</m:t>
                      </m:r>
                      <m:sSup>
                        <m:sSupPr>
                          <m:ctrlPr>
                            <a:rPr lang="zh-CN" altLang="en-US" sz="1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sz="1400" i="1">
                              <a:latin typeface="Cambria Math"/>
                            </a:rPr>
                          </m:ctrlPr>
                        </m:mPr>
                        <m:mr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p>
                              <m:sSupPr>
                                <m:ctrlPr>
                                  <a:rPr lang="zh-CN" altLang="en-US" sz="14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=8.09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549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en-US" sz="1400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sSup>
                                    <m:sSupPr>
                                      <m:ctrlPr>
                                        <a:rPr lang="zh-CN" altLang="en-US" sz="14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  <m:e/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EC6C12F7-F147-EE10-8B47-5640AD211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6736" y="1329446"/>
                <a:ext cx="6799659" cy="5322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">
                <a:extLst>
                  <a:ext uri="{FF2B5EF4-FFF2-40B4-BE49-F238E27FC236}">
                    <a16:creationId xmlns="" xmlns:a16="http://schemas.microsoft.com/office/drawing/2014/main" id="{96E07074-BB67-0D7F-A1E8-C6C1C8AC3292}"/>
                  </a:ext>
                </a:extLst>
              </p:cNvPr>
              <p:cNvSpPr txBox="1"/>
              <p:nvPr/>
            </p:nvSpPr>
            <p:spPr bwMode="auto">
              <a:xfrm>
                <a:off x="1313119" y="4477833"/>
                <a:ext cx="3768329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=8.095(14) 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zh-CN" altLang="en-US" sz="16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96E07074-BB67-0D7F-A1E8-C6C1C8AC3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3119" y="4477833"/>
                <a:ext cx="3768329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3">
                <a:extLst>
                  <a:ext uri="{FF2B5EF4-FFF2-40B4-BE49-F238E27FC236}">
                    <a16:creationId xmlns="" xmlns:a16="http://schemas.microsoft.com/office/drawing/2014/main" id="{F73447B8-C4C0-1E0E-2185-10F317A9C9DB}"/>
                  </a:ext>
                </a:extLst>
              </p:cNvPr>
              <p:cNvSpPr txBox="1"/>
              <p:nvPr/>
            </p:nvSpPr>
            <p:spPr bwMode="auto">
              <a:xfrm>
                <a:off x="1313118" y="1857997"/>
                <a:ext cx="5212177" cy="2413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marL="324000" indent="-34290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400" i="1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14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4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4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num>
                                    <m:den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r>
                  <a:rPr lang="zh-CN" altLang="en-US" sz="14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/>
                </a:r>
                <a:br>
                  <a:rPr lang="zh-CN" altLang="en-US" sz="14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zh-CN" altLang="en-US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1400" i="1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en-US" sz="1400" i="1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14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f>
                                  <m:fPr>
                                    <m:ctrlPr>
                                      <a:rPr lang="en-US" altLang="zh-CN" sz="14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zh-CN" altLang="en-US" sz="1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1400" i="1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14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f>
                                  <m:fPr>
                                    <m:ctrlPr>
                                      <a:rPr lang="en-US" altLang="zh-CN" sz="14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zh-CN" altLang="en-US" sz="1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1400" i="1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14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f>
                                  <m:fPr>
                                    <m:ctrlPr>
                                      <a:rPr lang="en-US" altLang="zh-CN" sz="1400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zh-CN" altLang="en-US" sz="14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zh-CN" sz="140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16000" indent="-21600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=8.09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549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zh-CN" altLang="en-US" sz="1400" i="1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0.00</m:t>
                                      </m:r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10.49</m:t>
                                      </m:r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18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4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0.013</m:t>
                                      </m:r>
                                    </m:num>
                                    <m:den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20.003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4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0.01</m:t>
                                      </m:r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14.00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zh-CN" altLang="en-US" sz="1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= 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zh-CN" altLang="en-US" sz="1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Object 43">
                <a:extLst>
                  <a:ext uri="{FF2B5EF4-FFF2-40B4-BE49-F238E27FC236}">
                    <a16:creationId xmlns:a16="http://schemas.microsoft.com/office/drawing/2014/main" id="{F73447B8-C4C0-1E0E-2185-10F317A9C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3118" y="1857997"/>
                <a:ext cx="5212177" cy="24134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6186CA7C-6B45-B3D4-90F0-A9476399F52B}"/>
              </a:ext>
            </a:extLst>
          </p:cNvPr>
          <p:cNvSpPr txBox="1"/>
          <p:nvPr/>
        </p:nvSpPr>
        <p:spPr>
          <a:xfrm>
            <a:off x="318756" y="141088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测量模型：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331A531F-B1D7-3554-93B7-73F859740F63}"/>
              </a:ext>
            </a:extLst>
          </p:cNvPr>
          <p:cNvSpPr txBox="1"/>
          <p:nvPr/>
        </p:nvSpPr>
        <p:spPr>
          <a:xfrm>
            <a:off x="276121" y="726319"/>
            <a:ext cx="396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求密度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的标准不确定度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="" xmlns:a16="http://schemas.microsoft.com/office/drawing/2014/main" id="{11294423-50D8-D4B2-C658-F39A681D8746}"/>
              </a:ext>
            </a:extLst>
          </p:cNvPr>
          <p:cNvSpPr txBox="1"/>
          <p:nvPr/>
        </p:nvSpPr>
        <p:spPr>
          <a:xfrm>
            <a:off x="4273146" y="815272"/>
            <a:ext cx="2325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合成标准不确定度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42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C1F0F8C-2670-9188-9F73-658436C76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5A82EE44-841A-B7F7-7DAB-1D7852D23B81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B1164779-74CD-6EFA-1F7F-F37DECDC12E8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94075ABA-554B-3E11-3827-D059B48E172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B31ABCDC-75D5-1946-1D51-82B35CC6E2F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38AAF193-43F5-ACB6-FDFA-79600DE22E29}"/>
              </a:ext>
            </a:extLst>
          </p:cNvPr>
          <p:cNvSpPr txBox="1"/>
          <p:nvPr/>
        </p:nvSpPr>
        <p:spPr>
          <a:xfrm>
            <a:off x="574639" y="16486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8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扩展不确定度分析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="" xmlns:a16="http://schemas.microsoft.com/office/drawing/2014/main" id="{0444432F-F0C1-E5B2-4B07-5BEFE112303D}"/>
                  </a:ext>
                </a:extLst>
              </p:cNvPr>
              <p:cNvSpPr txBox="1"/>
              <p:nvPr/>
            </p:nvSpPr>
            <p:spPr>
              <a:xfrm>
                <a:off x="2335285" y="1187984"/>
                <a:ext cx="2408376" cy="720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350" i="1" kern="100" smtClean="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35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350" kern="1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eff</m:t>
                          </m:r>
                        </m:sub>
                      </m:sSub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1350" i="1" kern="10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1350" i="1" kern="100"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sub>
                            <m:sup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bSup>
                        </m:num>
                        <m:den>
                          <m:f>
                            <m:fPr>
                              <m:ctrlPr>
                                <a:rPr lang="en-US" altLang="zh-CN" sz="1350" i="1" kern="100">
                                  <a:latin typeface="Cambria Math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350" i="1" kern="100">
                                      <a:latin typeface="Cambria Math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35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35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35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6−1</m:t>
                              </m:r>
                            </m:den>
                          </m:f>
                          <m:r>
                            <a:rPr lang="en-US" altLang="zh-CN" sz="135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 kern="100">
                                  <a:latin typeface="Cambria Math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350" i="1" kern="100">
                                      <a:latin typeface="Cambria Math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35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35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35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35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den>
                          </m:f>
                        </m:den>
                      </m:f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≈5</m:t>
                      </m:r>
                    </m:oMath>
                  </m:oMathPara>
                </a14:m>
                <a:endPara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444432F-F0C1-E5B2-4B07-5BEFE1123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285" y="1187984"/>
                <a:ext cx="2408376" cy="720710"/>
              </a:xfrm>
              <a:prstGeom prst="rect">
                <a:avLst/>
              </a:prstGeom>
              <a:blipFill>
                <a:blip r:embed="rId5"/>
                <a:stretch>
                  <a:fillRect b="-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="" xmlns:a16="http://schemas.microsoft.com/office/drawing/2014/main" id="{AE530F47-C1F3-9C7A-F685-6F3CCF54EF15}"/>
                  </a:ext>
                </a:extLst>
              </p:cNvPr>
              <p:cNvSpPr txBox="1"/>
              <p:nvPr/>
            </p:nvSpPr>
            <p:spPr>
              <a:xfrm>
                <a:off x="5389036" y="1818706"/>
                <a:ext cx="2949014" cy="720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350" i="1" kern="100" smtClean="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35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350" kern="1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eff</m:t>
                          </m:r>
                        </m:sub>
                      </m:sSub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1350" i="1" kern="10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1350" i="1" kern="100"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bSup>
                        </m:num>
                        <m:den>
                          <m:f>
                            <m:fPr>
                              <m:ctrlPr>
                                <a:rPr lang="en-US" altLang="zh-CN" sz="1350" i="1" kern="100">
                                  <a:latin typeface="Cambria Math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350" i="1" kern="100">
                                      <a:latin typeface="Cambria Math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35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35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35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6−1</m:t>
                              </m:r>
                            </m:den>
                          </m:f>
                          <m:r>
                            <a:rPr lang="en-US" altLang="zh-CN" sz="135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 kern="100">
                                  <a:latin typeface="Cambria Math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350" i="1" kern="100">
                                      <a:latin typeface="Cambria Math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35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35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35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35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den>
                          </m:f>
                        </m:den>
                      </m:f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≈1</m:t>
                      </m:r>
                      <m:r>
                        <a:rPr lang="en-US" altLang="zh-CN" sz="1350" b="0" i="1" kern="100" smtClean="0">
                          <a:latin typeface="Cambria Math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02</m:t>
                      </m:r>
                    </m:oMath>
                  </m:oMathPara>
                </a14:m>
                <a:endPara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E530F47-C1F3-9C7A-F685-6F3CCF54E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036" y="1818706"/>
                <a:ext cx="2949014" cy="72071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="" xmlns:a16="http://schemas.microsoft.com/office/drawing/2014/main" id="{8A0DDA07-D24C-250A-B84C-B598A8378CB3}"/>
                  </a:ext>
                </a:extLst>
              </p:cNvPr>
              <p:cNvSpPr txBox="1"/>
              <p:nvPr/>
            </p:nvSpPr>
            <p:spPr>
              <a:xfrm>
                <a:off x="1991301" y="2014795"/>
                <a:ext cx="3418400" cy="741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400" i="1" kern="100" smtClean="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400" kern="1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eff</m:t>
                          </m:r>
                        </m:sub>
                      </m:sSub>
                      <m:r>
                        <a:rPr lang="en-US" altLang="zh-CN" sz="140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40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sz="140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1400" i="1" kern="10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1400" i="1" kern="100"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1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bSup>
                        </m:num>
                        <m:den>
                          <m:f>
                            <m:fPr>
                              <m:ctrlPr>
                                <a:rPr lang="en-US" altLang="zh-CN" sz="1400" i="1" kern="100">
                                  <a:latin typeface="Cambria Math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400" i="1" kern="100">
                                      <a:latin typeface="Cambria Math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40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25−1</m:t>
                              </m:r>
                            </m:den>
                          </m:f>
                          <m:r>
                            <a:rPr lang="en-US" altLang="zh-CN" sz="14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 kern="100">
                                  <a:latin typeface="Cambria Math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400" i="1" kern="100">
                                      <a:latin typeface="Cambria Math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400" i="1" kern="10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den>
                          </m:f>
                        </m:den>
                      </m:f>
                      <m:r>
                        <a:rPr lang="en-US" altLang="zh-CN" sz="1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≈24</m:t>
                      </m:r>
                      <m:r>
                        <a:rPr lang="en-US" altLang="zh-CN" sz="1400" b="0" i="1" kern="100" smtClean="0">
                          <a:latin typeface="Cambria Math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88</m:t>
                      </m:r>
                    </m:oMath>
                  </m:oMathPara>
                </a14:m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A0DDA07-D24C-250A-B84C-B598A8378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301" y="2014795"/>
                <a:ext cx="3418400" cy="74161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EA93CDFC-B8C5-6776-983D-011F53C295FE}"/>
              </a:ext>
            </a:extLst>
          </p:cNvPr>
          <p:cNvSpPr txBox="1"/>
          <p:nvPr/>
        </p:nvSpPr>
        <p:spPr>
          <a:xfrm>
            <a:off x="307470" y="1356807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各分量的有效自由度：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="" xmlns:a16="http://schemas.microsoft.com/office/drawing/2014/main" id="{7322D5CF-C26A-CB4F-CA77-59AFD60539A6}"/>
                  </a:ext>
                </a:extLst>
              </p:cNvPr>
              <p:cNvSpPr txBox="1"/>
              <p:nvPr/>
            </p:nvSpPr>
            <p:spPr>
              <a:xfrm>
                <a:off x="440421" y="2906565"/>
                <a:ext cx="1738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600" b="1" i="1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的有效自由度：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322D5CF-C26A-CB4F-CA77-59AFD6053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21" y="2906565"/>
                <a:ext cx="1738874" cy="338554"/>
              </a:xfrm>
              <a:prstGeom prst="rect">
                <a:avLst/>
              </a:prstGeom>
              <a:blipFill>
                <a:blip r:embed="rId8"/>
                <a:stretch>
                  <a:fillRect t="-5455" r="-1053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="" xmlns:a16="http://schemas.microsoft.com/office/drawing/2014/main" id="{D91A6A34-C823-F721-E9BE-3944AD8B8039}"/>
                  </a:ext>
                </a:extLst>
              </p:cNvPr>
              <p:cNvSpPr txBox="1"/>
              <p:nvPr/>
            </p:nvSpPr>
            <p:spPr>
              <a:xfrm>
                <a:off x="2200798" y="2722675"/>
                <a:ext cx="4892989" cy="958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350" i="1" kern="100" smtClean="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35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350" kern="1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eff</m:t>
                          </m:r>
                        </m:sub>
                      </m:sSub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135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350" i="1" kern="100"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1350" i="1" kern="100"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135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sub>
                            <m:sup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bSup>
                        </m:num>
                        <m:den>
                          <m:f>
                            <m:fPr>
                              <m:ctrlPr>
                                <a:rPr lang="en-US" altLang="zh-CN" sz="1350" i="1" kern="10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350" i="1" kern="10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35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1350" i="1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135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135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zh-CN" altLang="en-US" sz="135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35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35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sz="135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 kern="10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350" i="1" kern="10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35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1350" i="1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135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135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zh-CN" altLang="en-US" sz="135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35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35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sz="135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 kern="10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350" i="1" kern="10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35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1350" i="1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135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135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zh-CN" altLang="en-US" sz="135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35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35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35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altLang="zh-CN" sz="135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  <m:r>
                        <a:rPr lang="en-US" altLang="zh-CN" sz="135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≈1</m:t>
                      </m:r>
                      <m:r>
                        <a:rPr lang="en-US" altLang="zh-CN" sz="1350" b="0" i="1" kern="100" smtClean="0">
                          <a:latin typeface="Cambria Math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</m:oMath>
                  </m:oMathPara>
                </a14:m>
                <a:endPara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91A6A34-C823-F721-E9BE-3944AD8B8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798" y="2722675"/>
                <a:ext cx="4892989" cy="958404"/>
              </a:xfrm>
              <a:prstGeom prst="rect">
                <a:avLst/>
              </a:prstGeom>
              <a:blipFill rotWithShape="1">
                <a:blip r:embed="rId9"/>
                <a:stretch>
                  <a:fillRect b="-38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EDA587AF-5DB1-0FAE-BF7C-D1AA5798CEFD}"/>
                  </a:ext>
                </a:extLst>
              </p:cNvPr>
              <p:cNvSpPr txBox="1"/>
              <p:nvPr/>
            </p:nvSpPr>
            <p:spPr>
              <a:xfrm>
                <a:off x="2281467" y="3746968"/>
                <a:ext cx="18483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查表得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0.95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=2.</m:t>
                    </m:r>
                    <m:r>
                      <a:rPr lang="en-US" altLang="zh-CN" sz="1600" b="0" i="1" smtClean="0">
                        <a:latin typeface="Cambria Math"/>
                      </a:rPr>
                      <m:t>10</m:t>
                    </m:r>
                  </m:oMath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DA587AF-5DB1-0FAE-BF7C-D1AA5798C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467" y="3746968"/>
                <a:ext cx="1848391" cy="338554"/>
              </a:xfrm>
              <a:prstGeom prst="rect">
                <a:avLst/>
              </a:prstGeom>
              <a:blipFill rotWithShape="1">
                <a:blip r:embed="rId10"/>
                <a:stretch>
                  <a:fillRect l="-1650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="" xmlns:a16="http://schemas.microsoft.com/office/drawing/2014/main" id="{94A791C1-5F01-4467-BFBC-FD6824F256D0}"/>
                  </a:ext>
                </a:extLst>
              </p:cNvPr>
              <p:cNvSpPr txBox="1"/>
              <p:nvPr/>
            </p:nvSpPr>
            <p:spPr>
              <a:xfrm>
                <a:off x="875123" y="4199644"/>
                <a:ext cx="5948552" cy="3654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则扩展不确定度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0.95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0.95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a:rPr lang="en-US" altLang="zh-CN" sz="1600" b="0" i="1" smtClean="0">
                        <a:latin typeface="Cambria Math"/>
                        <a:ea typeface="Cambria Math" panose="02040503050406030204" pitchFamily="18" charset="0"/>
                      </a:rPr>
                      <m:t>02997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zh-CN" altLang="en-US" sz="1600" i="1">
                            <a:latin typeface="Cambria Math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a:rPr lang="en-US" altLang="zh-CN" sz="1600" i="1">
                        <a:latin typeface="Cambria Math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1600" b="0" i="1" smtClean="0">
                        <a:latin typeface="Cambria Math"/>
                        <a:ea typeface="Cambria Math" panose="02040503050406030204" pitchFamily="18" charset="0"/>
                      </a:rPr>
                      <m:t>30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zh-CN" altLang="en-US" sz="1600" i="1">
                            <a:latin typeface="Cambria Math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4A791C1-5F01-4467-BFBC-FD6824F25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23" y="4199644"/>
                <a:ext cx="5948552" cy="365421"/>
              </a:xfrm>
              <a:prstGeom prst="rect">
                <a:avLst/>
              </a:prstGeom>
              <a:blipFill rotWithShape="1">
                <a:blip r:embed="rId11"/>
                <a:stretch>
                  <a:fillRect l="-615" t="-5000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="" xmlns:a16="http://schemas.microsoft.com/office/drawing/2014/main" id="{B56CF864-13F0-EF9C-0030-C44126A6FB4D}"/>
                  </a:ext>
                </a:extLst>
              </p:cNvPr>
              <p:cNvSpPr txBox="1"/>
              <p:nvPr/>
            </p:nvSpPr>
            <p:spPr>
              <a:xfrm>
                <a:off x="2281467" y="4604087"/>
                <a:ext cx="34236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8.09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±0.0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16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zh-CN" altLang="en-US" sz="1600" i="1">
                            <a:latin typeface="Cambria Math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P=0.95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56CF864-13F0-EF9C-0030-C44126A6F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467" y="4604087"/>
                <a:ext cx="3423694" cy="338554"/>
              </a:xfrm>
              <a:prstGeom prst="rect">
                <a:avLst/>
              </a:prstGeom>
              <a:blipFill rotWithShape="1">
                <a:blip r:embed="rId12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BE4E23D3-921F-5035-3063-B3C69D68B5B1}"/>
              </a:ext>
            </a:extLst>
          </p:cNvPr>
          <p:cNvSpPr txBox="1"/>
          <p:nvPr/>
        </p:nvSpPr>
        <p:spPr>
          <a:xfrm>
            <a:off x="5812594" y="3511802"/>
            <a:ext cx="27015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扩展不确定度：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±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形式表示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="" xmlns:a16="http://schemas.microsoft.com/office/drawing/2014/main" id="{DA70502D-EDE0-BE85-3CE2-7C63B263A43D}"/>
              </a:ext>
            </a:extLst>
          </p:cNvPr>
          <p:cNvSpPr txBox="1"/>
          <p:nvPr/>
        </p:nvSpPr>
        <p:spPr>
          <a:xfrm>
            <a:off x="276121" y="726319"/>
            <a:ext cx="396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求密度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的扩展不确定度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21054DB0-86D5-1455-7763-9C43DD9B9B75}"/>
              </a:ext>
            </a:extLst>
          </p:cNvPr>
          <p:cNvSpPr txBox="1"/>
          <p:nvPr/>
        </p:nvSpPr>
        <p:spPr>
          <a:xfrm>
            <a:off x="4951378" y="1202918"/>
            <a:ext cx="3640195" cy="307777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>
            <a:spAutoFit/>
          </a:bodyPr>
          <a:lstStyle/>
          <a:p>
            <a:r>
              <a:rPr lang="zh-CN" altLang="zh-CN" sz="14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zh-CN" altLang="zh-CN" sz="14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i="1" kern="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="1" i="1" kern="0" baseline="-2500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eff</a:t>
            </a:r>
            <a:r>
              <a:rPr lang="en-US" altLang="zh-CN" sz="1400" b="1" i="1" kern="0" baseline="30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14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不是整数，可修约到较小的整数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="" xmlns:a16="http://schemas.microsoft.com/office/drawing/2014/main" id="{54DBD87F-986C-9318-BBD6-D3B8BBCFE012}"/>
                  </a:ext>
                </a:extLst>
              </p:cNvPr>
              <p:cNvSpPr txBox="1"/>
              <p:nvPr/>
            </p:nvSpPr>
            <p:spPr>
              <a:xfrm>
                <a:off x="4727319" y="315106"/>
                <a:ext cx="3487661" cy="789768"/>
              </a:xfrm>
              <a:prstGeom prst="rect">
                <a:avLst/>
              </a:prstGeom>
              <a:gradFill flip="none" rotWithShape="1">
                <a:gsLst>
                  <a:gs pos="0">
                    <a:srgbClr val="C8A17E">
                      <a:tint val="66000"/>
                      <a:satMod val="160000"/>
                    </a:srgbClr>
                  </a:gs>
                  <a:gs pos="50000">
                    <a:srgbClr val="C8A17E">
                      <a:tint val="44500"/>
                      <a:satMod val="160000"/>
                    </a:srgbClr>
                  </a:gs>
                  <a:gs pos="100000">
                    <a:srgbClr val="C8A17E">
                      <a:tint val="23500"/>
                      <a:satMod val="160000"/>
                    </a:srgbClr>
                  </a:gs>
                </a:gsLst>
                <a:lin ang="5400000" scaled="1"/>
                <a:tileRect/>
              </a:gra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0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000" kern="10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eff</m:t>
                          </m:r>
                        </m:sub>
                      </m:sSub>
                      <m:r>
                        <a:rPr lang="en-US" altLang="zh-CN" sz="20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 kern="100">
                              <a:solidFill>
                                <a:schemeClr val="tx1"/>
                              </a:solidFill>
                              <a:latin typeface="Cambria Math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2000" i="1" kern="1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bSup>
                          <m:r>
                            <a:rPr lang="en-US" altLang="zh-CN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0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zh-CN" altLang="zh-CN" sz="2000" i="1" kern="1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000" i="1" kern="1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CN" sz="2000" i="1" kern="100" dirty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kern="1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sz="20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zh-CN" sz="2000" i="1" kern="10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kern="1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)]</m:t>
                                  </m:r>
                                </m:e>
                                <m:sup>
                                  <m:r>
                                    <a:rPr lang="en-US" altLang="zh-CN" sz="2000" b="0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lit/>
                                </m:rPr>
                                <a:rPr lang="en-US" altLang="zh-CN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</m:e>
                          </m:nary>
                          <m:sSub>
                            <m:sSubPr>
                              <m:ctrlPr>
                                <a:rPr lang="zh-CN" altLang="zh-CN" sz="2000" i="1" kern="1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4DBD87F-986C-9318-BBD6-D3B8BBCFE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319" y="315106"/>
                <a:ext cx="3487661" cy="78976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88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63D4B3A-4EC0-2B0D-F979-AC458D88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9F8B1D8-B8D0-259A-CBD0-246E32AAD16B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47244E7D-EAE9-A502-15AB-E9F787E4AF2D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ADFBA714-1927-377C-4341-3C9064ABAA8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3D8D613E-F722-A347-E891-8269D333A9E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C3A8E5BB-0553-AEB5-FFAD-21F409F07980}"/>
              </a:ext>
            </a:extLst>
          </p:cNvPr>
          <p:cNvSpPr txBox="1"/>
          <p:nvPr/>
        </p:nvSpPr>
        <p:spPr>
          <a:xfrm>
            <a:off x="3052852" y="3773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rgbClr val="1A3F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不确定度评定流程小结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="" xmlns:a16="http://schemas.microsoft.com/office/drawing/2014/main" id="{CAE3021C-E064-1E54-D969-26A4BC14FE61}"/>
                  </a:ext>
                </a:extLst>
              </p:cNvPr>
              <p:cNvSpPr txBox="1"/>
              <p:nvPr/>
            </p:nvSpPr>
            <p:spPr>
              <a:xfrm>
                <a:off x="121065" y="466691"/>
                <a:ext cx="8403957" cy="4223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57175" indent="-257175">
                  <a:lnSpc>
                    <a:spcPct val="120000"/>
                  </a:lnSpc>
                  <a:spcBef>
                    <a:spcPts val="900"/>
                  </a:spcBef>
                  <a:buAutoNum type="arabicPeriod"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构建测量模型</a:t>
                </a:r>
                <a14:m>
                  <m:oMath xmlns:m="http://schemas.openxmlformats.org/officeDocument/2006/math">
                    <m:r>
                      <a:rPr lang="en-US" altLang="zh-CN" sz="2000" b="1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zh-CN" altLang="en-US" sz="2000" b="1" i="1" dirty="0">
                        <a:latin typeface="Cambria Math" panose="02040503050406030204" pitchFamily="18" charset="0"/>
                      </a:rPr>
                      <m:t>（</m:t>
                    </m:r>
                    <m:sSub>
                      <m:sSubPr>
                        <m:ctrlPr>
                          <a:rPr lang="en-US" altLang="zh-CN" sz="20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2000" b="1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zh-CN" altLang="en-US" sz="2000" b="1" i="1" dirty="0">
                        <a:latin typeface="Cambria Math" panose="02040503050406030204" pitchFamily="18" charset="0"/>
                      </a:rPr>
                      <m:t>），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应包括所有对测量结果有显著影响的分量，满足准确程度要求。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57175" indent="-257175">
                  <a:lnSpc>
                    <a:spcPct val="120000"/>
                  </a:lnSpc>
                  <a:spcBef>
                    <a:spcPts val="900"/>
                  </a:spcBef>
                  <a:buAutoNum type="arabicPeriod" startAt="2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确定输入量 </a:t>
                </a:r>
                <a:r>
                  <a: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000" i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的估计值，如多次测量的平均值，线性拟合的值等。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57175" indent="-257175">
                  <a:lnSpc>
                    <a:spcPct val="120000"/>
                  </a:lnSpc>
                  <a:spcBef>
                    <a:spcPts val="900"/>
                  </a:spcBef>
                  <a:buAutoNum type="arabicPeriod" startAt="3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评定每个输入量</a:t>
                </a:r>
                <a:r>
                  <a: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000" i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的标准不确定度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2000" i="1" dirty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000" i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20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，用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类评定或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类评定。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57175" indent="-257175">
                  <a:lnSpc>
                    <a:spcPct val="120000"/>
                  </a:lnSpc>
                  <a:spcBef>
                    <a:spcPts val="900"/>
                  </a:spcBef>
                  <a:buAutoNum type="arabicPeriod" startAt="3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通过函数关系计算被测量 </a:t>
                </a:r>
                <a:r>
                  <a: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的估计值 </a:t>
                </a:r>
                <a:r>
                  <a: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57175" indent="-257175">
                  <a:lnSpc>
                    <a:spcPct val="120000"/>
                  </a:lnSpc>
                  <a:spcBef>
                    <a:spcPts val="900"/>
                  </a:spcBef>
                  <a:buAutoNum type="arabicPeriod" startAt="5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确定测量结果 </a:t>
                </a:r>
                <a:r>
                  <a: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的合成标准不确定度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"/>
                            <m:ctrlPr>
                              <a:rPr lang="en-US" altLang="zh-CN" sz="2000" i="1" dirty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endChr m:val=""/>
                                <m:ctrlPr>
                                  <a:rPr lang="en-US" altLang="zh-CN" sz="2000" i="1" dirty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57175" indent="-257175">
                  <a:lnSpc>
                    <a:spcPct val="120000"/>
                  </a:lnSpc>
                  <a:spcBef>
                    <a:spcPts val="900"/>
                  </a:spcBef>
                  <a:buAutoNum type="arabicPeriod" startAt="6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确定扩展不确定度</a:t>
                </a:r>
                <a:r>
                  <a:rPr lang="en-US" altLang="zh-CN" sz="2000" i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000" i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。计算有效自由度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，取对应的包含因子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 baseline="-25000" dirty="0" err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 err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000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 dirty="0" err="1"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 baseline="-25000" dirty="0" err="1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altLang="zh-CN" sz="2000" i="1" dirty="0" err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 dirty="0" err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，得到一个具有规定置信水平的区间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7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报告测量结果 </a:t>
                </a:r>
                <a:r>
                  <a:rPr lang="en-US" altLang="zh-CN" sz="2000" b="1" i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及其合成标准不确定度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d>
                      <m:dPr>
                        <m:begChr m:val=""/>
                        <m:ctrlP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endChr m:val=""/>
                            <m:ctrlP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或扩展不确定度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AE3021C-E064-1E54-D969-26A4BC14F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65" y="466691"/>
                <a:ext cx="8403957" cy="4223464"/>
              </a:xfrm>
              <a:prstGeom prst="rect">
                <a:avLst/>
              </a:prstGeom>
              <a:blipFill rotWithShape="1">
                <a:blip r:embed="rId5"/>
                <a:stretch>
                  <a:fillRect l="-943" t="-723" r="-3701" b="-16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918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F3CEE35A-3A94-455B-A0D2-B1F33B941D05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8712784A-8A7F-4092-AC2E-F5A99B3301FB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7" name="矩形 16"/>
          <p:cNvSpPr>
            <a:spLocks noChangeArrowheads="1"/>
          </p:cNvSpPr>
          <p:nvPr/>
        </p:nvSpPr>
        <p:spPr bwMode="auto">
          <a:xfrm>
            <a:off x="715168" y="1150143"/>
            <a:ext cx="3183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要求：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一般要求使用计算机绘图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Origin</a:t>
            </a:r>
          </a:p>
        </p:txBody>
      </p:sp>
      <p:sp>
        <p:nvSpPr>
          <p:cNvPr id="8" name="矩形 16"/>
          <p:cNvSpPr>
            <a:spLocks noChangeArrowheads="1"/>
          </p:cNvSpPr>
          <p:nvPr/>
        </p:nvSpPr>
        <p:spPr bwMode="auto">
          <a:xfrm>
            <a:off x="409575" y="3680568"/>
            <a:ext cx="29940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>
              <a:defRPr/>
            </a:pPr>
            <a:r>
              <a:rPr lang="en-US" altLang="zh-CN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  </a:t>
            </a:r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用坐标纸作图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46088" y="3096368"/>
            <a:ext cx="2555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手绘的要求：</a:t>
            </a:r>
            <a:endParaRPr lang="en-US" altLang="zh-CN" sz="2000" dirty="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572000" y="4252068"/>
            <a:ext cx="30607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4. 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实验点的标识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09575" y="4252068"/>
            <a:ext cx="34893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3. 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原点与分度的选择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572000" y="3680568"/>
            <a:ext cx="32146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2.  </a:t>
            </a:r>
            <a:r>
              <a:rPr lang="zh-CN" altLang="en-US" sz="200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图名，变量名，单位</a:t>
            </a:r>
            <a:endParaRPr lang="en-US" altLang="zh-CN" sz="2000">
              <a:solidFill>
                <a:srgbClr val="1A3F6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929063" y="153406"/>
            <a:ext cx="4437620" cy="3581982"/>
            <a:chOff x="3929063" y="153406"/>
            <a:chExt cx="4437620" cy="3581982"/>
          </a:xfrm>
        </p:grpSpPr>
        <p:grpSp>
          <p:nvGrpSpPr>
            <p:cNvPr id="14" name="组合 34"/>
            <p:cNvGrpSpPr>
              <a:grpSpLocks/>
            </p:cNvGrpSpPr>
            <p:nvPr/>
          </p:nvGrpSpPr>
          <p:grpSpPr bwMode="auto">
            <a:xfrm>
              <a:off x="3929063" y="153406"/>
              <a:ext cx="4437620" cy="3581982"/>
              <a:chOff x="3732201" y="833831"/>
              <a:chExt cx="5026071" cy="4347793"/>
            </a:xfrm>
          </p:grpSpPr>
          <p:graphicFrame>
            <p:nvGraphicFramePr>
              <p:cNvPr id="16" name="Object 7"/>
              <p:cNvGraphicFramePr>
                <a:graphicFrameLocks noChangeAspect="1"/>
              </p:cNvGraphicFramePr>
              <p:nvPr/>
            </p:nvGraphicFramePr>
            <p:xfrm>
              <a:off x="3732201" y="933769"/>
              <a:ext cx="5026071" cy="42478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8" name="Graph" r:id="rId6" imgW="3332160" imgH="2816640" progId="Origin50.Graph">
                      <p:embed/>
                    </p:oleObj>
                  </mc:Choice>
                  <mc:Fallback>
                    <p:oleObj name="Graph" r:id="rId6" imgW="3332160" imgH="2816640" progId="Origin50.Graph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2201" y="933769"/>
                            <a:ext cx="5026071" cy="42478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矩形 16"/>
              <p:cNvSpPr>
                <a:spLocks noChangeArrowheads="1"/>
              </p:cNvSpPr>
              <p:nvPr/>
            </p:nvSpPr>
            <p:spPr bwMode="auto">
              <a:xfrm>
                <a:off x="4608515" y="1092172"/>
                <a:ext cx="3517126" cy="4109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1600" u="sng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自然冷却时温度随时间下降曲线</a:t>
                </a:r>
                <a:endParaRPr lang="en-US" altLang="zh-CN" sz="1600" u="sng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3768111" y="833831"/>
                <a:ext cx="659415" cy="3735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400" i="1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T</a:t>
                </a:r>
                <a:r>
                  <a:rPr lang="en-US" altLang="zh-CN" sz="14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(℃)</a:t>
                </a:r>
                <a:endParaRPr lang="zh-CN" altLang="en-US" sz="14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3783304" y="1484996"/>
                <a:ext cx="283394" cy="2341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40</a:t>
                </a:r>
                <a:endParaRPr lang="zh-CN" altLang="en-US" sz="11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808165" y="2881531"/>
                <a:ext cx="283394" cy="2341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35</a:t>
                </a:r>
                <a:endParaRPr lang="zh-CN" altLang="en-US" sz="11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804022" y="4226922"/>
                <a:ext cx="283394" cy="2341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rgbClr val="1A3F6C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30</a:t>
                </a:r>
                <a:endParaRPr lang="zh-CN" altLang="en-US" sz="1100" dirty="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22" name="矩形 21"/>
            <p:cNvSpPr/>
            <p:nvPr/>
          </p:nvSpPr>
          <p:spPr bwMode="auto">
            <a:xfrm>
              <a:off x="7575506" y="3268081"/>
              <a:ext cx="63190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i="1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</a:t>
              </a:r>
              <a:r>
                <a:rPr lang="en-US" altLang="zh-CN" sz="1400">
                  <a:solidFill>
                    <a:srgbClr val="1A3F6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(min)</a:t>
              </a:r>
              <a:endParaRPr lang="zh-CN" altLang="en-US" sz="1400" dirty="0">
                <a:solidFill>
                  <a:srgbClr val="1A3F6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328609" y="224621"/>
            <a:ext cx="31003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A3F6C"/>
              </a:buClr>
              <a:buFont typeface="Wingdings" pitchFamily="2" charset="2"/>
              <a:buChar char="u"/>
            </a:pPr>
            <a:r>
              <a:rPr lang="zh-CN" altLang="en-US" sz="2800" b="1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 作图法的要求</a:t>
            </a:r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5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0643D3E-A35F-C6C5-548E-9D29B7B0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4">
            <a:extLst>
              <a:ext uri="{FF2B5EF4-FFF2-40B4-BE49-F238E27FC236}">
                <a16:creationId xmlns="" xmlns:a16="http://schemas.microsoft.com/office/drawing/2014/main" id="{46A81EF9-99D5-F5A9-B14F-2426F5270D4F}"/>
              </a:ext>
            </a:extLst>
          </p:cNvPr>
          <p:cNvSpPr/>
          <p:nvPr/>
        </p:nvSpPr>
        <p:spPr>
          <a:xfrm flipV="1">
            <a:off x="8338050" y="821358"/>
            <a:ext cx="815896" cy="45719"/>
          </a:xfrm>
          <a:prstGeom prst="round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文本框 55">
            <a:extLst>
              <a:ext uri="{FF2B5EF4-FFF2-40B4-BE49-F238E27FC236}">
                <a16:creationId xmlns="" xmlns:a16="http://schemas.microsoft.com/office/drawing/2014/main" id="{9787AE04-6A73-9F70-DD85-F189EAB003FE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74" name="图片 73" descr="图片2.jpg">
            <a:extLst>
              <a:ext uri="{FF2B5EF4-FFF2-40B4-BE49-F238E27FC236}">
                <a16:creationId xmlns="" xmlns:a16="http://schemas.microsoft.com/office/drawing/2014/main" id="{A5F997AC-A5DB-9815-EDDD-8F409714B30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75" name="图片 74" descr="图片4.jpg">
            <a:extLst>
              <a:ext uri="{FF2B5EF4-FFF2-40B4-BE49-F238E27FC236}">
                <a16:creationId xmlns="" xmlns:a16="http://schemas.microsoft.com/office/drawing/2014/main" id="{8DFEADDA-8707-95C1-882A-F3B162B69AF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CFF3874F-4588-A2AE-8561-238458B21B37}"/>
              </a:ext>
            </a:extLst>
          </p:cNvPr>
          <p:cNvSpPr/>
          <p:nvPr/>
        </p:nvSpPr>
        <p:spPr>
          <a:xfrm>
            <a:off x="328609" y="224621"/>
            <a:ext cx="31003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A3F6C"/>
              </a:buClr>
              <a:buFont typeface="Wingdings" pitchFamily="2" charset="2"/>
              <a:buChar char="u"/>
            </a:pPr>
            <a:r>
              <a:rPr lang="zh-CN" altLang="en-US" sz="2800" b="1" dirty="0">
                <a:solidFill>
                  <a:srgbClr val="1A3F6C"/>
                </a:solidFill>
                <a:latin typeface="微软雅黑" pitchFamily="34" charset="-122"/>
                <a:ea typeface="微软雅黑" pitchFamily="34" charset="-122"/>
              </a:rPr>
              <a:t> 线性拟合</a:t>
            </a:r>
            <a:endParaRPr lang="zh-CN" altLang="en-US" dirty="0">
              <a:solidFill>
                <a:srgbClr val="1A3F6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="" xmlns:a16="http://schemas.microsoft.com/office/drawing/2014/main" id="{07F20221-E722-F447-BBC1-B36820043956}"/>
                  </a:ext>
                </a:extLst>
              </p:cNvPr>
              <p:cNvSpPr txBox="1"/>
              <p:nvPr/>
            </p:nvSpPr>
            <p:spPr>
              <a:xfrm>
                <a:off x="402657" y="737768"/>
                <a:ext cx="721292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</a:t>
                </a:r>
                <a:r>
                  <a:rPr lang="zh-CN" altLang="en-US" sz="2000" b="1" dirty="0">
                    <a:solidFill>
                      <a:srgbClr val="1A3F6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最小二乘法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，我们要拟合的方程是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7F20221-E722-F447-BBC1-B36820043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57" y="737768"/>
                <a:ext cx="7212925" cy="400110"/>
              </a:xfrm>
              <a:prstGeom prst="rect">
                <a:avLst/>
              </a:prstGeom>
              <a:blipFill>
                <a:blip r:embed="rId6"/>
                <a:stretch>
                  <a:fillRect l="-845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="" xmlns:a16="http://schemas.microsoft.com/office/drawing/2014/main" id="{18562AD5-C9DD-BFD3-359A-41BA2DC0EF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379037"/>
              </p:ext>
            </p:extLst>
          </p:nvPr>
        </p:nvGraphicFramePr>
        <p:xfrm>
          <a:off x="4572000" y="1187562"/>
          <a:ext cx="4355833" cy="3334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Graph" r:id="rId7" imgW="9802131" imgH="7502416" progId="Origin95.Graph">
                  <p:embed/>
                </p:oleObj>
              </mc:Choice>
              <mc:Fallback>
                <p:oleObj name="Graph" r:id="rId7" imgW="9802131" imgH="7502416" progId="Origin95.Graph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="" xmlns:a16="http://schemas.microsoft.com/office/drawing/2014/main" id="{82B6089C-523A-DAE8-627C-0A8E01240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0" y="1187562"/>
                        <a:ext cx="4355833" cy="33340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0">
                <a:extLst>
                  <a:ext uri="{FF2B5EF4-FFF2-40B4-BE49-F238E27FC236}">
                    <a16:creationId xmlns="" xmlns:a16="http://schemas.microsoft.com/office/drawing/2014/main" id="{97DA5A10-8002-0EA2-0341-B9C8623323BF}"/>
                  </a:ext>
                </a:extLst>
              </p:cNvPr>
              <p:cNvSpPr txBox="1"/>
              <p:nvPr/>
            </p:nvSpPr>
            <p:spPr bwMode="auto">
              <a:xfrm>
                <a:off x="443615" y="1187626"/>
                <a:ext cx="1902857" cy="1075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ba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̄"/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̄"/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bar>
                            <m:barPr>
                              <m:pos m:val="top"/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barPr>
                            <m:e>
                              <m:sSup>
                                <m:sSupPr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ba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̄"/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r>
                  <a:rPr lang="zh-CN" altLang="en-US" sz="1600" i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/>
                </a:r>
                <a:br>
                  <a:rPr lang="zh-CN" altLang="en-US" sz="1600" i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̄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acc>
                        <m:accPr>
                          <m:chr m:val="̄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Object 20">
                <a:extLst>
                  <a:ext uri="{FF2B5EF4-FFF2-40B4-BE49-F238E27FC236}">
                    <a16:creationId xmlns:a16="http://schemas.microsoft.com/office/drawing/2014/main" id="{97DA5A10-8002-0EA2-0341-B9C862332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615" y="1187626"/>
                <a:ext cx="1902857" cy="1075610"/>
              </a:xfrm>
              <a:prstGeom prst="rect">
                <a:avLst/>
              </a:prstGeom>
              <a:blipFill>
                <a:blip r:embed="rId9"/>
                <a:stretch>
                  <a:fillRect b="-51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="" xmlns:a16="http://schemas.microsoft.com/office/drawing/2014/main" id="{89147728-59D7-0013-9CE5-C515A0D58F01}"/>
                  </a:ext>
                </a:extLst>
              </p:cNvPr>
              <p:cNvSpPr txBox="1"/>
              <p:nvPr/>
            </p:nvSpPr>
            <p:spPr>
              <a:xfrm>
                <a:off x="2369325" y="1614128"/>
                <a:ext cx="9866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9147728-59D7-0013-9CE5-C515A0D58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325" y="1614128"/>
                <a:ext cx="986680" cy="246221"/>
              </a:xfrm>
              <a:prstGeom prst="rect">
                <a:avLst/>
              </a:prstGeom>
              <a:blipFill>
                <a:blip r:embed="rId10"/>
                <a:stretch>
                  <a:fillRect l="-3086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="" xmlns:a16="http://schemas.microsoft.com/office/drawing/2014/main" id="{CE18272D-6232-55D6-6ACA-0F90045AA72B}"/>
                  </a:ext>
                </a:extLst>
              </p:cNvPr>
              <p:cNvSpPr txBox="1"/>
              <p:nvPr/>
            </p:nvSpPr>
            <p:spPr>
              <a:xfrm>
                <a:off x="1501669" y="2673585"/>
                <a:ext cx="1670137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5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=9.342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sz="15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E18272D-6232-55D6-6ACA-0F90045AA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669" y="2673585"/>
                <a:ext cx="1670137" cy="230832"/>
              </a:xfrm>
              <a:prstGeom prst="rect">
                <a:avLst/>
              </a:prstGeom>
              <a:blipFill>
                <a:blip r:embed="rId11"/>
                <a:stretch>
                  <a:fillRect l="-1825" r="-1095" b="-10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="" xmlns:a16="http://schemas.microsoft.com/office/drawing/2014/main" id="{CC7A223E-A991-EA86-F154-E877A9C249D7}"/>
                  </a:ext>
                </a:extLst>
              </p:cNvPr>
              <p:cNvSpPr txBox="1"/>
              <p:nvPr/>
            </p:nvSpPr>
            <p:spPr>
              <a:xfrm>
                <a:off x="1559613" y="2353616"/>
                <a:ext cx="8792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=4.670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9</a:t>
                </a:r>
                <a:endPara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C7A223E-A991-EA86-F154-E877A9C24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613" y="2353616"/>
                <a:ext cx="879280" cy="215444"/>
              </a:xfrm>
              <a:prstGeom prst="rect">
                <a:avLst/>
              </a:prstGeom>
              <a:blipFill>
                <a:blip r:embed="rId12"/>
                <a:stretch>
                  <a:fillRect l="-7639" t="-25714" r="-9722" b="-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10AE5FF8-A70C-0435-FECB-E7351324736A}"/>
              </a:ext>
            </a:extLst>
          </p:cNvPr>
          <p:cNvSpPr txBox="1"/>
          <p:nvPr/>
        </p:nvSpPr>
        <p:spPr>
          <a:xfrm>
            <a:off x="236254" y="3010572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最小二乘法可以利用全部实验数据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且可方便评价不确定度。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="" xmlns:a16="http://schemas.microsoft.com/office/drawing/2014/main" id="{F36ADE1E-FBA4-AD11-53F9-0500576F3A85}"/>
                  </a:ext>
                </a:extLst>
              </p:cNvPr>
              <p:cNvSpPr txBox="1"/>
              <p:nvPr/>
            </p:nvSpPr>
            <p:spPr>
              <a:xfrm>
                <a:off x="2264114" y="3586793"/>
                <a:ext cx="2367058" cy="727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𝑘</m:t>
                      </m:r>
                      <m:rad>
                        <m:radPr>
                          <m:degHide m:val="on"/>
                          <m:ctrlPr>
                            <a:rPr lang="en-US" altLang="zh-CN" sz="1600" i="1">
                              <a:latin typeface="Cambria Math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16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/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36ADE1E-FBA4-AD11-53F9-0500576F3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14" y="3586793"/>
                <a:ext cx="2367058" cy="7275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FDB873B2-7CB0-5D5F-944C-AB50D669785E}"/>
              </a:ext>
            </a:extLst>
          </p:cNvPr>
          <p:cNvSpPr txBox="1"/>
          <p:nvPr/>
        </p:nvSpPr>
        <p:spPr>
          <a:xfrm>
            <a:off x="542298" y="382044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斜率的标准差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="" xmlns:a16="http://schemas.microsoft.com/office/drawing/2014/main" id="{4FD13ADB-3CE2-E4C2-399D-A5D96F94FBBA}"/>
              </a:ext>
            </a:extLst>
          </p:cNvPr>
          <p:cNvSpPr txBox="1"/>
          <p:nvPr/>
        </p:nvSpPr>
        <p:spPr>
          <a:xfrm>
            <a:off x="236254" y="4351514"/>
            <a:ext cx="5666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严格来说最小二乘法计算的标准差是属于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类不确定度</a:t>
            </a:r>
            <a:endParaRPr lang="en-US" altLang="zh-CN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其自由度为测量次数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6002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1">
            <a:extLst>
              <a:ext uri="{FF2B5EF4-FFF2-40B4-BE49-F238E27FC236}">
                <a16:creationId xmlns="" xmlns:a16="http://schemas.microsoft.com/office/drawing/2014/main" id="{F187697D-17C1-01FB-2FDC-A1CD087FF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363" y="208261"/>
            <a:ext cx="1854609" cy="584200"/>
          </a:xfrm>
          <a:prstGeom prst="rect">
            <a:avLst/>
          </a:prstGeom>
          <a:solidFill>
            <a:srgbClr val="4A7886"/>
          </a:solidFill>
          <a:ln w="9525">
            <a:noFill/>
            <a:miter lim="800000"/>
          </a:ln>
        </p:spPr>
        <p:txBody>
          <a:bodyPr wrap="none" anchor="ctr"/>
          <a:lstStyle/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48BB96A2-E7D6-F3DF-E08B-89646EF971E2}"/>
              </a:ext>
            </a:extLst>
          </p:cNvPr>
          <p:cNvSpPr/>
          <p:nvPr/>
        </p:nvSpPr>
        <p:spPr>
          <a:xfrm>
            <a:off x="1583667" y="895146"/>
            <a:ext cx="4532010" cy="3346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zh-CN" sz="2400" b="1" dirty="0">
                <a:solidFill>
                  <a:srgbClr val="792B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帮助文件的使用</a:t>
            </a:r>
            <a:endParaRPr lang="en-US" altLang="zh-CN" sz="2400" b="1" dirty="0">
              <a:solidFill>
                <a:srgbClr val="792B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zh-CN" sz="2400" b="1" dirty="0">
                <a:solidFill>
                  <a:srgbClr val="792B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直接输入数据</a:t>
            </a:r>
            <a:endParaRPr lang="en-US" altLang="zh-CN" sz="2400" b="1" dirty="0">
              <a:solidFill>
                <a:srgbClr val="792B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zh-CN" sz="2400" b="1" dirty="0">
                <a:solidFill>
                  <a:srgbClr val="792B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使用文件输入、输出数据</a:t>
            </a:r>
            <a:endParaRPr lang="en-US" altLang="zh-CN" sz="2400" b="1" dirty="0">
              <a:solidFill>
                <a:srgbClr val="792B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zh-CN" sz="2400" b="1" dirty="0">
                <a:solidFill>
                  <a:srgbClr val="792B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列统计：单列数据的误差处理</a:t>
            </a:r>
            <a:endParaRPr lang="en-US" altLang="zh-CN" sz="2400" b="1" dirty="0">
              <a:solidFill>
                <a:srgbClr val="792B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zh-CN" sz="2400" b="1" dirty="0">
                <a:solidFill>
                  <a:srgbClr val="792B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作图</a:t>
            </a:r>
            <a:r>
              <a:rPr lang="zh-CN" altLang="en-US" sz="2400" b="1" dirty="0">
                <a:solidFill>
                  <a:srgbClr val="792B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及图形输出</a:t>
            </a:r>
            <a:endParaRPr lang="en-US" altLang="zh-CN" sz="2400" b="1" dirty="0">
              <a:solidFill>
                <a:srgbClr val="792B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zh-CN" sz="2400" b="1" dirty="0">
                <a:solidFill>
                  <a:srgbClr val="792B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数据处理</a:t>
            </a:r>
            <a:r>
              <a:rPr lang="zh-CN" altLang="en-US" sz="2400" b="1" dirty="0">
                <a:solidFill>
                  <a:srgbClr val="792B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基本操作</a:t>
            </a:r>
          </a:p>
        </p:txBody>
      </p:sp>
      <p:sp>
        <p:nvSpPr>
          <p:cNvPr id="9" name="文本框 55">
            <a:extLst>
              <a:ext uri="{FF2B5EF4-FFF2-40B4-BE49-F238E27FC236}">
                <a16:creationId xmlns="" xmlns:a16="http://schemas.microsoft.com/office/drawing/2014/main" id="{21B04EDF-BEA7-0985-B7D0-F2198F941529}"/>
              </a:ext>
            </a:extLst>
          </p:cNvPr>
          <p:cNvSpPr txBox="1"/>
          <p:nvPr/>
        </p:nvSpPr>
        <p:spPr>
          <a:xfrm>
            <a:off x="8301182" y="63361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itchFamily="34" charset="-122"/>
                <a:ea typeface="微软雅黑" pitchFamily="34" charset="-122"/>
              </a:rPr>
              <a:t>物理实验中心</a:t>
            </a:r>
          </a:p>
        </p:txBody>
      </p:sp>
      <p:pic>
        <p:nvPicPr>
          <p:cNvPr id="10" name="图片 9" descr="图片2.jpg">
            <a:extLst>
              <a:ext uri="{FF2B5EF4-FFF2-40B4-BE49-F238E27FC236}">
                <a16:creationId xmlns="" xmlns:a16="http://schemas.microsoft.com/office/drawing/2014/main" id="{83F2EC67-E83D-BFEB-3D22-3BD9AA5479E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07324" y="268571"/>
            <a:ext cx="950976" cy="396240"/>
          </a:xfrm>
          <a:prstGeom prst="rect">
            <a:avLst/>
          </a:prstGeom>
        </p:spPr>
      </p:pic>
      <p:pic>
        <p:nvPicPr>
          <p:cNvPr id="11" name="图片 10" descr="图片4.jpg">
            <a:extLst>
              <a:ext uri="{FF2B5EF4-FFF2-40B4-BE49-F238E27FC236}">
                <a16:creationId xmlns="" xmlns:a16="http://schemas.microsoft.com/office/drawing/2014/main" id="{63C26A53-CBD1-ADF8-DDFC-76146C79049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17867" y="3316232"/>
            <a:ext cx="718310" cy="181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73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  <a:scene3d>
          <a:camera prst="orthographicFront"/>
          <a:lightRig rig="threePt" dir="t"/>
        </a:scene3d>
        <a:sp3d contourW="12700"/>
      </a:bodyPr>
      <a:lstStyle>
        <a:defPPr>
          <a:lnSpc>
            <a:spcPct val="150000"/>
          </a:lnSpc>
          <a:defRPr sz="1600" b="1" dirty="0">
            <a:solidFill>
              <a:srgbClr val="C00000"/>
            </a:solidFill>
            <a:latin typeface="黑体" pitchFamily="49" charset="-122"/>
            <a:ea typeface="黑体" pitchFamily="49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5904</TotalTime>
  <Words>4079</Words>
  <Application>Microsoft Office PowerPoint</Application>
  <PresentationFormat>全屏显示(16:9)</PresentationFormat>
  <Paragraphs>386</Paragraphs>
  <Slides>31</Slides>
  <Notes>28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34" baseType="lpstr">
      <vt:lpstr>Office 主题</vt:lpstr>
      <vt:lpstr>Equation</vt:lpstr>
      <vt:lpstr>Graph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kk</dc:creator>
  <cp:lastModifiedBy>ltg</cp:lastModifiedBy>
  <cp:revision>225</cp:revision>
  <dcterms:created xsi:type="dcterms:W3CDTF">2016-11-25T11:25:31Z</dcterms:created>
  <dcterms:modified xsi:type="dcterms:W3CDTF">2026-03-03T09:11:26Z</dcterms:modified>
</cp:coreProperties>
</file>