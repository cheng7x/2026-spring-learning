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64" r:id="rId2"/>
    <p:sldId id="352" r:id="rId3"/>
    <p:sldId id="381" r:id="rId4"/>
    <p:sldId id="397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8" r:id="rId14"/>
    <p:sldId id="392" r:id="rId15"/>
    <p:sldId id="393" r:id="rId16"/>
    <p:sldId id="399" r:id="rId17"/>
    <p:sldId id="395" r:id="rId18"/>
    <p:sldId id="394" r:id="rId19"/>
    <p:sldId id="396" r:id="rId20"/>
  </p:sldIdLst>
  <p:sldSz cx="9144000" cy="5143500" type="screen16x9"/>
  <p:notesSz cx="6858000" cy="9144000"/>
  <p:custDataLst>
    <p:tags r:id="rId22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1A3F6C"/>
    <a:srgbClr val="4A7886"/>
    <a:srgbClr val="931E23"/>
    <a:srgbClr val="A92C23"/>
    <a:srgbClr val="C8A17E"/>
    <a:srgbClr val="B02423"/>
    <a:srgbClr val="F4F4F4"/>
    <a:srgbClr val="FCFCF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99" autoAdjust="0"/>
  </p:normalViewPr>
  <p:slideViewPr>
    <p:cSldViewPr snapToGrid="0">
      <p:cViewPr varScale="1">
        <p:scale>
          <a:sx n="139" d="100"/>
          <a:sy n="139" d="100"/>
        </p:scale>
        <p:origin x="63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3F5F2-24E0-4DB2-B40E-55A05319CE24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6A24-00E0-4DF0-99BB-272C5A438FD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3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96930-60A3-A49D-0032-8C6C1621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02DD32-753E-CAD6-E77C-49DDD2FC9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0681F0-8981-51D6-DE50-464B66DF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69A4B-B34C-C298-2F97-88B7FB315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67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43CE2-A47B-08B7-6F10-A9B8FF10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B65E4C-23A6-1BC2-F007-74DA4E7C1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1A79F8-4431-0465-61FA-2A7C6094B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04FAB-3127-2C96-7257-16156109F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893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E9D9-C111-AAB1-DDD2-44AE51F9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7B9AB7-72A8-7C00-B066-7914E8BA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B318AD-6889-9679-2A38-151EA7CE4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033375-9A94-2DC0-797F-2BBD2C18B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864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9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3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1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4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8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4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3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9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0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0.wmf"/><Relationship Id="rId4" Type="http://schemas.openxmlformats.org/officeDocument/2006/relationships/image" Target="../media/image1.jpeg"/><Relationship Id="rId9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0.wmf"/><Relationship Id="rId4" Type="http://schemas.openxmlformats.org/officeDocument/2006/relationships/image" Target="../media/image1.jpeg"/><Relationship Id="rId9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6.wmf"/><Relationship Id="rId4" Type="http://schemas.openxmlformats.org/officeDocument/2006/relationships/image" Target="../media/image1.jpeg"/><Relationship Id="rId9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.jpe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.jpe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5.wmf"/><Relationship Id="rId4" Type="http://schemas.openxmlformats.org/officeDocument/2006/relationships/image" Target="../media/image1.jpeg"/><Relationship Id="rId9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9.wmf"/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12" Type="http://schemas.openxmlformats.org/officeDocument/2006/relationships/oleObject" Target="../embeddings/oleObject2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11" Type="http://schemas.openxmlformats.org/officeDocument/2006/relationships/image" Target="../media/image28.wmf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1.jpeg"/><Relationship Id="rId9" Type="http://schemas.openxmlformats.org/officeDocument/2006/relationships/image" Target="../media/image2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1.bin"/><Relationship Id="rId3" Type="http://schemas.openxmlformats.org/officeDocument/2006/relationships/image" Target="../media/image2.jpeg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7.wmf"/><Relationship Id="rId4" Type="http://schemas.openxmlformats.org/officeDocument/2006/relationships/image" Target="../media/image1.jpeg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.jpe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1.jpeg"/><Relationship Id="rId7" Type="http://schemas.openxmlformats.org/officeDocument/2006/relationships/image" Target="../media/image3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" y="1995661"/>
            <a:ext cx="9144000" cy="84141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42" name="文本框 30">
            <a:extLst>
              <a:ext uri="{FF2B5EF4-FFF2-40B4-BE49-F238E27FC236}">
                <a16:creationId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0" y="1415233"/>
            <a:ext cx="437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spcBef>
                <a:spcPct val="20000"/>
              </a:spcBef>
            </a:pPr>
            <a:r>
              <a:rPr lang="zh-CN" altLang="en-US" sz="32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大学物理实验</a:t>
            </a:r>
          </a:p>
        </p:txBody>
      </p:sp>
      <p:sp>
        <p:nvSpPr>
          <p:cNvPr id="43" name="文本框 30">
            <a:extLst>
              <a:ext uri="{FF2B5EF4-FFF2-40B4-BE49-F238E27FC236}">
                <a16:creationId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1071001" y="2062427"/>
            <a:ext cx="70019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数据处理与误差分析（二）</a:t>
            </a:r>
            <a:endParaRPr lang="zh-CN" altLang="en-US" sz="40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7" name="图片 46" descr="图片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60" y="2955182"/>
            <a:ext cx="810768" cy="2048256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7882116" y="81922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物理实验中心</a:t>
            </a:r>
            <a:endParaRPr lang="zh-CN" altLang="en-US" dirty="0">
              <a:solidFill>
                <a:srgbClr val="1A3F6C"/>
              </a:solidFill>
            </a:endParaRPr>
          </a:p>
        </p:txBody>
      </p:sp>
      <p:pic>
        <p:nvPicPr>
          <p:cNvPr id="49" name="图片 48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00988" y="234188"/>
            <a:ext cx="1407320" cy="586384"/>
          </a:xfrm>
          <a:prstGeom prst="rect">
            <a:avLst/>
          </a:prstGeom>
        </p:spPr>
      </p:pic>
      <p:pic>
        <p:nvPicPr>
          <p:cNvPr id="56" name="Picture 2" descr="http://spe.hnu.edu.cn/__local/3/7B/2F/D579F627F7D3E91FAE08CAB1264_1A148737_11A6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2311" y="2992581"/>
            <a:ext cx="1630822" cy="972000"/>
          </a:xfrm>
          <a:prstGeom prst="rect">
            <a:avLst/>
          </a:prstGeom>
          <a:noFill/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6BA52F13-CF7D-40E5-BDDB-3A87AE643B3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856767" y="4013907"/>
            <a:ext cx="1613380" cy="977269"/>
          </a:xfrm>
          <a:prstGeom prst="rect">
            <a:avLst/>
          </a:prstGeom>
        </p:spPr>
      </p:pic>
      <p:pic>
        <p:nvPicPr>
          <p:cNvPr id="58" name="图片 6" descr="17">
            <a:extLst>
              <a:ext uri="{FF2B5EF4-FFF2-40B4-BE49-F238E27FC236}">
                <a16:creationId xmlns:a16="http://schemas.microsoft.com/office/drawing/2014/main" id="{FFABDE8C-76BD-4432-B8C3-C67F3531F32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5188599" y="4031574"/>
            <a:ext cx="1610714" cy="973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78E21CD4-03E5-4CDE-A92C-E3ECF60DCDDF}"/>
              </a:ext>
            </a:extLst>
          </p:cNvPr>
          <p:cNvSpPr/>
          <p:nvPr/>
        </p:nvSpPr>
        <p:spPr>
          <a:xfrm>
            <a:off x="5188599" y="2994570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869D088-521C-4DEC-A8D1-5E58E0C4EF59}"/>
              </a:ext>
            </a:extLst>
          </p:cNvPr>
          <p:cNvSpPr/>
          <p:nvPr/>
        </p:nvSpPr>
        <p:spPr>
          <a:xfrm>
            <a:off x="8542067" y="4013907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pic>
        <p:nvPicPr>
          <p:cNvPr id="61" name="Picture 4" descr="https://timgsa.baidu.com/timg?image&amp;quality=80&amp;size=b9999_10000&amp;sec=1594637107895&amp;di=8259f08702bd64f7dc9b78fb72aa5a52&amp;imgtype=0&amp;src=http%3A%2F%2F5b0988e595225.cdn.sohucs.com%2Fimages%2F20180112%2F0e8f312c2d4248c99f1fe40e52d34d37.jpe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92038" y="4015687"/>
            <a:ext cx="3274154" cy="991133"/>
          </a:xfrm>
          <a:prstGeom prst="rect">
            <a:avLst/>
          </a:prstGeom>
          <a:noFill/>
        </p:spPr>
      </p:pic>
      <p:pic>
        <p:nvPicPr>
          <p:cNvPr id="62" name="图片 61" descr="湖南大学门匾.jpg"/>
          <p:cNvPicPr>
            <a:picLocks noChangeAspect="1"/>
          </p:cNvPicPr>
          <p:nvPr/>
        </p:nvPicPr>
        <p:blipFill>
          <a:blip r:embed="rId8" cstate="print"/>
          <a:srcRect t="5283" b="3943"/>
          <a:stretch>
            <a:fillRect/>
          </a:stretch>
        </p:blipFill>
        <p:spPr>
          <a:xfrm>
            <a:off x="7440460" y="2981194"/>
            <a:ext cx="1565754" cy="97200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3100AEF4-BCEA-4A36-847D-953391623A10}"/>
              </a:ext>
            </a:extLst>
          </p:cNvPr>
          <p:cNvSpPr/>
          <p:nvPr/>
        </p:nvSpPr>
        <p:spPr>
          <a:xfrm>
            <a:off x="7442180" y="2984304"/>
            <a:ext cx="1576560" cy="967796"/>
          </a:xfrm>
          <a:prstGeom prst="rect">
            <a:avLst/>
          </a:prstGeom>
          <a:solidFill>
            <a:srgbClr val="1A3F6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2806115" y="1763285"/>
            <a:ext cx="3623291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随机误差及其估算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120034" y="108314"/>
            <a:ext cx="369472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随机误差及其估算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8683" y="1028141"/>
            <a:ext cx="50891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随机变量的一种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由大量、微小、不相关的因素影响的随机变量</a:t>
            </a:r>
            <a:endParaRPr lang="en-US" altLang="zh-CN" sz="16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1538" y="1978684"/>
            <a:ext cx="4374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随机误差满足高斯分布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（正态分布）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440377" y="1213610"/>
            <a:ext cx="3267869" cy="2986917"/>
            <a:chOff x="4754571" y="963581"/>
            <a:chExt cx="3267869" cy="2986917"/>
          </a:xfrm>
        </p:grpSpPr>
        <p:grpSp>
          <p:nvGrpSpPr>
            <p:cNvPr id="14" name="组合 101"/>
            <p:cNvGrpSpPr>
              <a:grpSpLocks/>
            </p:cNvGrpSpPr>
            <p:nvPr/>
          </p:nvGrpSpPr>
          <p:grpSpPr bwMode="auto">
            <a:xfrm>
              <a:off x="4754571" y="963581"/>
              <a:ext cx="3267869" cy="2986917"/>
              <a:chOff x="409518" y="2005049"/>
              <a:chExt cx="3943404" cy="3443603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2066891" y="2516223"/>
                <a:ext cx="131765" cy="262889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2198656" y="2552735"/>
                <a:ext cx="109538" cy="2592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308194" y="2881347"/>
                <a:ext cx="109540" cy="226376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7" name="组合 87"/>
              <p:cNvGrpSpPr>
                <a:grpSpLocks/>
              </p:cNvGrpSpPr>
              <p:nvPr/>
            </p:nvGrpSpPr>
            <p:grpSpPr bwMode="auto">
              <a:xfrm>
                <a:off x="409518" y="2005049"/>
                <a:ext cx="3943404" cy="3443603"/>
                <a:chOff x="409518" y="2005049"/>
                <a:chExt cx="3943404" cy="3443603"/>
              </a:xfrm>
            </p:grpSpPr>
            <p:grpSp>
              <p:nvGrpSpPr>
                <p:cNvPr id="34" name="组合 86"/>
                <p:cNvGrpSpPr>
                  <a:grpSpLocks/>
                </p:cNvGrpSpPr>
                <p:nvPr/>
              </p:nvGrpSpPr>
              <p:grpSpPr bwMode="auto">
                <a:xfrm>
                  <a:off x="409518" y="2005049"/>
                  <a:ext cx="3943404" cy="3443603"/>
                  <a:chOff x="409518" y="2005049"/>
                  <a:chExt cx="3943404" cy="3443603"/>
                </a:xfrm>
              </p:grpSpPr>
              <p:grpSp>
                <p:nvGrpSpPr>
                  <p:cNvPr id="36" name="组合 83"/>
                  <p:cNvGrpSpPr>
                    <a:grpSpLocks/>
                  </p:cNvGrpSpPr>
                  <p:nvPr/>
                </p:nvGrpSpPr>
                <p:grpSpPr bwMode="auto">
                  <a:xfrm>
                    <a:off x="409518" y="2005049"/>
                    <a:ext cx="3943404" cy="3443603"/>
                    <a:chOff x="263467" y="2151040"/>
                    <a:chExt cx="3943454" cy="3443360"/>
                  </a:xfrm>
                </p:grpSpPr>
                <p:cxnSp>
                  <p:nvCxnSpPr>
                    <p:cNvPr id="38" name="直接箭头连接符 37"/>
                    <p:cNvCxnSpPr/>
                    <p:nvPr/>
                  </p:nvCxnSpPr>
                  <p:spPr>
                    <a:xfrm rot="5400000">
                      <a:off x="-1177878" y="3847953"/>
                      <a:ext cx="2884277" cy="1588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headEnd type="arrow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直接箭头连接符 38"/>
                    <p:cNvCxnSpPr/>
                    <p:nvPr/>
                  </p:nvCxnSpPr>
                  <p:spPr>
                    <a:xfrm rot="10800000">
                      <a:off x="263467" y="5290886"/>
                      <a:ext cx="3610070" cy="0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headEnd type="arrow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0" name="矩形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76667" y="5194319"/>
                      <a:ext cx="730254" cy="400081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US" altLang="zh-CN" sz="1600" i="1">
                          <a:solidFill>
                            <a:srgbClr val="1A3F6C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x</a:t>
                      </a:r>
                      <a:endParaRPr lang="zh-CN" altLang="en-US" sz="1600">
                        <a:solidFill>
                          <a:srgbClr val="1A3F6C"/>
                        </a:solidFill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41" name="矩形 40"/>
                    <p:cNvSpPr/>
                    <p:nvPr/>
                  </p:nvSpPr>
                  <p:spPr>
                    <a:xfrm>
                      <a:off x="373008" y="2151040"/>
                      <a:ext cx="346644" cy="39029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altLang="zh-CN" sz="1600" i="1" dirty="0">
                          <a:solidFill>
                            <a:srgbClr val="1A3F6C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n</a:t>
                      </a:r>
                      <a:endParaRPr lang="zh-CN" altLang="en-US" sz="1600" i="1" dirty="0">
                        <a:solidFill>
                          <a:srgbClr val="1A3F6C"/>
                        </a:solidFill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7" name="Text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55744" y="5020299"/>
                    <a:ext cx="328618" cy="40010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l-GR" altLang="zh-CN" sz="1600" i="1">
                        <a:solidFill>
                          <a:srgbClr val="1A3F6C"/>
                        </a:solidFill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rPr>
                      <a:t>μ</a:t>
                    </a:r>
                    <a:endParaRPr lang="zh-CN" altLang="en-US" sz="1600" i="1">
                      <a:solidFill>
                        <a:srgbClr val="1A3F6C"/>
                      </a:solidFill>
                      <a:latin typeface="Times New Roman" pitchFamily="18" charset="0"/>
                      <a:ea typeface="微软雅黑" pitchFamily="34" charset="-122"/>
                      <a:cs typeface="Times New Roman" pitchFamily="18" charset="0"/>
                    </a:endParaRPr>
                  </a:p>
                </p:txBody>
              </p:sp>
            </p:grpSp>
            <p:cxnSp>
              <p:nvCxnSpPr>
                <p:cNvPr id="35" name="直接连接符 34"/>
                <p:cNvCxnSpPr/>
                <p:nvPr/>
              </p:nvCxnSpPr>
              <p:spPr>
                <a:xfrm rot="5400000" flipH="1" flipV="1">
                  <a:off x="2084335" y="5089553"/>
                  <a:ext cx="109538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矩形 19"/>
              <p:cNvSpPr/>
              <p:nvPr/>
            </p:nvSpPr>
            <p:spPr>
              <a:xfrm>
                <a:off x="2417734" y="3319496"/>
                <a:ext cx="109538" cy="18256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2527272" y="3538570"/>
                <a:ext cx="109540" cy="160654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2636812" y="4049744"/>
                <a:ext cx="109538" cy="109537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2746350" y="4487893"/>
                <a:ext cx="109540" cy="65722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2855890" y="4816504"/>
                <a:ext cx="109538" cy="32861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2965428" y="4926041"/>
                <a:ext cx="109540" cy="21907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1833526" y="3027396"/>
                <a:ext cx="123827" cy="21177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52589" y="2771809"/>
                <a:ext cx="109540" cy="23733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723986" y="3684620"/>
                <a:ext cx="100014" cy="14604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614448" y="3830669"/>
                <a:ext cx="109538" cy="13144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504908" y="4437391"/>
                <a:ext cx="109540" cy="7064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395370" y="4706967"/>
                <a:ext cx="109538" cy="43814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1285830" y="4889529"/>
                <a:ext cx="109540" cy="25558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176292" y="4962553"/>
                <a:ext cx="109538" cy="18256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5" name="矩形 14"/>
            <p:cNvSpPr>
              <a:spLocks noChangeArrowheads="1"/>
            </p:cNvSpPr>
            <p:nvPr/>
          </p:nvSpPr>
          <p:spPr bwMode="auto">
            <a:xfrm>
              <a:off x="6689725" y="1509676"/>
              <a:ext cx="123983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l-GR" altLang="zh-CN" sz="16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μ</a:t>
              </a:r>
              <a:r>
                <a:rPr lang="zh-CN" altLang="en-US" sz="16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：真值</a:t>
              </a:r>
            </a:p>
          </p:txBody>
        </p:sp>
      </p:grpSp>
      <p:sp>
        <p:nvSpPr>
          <p:cNvPr id="42" name="TextBox 27"/>
          <p:cNvSpPr txBox="1">
            <a:spLocks noChangeArrowheads="1"/>
          </p:cNvSpPr>
          <p:nvPr/>
        </p:nvSpPr>
        <p:spPr bwMode="auto">
          <a:xfrm>
            <a:off x="738189" y="2621451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大量的测量值，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x</a:t>
            </a:r>
            <a:r>
              <a:rPr lang="en-US" altLang="zh-CN" sz="2000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… , x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781050" y="3264218"/>
            <a:ext cx="36512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统计：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在一系列小区间中出现的次数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，作出分布图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endParaRPr lang="zh-CN" altLang="en-US" sz="2000" i="1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4" name="矩形 80"/>
          <p:cNvSpPr>
            <a:spLocks noChangeArrowheads="1"/>
          </p:cNvSpPr>
          <p:nvPr/>
        </p:nvSpPr>
        <p:spPr bwMode="auto">
          <a:xfrm>
            <a:off x="738188" y="4214760"/>
            <a:ext cx="5248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→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∞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，则可得到连续曲线：满足高斯分布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A4E9-7840-69F6-A97E-280E16104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7F59490D-7740-FAEB-FF87-C4CA194FCE0F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67A729D9-BC29-A3EF-D05B-CE680E22D931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:a16="http://schemas.microsoft.com/office/drawing/2014/main" id="{C608F657-87C1-3841-6E78-7E7E0E568A1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:a16="http://schemas.microsoft.com/office/drawing/2014/main" id="{85716BDA-0045-C771-4EDD-79E4D85A780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8EDD52-4759-960A-89BA-A3E29C5EEEFD}"/>
              </a:ext>
            </a:extLst>
          </p:cNvPr>
          <p:cNvSpPr/>
          <p:nvPr/>
        </p:nvSpPr>
        <p:spPr>
          <a:xfrm>
            <a:off x="120034" y="108314"/>
            <a:ext cx="369472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随机误差及其估算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8AFBEC-7093-A718-69DF-7A29EA54CB23}"/>
              </a:ext>
            </a:extLst>
          </p:cNvPr>
          <p:cNvSpPr/>
          <p:nvPr/>
        </p:nvSpPr>
        <p:spPr>
          <a:xfrm>
            <a:off x="318683" y="1028141"/>
            <a:ext cx="50891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随机变量的一种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由大量、微小、不相关的因素影响的随机变量</a:t>
            </a:r>
            <a:endParaRPr lang="en-US" altLang="zh-CN" sz="16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DCE293-C644-8859-A27A-B5C1E7DE6DF1}"/>
              </a:ext>
            </a:extLst>
          </p:cNvPr>
          <p:cNvSpPr/>
          <p:nvPr/>
        </p:nvSpPr>
        <p:spPr>
          <a:xfrm>
            <a:off x="5672001" y="983139"/>
            <a:ext cx="28325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→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∞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时，测量值的频次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满足高斯分布（正态分布）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87AFDC8A-82C0-80D4-E91F-41A244D76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054835"/>
              </p:ext>
            </p:extLst>
          </p:nvPr>
        </p:nvGraphicFramePr>
        <p:xfrm>
          <a:off x="2722496" y="2002195"/>
          <a:ext cx="22717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469800" progId="Equation.DSMT4">
                  <p:embed/>
                </p:oleObj>
              </mc:Choice>
              <mc:Fallback>
                <p:oleObj name="Equation" r:id="rId5" imgW="1307880" imgH="469800" progId="Equation.DSMT4">
                  <p:embed/>
                  <p:pic>
                    <p:nvPicPr>
                      <p:cNvPr id="6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496" y="2002195"/>
                        <a:ext cx="2271713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65">
            <a:extLst>
              <a:ext uri="{FF2B5EF4-FFF2-40B4-BE49-F238E27FC236}">
                <a16:creationId xmlns:a16="http://schemas.microsoft.com/office/drawing/2014/main" id="{AF37FCF7-1E62-4F4A-ACBF-FD92C26C85FE}"/>
              </a:ext>
            </a:extLst>
          </p:cNvPr>
          <p:cNvSpPr txBox="1"/>
          <p:nvPr/>
        </p:nvSpPr>
        <p:spPr>
          <a:xfrm>
            <a:off x="5436493" y="3725016"/>
            <a:ext cx="33032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的物理意义：  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 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x</a:t>
            </a:r>
            <a:r>
              <a:rPr lang="en-US" altLang="zh-CN" sz="2000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 的概率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D9D37E38-DADB-628C-B4A5-E5564EAED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038035"/>
              </p:ext>
            </p:extLst>
          </p:nvPr>
        </p:nvGraphicFramePr>
        <p:xfrm>
          <a:off x="318683" y="1695461"/>
          <a:ext cx="4354772" cy="331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303360" imgH="2511360" progId="Origin50.Graph">
                  <p:embed/>
                </p:oleObj>
              </mc:Choice>
              <mc:Fallback>
                <p:oleObj name="Graph" r:id="rId7" imgW="3303360" imgH="2511360" progId="Origin50.Graph">
                  <p:embed/>
                  <p:pic>
                    <p:nvPicPr>
                      <p:cNvPr id="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83" y="1695461"/>
                        <a:ext cx="4354772" cy="3310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59">
            <a:extLst>
              <a:ext uri="{FF2B5EF4-FFF2-40B4-BE49-F238E27FC236}">
                <a16:creationId xmlns:a16="http://schemas.microsoft.com/office/drawing/2014/main" id="{C590DA88-EB6E-DA46-CCA4-3F75E18994B4}"/>
              </a:ext>
            </a:extLst>
          </p:cNvPr>
          <p:cNvGrpSpPr>
            <a:grpSpLocks/>
          </p:cNvGrpSpPr>
          <p:nvPr/>
        </p:nvGrpSpPr>
        <p:grpSpPr bwMode="auto">
          <a:xfrm>
            <a:off x="2768958" y="3252127"/>
            <a:ext cx="1302298" cy="1500378"/>
            <a:chOff x="3518086" y="2679978"/>
            <a:chExt cx="1797109" cy="2014515"/>
          </a:xfrm>
        </p:grpSpPr>
        <p:grpSp>
          <p:nvGrpSpPr>
            <p:cNvPr id="9" name="组合 24">
              <a:extLst>
                <a:ext uri="{FF2B5EF4-FFF2-40B4-BE49-F238E27FC236}">
                  <a16:creationId xmlns:a16="http://schemas.microsoft.com/office/drawing/2014/main" id="{0E858488-456E-4094-D9B3-492F5D92A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8086" y="3233463"/>
              <a:ext cx="1797109" cy="1461030"/>
              <a:chOff x="4485326" y="3489471"/>
              <a:chExt cx="1928755" cy="1696582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5635F42-F324-ACB6-C1A5-A14B17D7A54F}"/>
                  </a:ext>
                </a:extLst>
              </p:cNvPr>
              <p:cNvCxnSpPr/>
              <p:nvPr/>
            </p:nvCxnSpPr>
            <p:spPr bwMode="auto">
              <a:xfrm rot="5400000">
                <a:off x="4150589" y="4091444"/>
                <a:ext cx="1205650" cy="17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F9E0B956-5BF7-1FE0-4BD4-CEE958D4BFAB}"/>
                  </a:ext>
                </a:extLst>
              </p:cNvPr>
              <p:cNvCxnSpPr/>
              <p:nvPr/>
            </p:nvCxnSpPr>
            <p:spPr bwMode="auto">
              <a:xfrm rot="5400000">
                <a:off x="4755306" y="4431569"/>
                <a:ext cx="510651" cy="17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967D804-9073-41CB-EDFE-19CE476CB14D}"/>
                  </a:ext>
                </a:extLst>
              </p:cNvPr>
              <p:cNvCxnSpPr/>
              <p:nvPr/>
            </p:nvCxnSpPr>
            <p:spPr bwMode="auto">
              <a:xfrm rot="5400000">
                <a:off x="4749620" y="3626848"/>
                <a:ext cx="77427" cy="68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FCF29F2-63BE-A2D6-5BFA-705905B42D3C}"/>
                  </a:ext>
                </a:extLst>
              </p:cNvPr>
              <p:cNvCxnSpPr/>
              <p:nvPr/>
            </p:nvCxnSpPr>
            <p:spPr bwMode="auto">
              <a:xfrm rot="5400000">
                <a:off x="4717522" y="3758495"/>
                <a:ext cx="182506" cy="1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A39F17E9-EE40-3A53-FBB6-CFFF708EBB2D}"/>
                  </a:ext>
                </a:extLst>
              </p:cNvPr>
              <p:cNvCxnSpPr/>
              <p:nvPr/>
            </p:nvCxnSpPr>
            <p:spPr bwMode="auto">
              <a:xfrm rot="5400000">
                <a:off x="4732852" y="3882010"/>
                <a:ext cx="182507" cy="1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B33E5FB-A59F-5CC1-71ED-435CA539393C}"/>
                  </a:ext>
                </a:extLst>
              </p:cNvPr>
              <p:cNvCxnSpPr/>
              <p:nvPr/>
            </p:nvCxnSpPr>
            <p:spPr bwMode="auto">
              <a:xfrm rot="5400000">
                <a:off x="4717825" y="4012595"/>
                <a:ext cx="219376" cy="1464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A4EE49F-303B-F7B9-54E9-475EE13F0D22}"/>
                  </a:ext>
                </a:extLst>
              </p:cNvPr>
              <p:cNvCxnSpPr/>
              <p:nvPr/>
            </p:nvCxnSpPr>
            <p:spPr bwMode="auto">
              <a:xfrm rot="5400000">
                <a:off x="4699762" y="4104398"/>
                <a:ext cx="291273" cy="1822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5E48CCC-DFFA-6B07-3952-897EC59606C6}"/>
                  </a:ext>
                </a:extLst>
              </p:cNvPr>
              <p:cNvCxnSpPr/>
              <p:nvPr/>
            </p:nvCxnSpPr>
            <p:spPr bwMode="auto">
              <a:xfrm rot="5400000">
                <a:off x="4699994" y="4212932"/>
                <a:ext cx="329987" cy="2214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D41B47DC-CFD5-3042-761F-B355C497D89D}"/>
                  </a:ext>
                </a:extLst>
              </p:cNvPr>
              <p:cNvCxnSpPr/>
              <p:nvPr/>
            </p:nvCxnSpPr>
            <p:spPr bwMode="auto">
              <a:xfrm rot="5400000">
                <a:off x="4704627" y="4325025"/>
                <a:ext cx="365013" cy="2350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15943EB-DDB1-E47A-81F2-61C7D12DFCFB}"/>
                  </a:ext>
                </a:extLst>
              </p:cNvPr>
              <p:cNvCxnSpPr/>
              <p:nvPr/>
            </p:nvCxnSpPr>
            <p:spPr bwMode="auto">
              <a:xfrm rot="5400000">
                <a:off x="4804700" y="4488219"/>
                <a:ext cx="219376" cy="1464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CEAA595C-DC32-5306-C9F6-060D2EFD1271}"/>
                  </a:ext>
                </a:extLst>
              </p:cNvPr>
              <p:cNvCxnSpPr/>
              <p:nvPr/>
            </p:nvCxnSpPr>
            <p:spPr bwMode="auto">
              <a:xfrm rot="5400000">
                <a:off x="4917851" y="4579226"/>
                <a:ext cx="110610" cy="732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87">
                <a:extLst>
                  <a:ext uri="{FF2B5EF4-FFF2-40B4-BE49-F238E27FC236}">
                    <a16:creationId xmlns:a16="http://schemas.microsoft.com/office/drawing/2014/main" id="{C3159632-40EA-0AC2-E73B-9A224B599D39}"/>
                  </a:ext>
                </a:extLst>
              </p:cNvPr>
              <p:cNvSpPr txBox="1"/>
              <p:nvPr/>
            </p:nvSpPr>
            <p:spPr bwMode="auto">
              <a:xfrm>
                <a:off x="4485326" y="4706184"/>
                <a:ext cx="1928755" cy="479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1400" i="1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x</a:t>
                </a:r>
                <a:r>
                  <a:rPr lang="en-US" altLang="zh-CN" sz="1400" baseline="-2500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1  </a:t>
                </a:r>
                <a:r>
                  <a:rPr lang="en-US" altLang="zh-CN" sz="1400" i="1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 x</a:t>
                </a:r>
                <a:r>
                  <a:rPr lang="en-US" altLang="zh-CN" sz="1400" baseline="-2500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1</a:t>
                </a:r>
                <a:r>
                  <a:rPr lang="en-US" altLang="zh-CN" sz="1400" i="1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+</a:t>
                </a:r>
                <a:r>
                  <a:rPr lang="el-GR" altLang="zh-CN" sz="14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Δ</a:t>
                </a:r>
                <a:r>
                  <a:rPr lang="en-US" altLang="zh-CN" sz="1400" i="1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x  </a:t>
                </a:r>
                <a:endParaRPr lang="zh-CN" altLang="en-US" sz="14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0" name="组合 25">
              <a:extLst>
                <a:ext uri="{FF2B5EF4-FFF2-40B4-BE49-F238E27FC236}">
                  <a16:creationId xmlns:a16="http://schemas.microsoft.com/office/drawing/2014/main" id="{AF8D0548-5374-9EF5-406B-E385307153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8440" y="2679978"/>
              <a:ext cx="740845" cy="887757"/>
              <a:chOff x="7272654" y="6535098"/>
              <a:chExt cx="795113" cy="1030881"/>
            </a:xfrm>
          </p:grpSpPr>
          <p:sp>
            <p:nvSpPr>
              <p:cNvPr id="11" name="任意多边形 70">
                <a:extLst>
                  <a:ext uri="{FF2B5EF4-FFF2-40B4-BE49-F238E27FC236}">
                    <a16:creationId xmlns:a16="http://schemas.microsoft.com/office/drawing/2014/main" id="{309D4E4D-BFDA-5E71-C07C-4CCD2898A109}"/>
                  </a:ext>
                </a:extLst>
              </p:cNvPr>
              <p:cNvSpPr/>
              <p:nvPr/>
            </p:nvSpPr>
            <p:spPr bwMode="auto">
              <a:xfrm>
                <a:off x="7272654" y="6898634"/>
                <a:ext cx="412226" cy="667345"/>
              </a:xfrm>
              <a:custGeom>
                <a:avLst/>
                <a:gdLst>
                  <a:gd name="connsiteX0" fmla="*/ 0 w 382137"/>
                  <a:gd name="connsiteY0" fmla="*/ 709683 h 709683"/>
                  <a:gd name="connsiteX1" fmla="*/ 382137 w 382137"/>
                  <a:gd name="connsiteY1" fmla="*/ 0 h 709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2137" h="709683">
                    <a:moveTo>
                      <a:pt x="0" y="709683"/>
                    </a:moveTo>
                    <a:lnTo>
                      <a:pt x="382137" y="0"/>
                    </a:ln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" name="TextBox 75">
                <a:extLst>
                  <a:ext uri="{FF2B5EF4-FFF2-40B4-BE49-F238E27FC236}">
                    <a16:creationId xmlns:a16="http://schemas.microsoft.com/office/drawing/2014/main" id="{52F06905-CF14-74EA-91F0-A6D0337B5A86}"/>
                  </a:ext>
                </a:extLst>
              </p:cNvPr>
              <p:cNvSpPr txBox="1"/>
              <p:nvPr/>
            </p:nvSpPr>
            <p:spPr bwMode="auto">
              <a:xfrm>
                <a:off x="7592514" y="6535098"/>
                <a:ext cx="475253" cy="52785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600" i="1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S</a:t>
                </a:r>
                <a:endParaRPr lang="zh-CN" altLang="en-US" sz="16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57" name="TextBox 88">
            <a:extLst>
              <a:ext uri="{FF2B5EF4-FFF2-40B4-BE49-F238E27FC236}">
                <a16:creationId xmlns:a16="http://schemas.microsoft.com/office/drawing/2014/main" id="{270F616A-50F7-9E82-84B7-1D2722F640F9}"/>
              </a:ext>
            </a:extLst>
          </p:cNvPr>
          <p:cNvSpPr txBox="1"/>
          <p:nvPr/>
        </p:nvSpPr>
        <p:spPr bwMode="auto">
          <a:xfrm>
            <a:off x="4166071" y="4417584"/>
            <a:ext cx="3504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endParaRPr lang="zh-CN" altLang="en-US" sz="16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8" name="TextBox 26">
            <a:extLst>
              <a:ext uri="{FF2B5EF4-FFF2-40B4-BE49-F238E27FC236}">
                <a16:creationId xmlns:a16="http://schemas.microsoft.com/office/drawing/2014/main" id="{7B21AF18-DA98-1225-D585-DCA4EE612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337" y="4408382"/>
            <a:ext cx="22542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l-GR" altLang="zh-CN" sz="16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endParaRPr lang="zh-CN" altLang="en-US" sz="1600" i="1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829C317-D359-4327-2EA1-2CFA312C2BF1}"/>
              </a:ext>
            </a:extLst>
          </p:cNvPr>
          <p:cNvCxnSpPr/>
          <p:nvPr/>
        </p:nvCxnSpPr>
        <p:spPr>
          <a:xfrm>
            <a:off x="2510102" y="2091726"/>
            <a:ext cx="12849" cy="23536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5B02CC28-ADC3-3A70-DA4D-02EA1D1CB7D9}"/>
              </a:ext>
            </a:extLst>
          </p:cNvPr>
          <p:cNvSpPr/>
          <p:nvPr/>
        </p:nvSpPr>
        <p:spPr bwMode="auto">
          <a:xfrm>
            <a:off x="5703231" y="2164102"/>
            <a:ext cx="27146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概率密度：分布函数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61" name="Object 32">
            <a:extLst>
              <a:ext uri="{FF2B5EF4-FFF2-40B4-BE49-F238E27FC236}">
                <a16:creationId xmlns:a16="http://schemas.microsoft.com/office/drawing/2014/main" id="{070E1A9E-4148-D08C-0666-9E7E389BB3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024813"/>
              </p:ext>
            </p:extLst>
          </p:nvPr>
        </p:nvGraphicFramePr>
        <p:xfrm>
          <a:off x="5761966" y="2640167"/>
          <a:ext cx="1498855" cy="86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482400" progId="Equation.DSMT4">
                  <p:embed/>
                </p:oleObj>
              </mc:Choice>
              <mc:Fallback>
                <p:oleObj name="Equation" r:id="rId9" imgW="838080" imgH="482400" progId="Equation.DSMT4">
                  <p:embed/>
                  <p:pic>
                    <p:nvPicPr>
                      <p:cNvPr id="9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966" y="2640167"/>
                        <a:ext cx="1498855" cy="862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31">
            <a:extLst>
              <a:ext uri="{FF2B5EF4-FFF2-40B4-BE49-F238E27FC236}">
                <a16:creationId xmlns:a16="http://schemas.microsoft.com/office/drawing/2014/main" id="{DE4D720E-42F0-3A50-4C0B-C2B057E1F339}"/>
              </a:ext>
            </a:extLst>
          </p:cNvPr>
          <p:cNvSpPr txBox="1"/>
          <p:nvPr/>
        </p:nvSpPr>
        <p:spPr bwMode="auto">
          <a:xfrm>
            <a:off x="639437" y="1841072"/>
            <a:ext cx="493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</a:t>
            </a:r>
            <a:r>
              <a:rPr lang="en-US" altLang="zh-CN" sz="16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16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16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16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3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38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4" y="119214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3.1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概率密度曲线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65" name="Object 8"/>
          <p:cNvGraphicFramePr>
            <a:graphicFrameLocks noChangeAspect="1"/>
          </p:cNvGraphicFramePr>
          <p:nvPr/>
        </p:nvGraphicFramePr>
        <p:xfrm>
          <a:off x="3586956" y="962025"/>
          <a:ext cx="22717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469800" progId="Equation.DSMT4">
                  <p:embed/>
                </p:oleObj>
              </mc:Choice>
              <mc:Fallback>
                <p:oleObj name="Equation" r:id="rId5" imgW="1307880" imgH="46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956" y="962025"/>
                        <a:ext cx="2271713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1603801" y="4218722"/>
            <a:ext cx="5450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物理意义：   “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 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x</a:t>
            </a:r>
            <a:r>
              <a:rPr lang="en-US" altLang="zh-CN" sz="2000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 的概率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67" name="Object 7"/>
          <p:cNvGraphicFramePr>
            <a:graphicFrameLocks noChangeAspect="1"/>
          </p:cNvGraphicFramePr>
          <p:nvPr/>
        </p:nvGraphicFramePr>
        <p:xfrm>
          <a:off x="735833" y="768185"/>
          <a:ext cx="4354772" cy="331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303360" imgH="2511360" progId="Origin50.Graph">
                  <p:embed/>
                </p:oleObj>
              </mc:Choice>
              <mc:Fallback>
                <p:oleObj name="Graph" r:id="rId7" imgW="3303360" imgH="2511360" progId="Origin50.Grap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33" y="768185"/>
                        <a:ext cx="4354772" cy="3310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组合 59"/>
          <p:cNvGrpSpPr>
            <a:grpSpLocks/>
          </p:cNvGrpSpPr>
          <p:nvPr/>
        </p:nvGrpSpPr>
        <p:grpSpPr bwMode="auto">
          <a:xfrm>
            <a:off x="3186108" y="2324851"/>
            <a:ext cx="1302298" cy="1500378"/>
            <a:chOff x="3518086" y="2679978"/>
            <a:chExt cx="1797109" cy="2014515"/>
          </a:xfrm>
        </p:grpSpPr>
        <p:grpSp>
          <p:nvGrpSpPr>
            <p:cNvPr id="69" name="组合 24"/>
            <p:cNvGrpSpPr>
              <a:grpSpLocks/>
            </p:cNvGrpSpPr>
            <p:nvPr/>
          </p:nvGrpSpPr>
          <p:grpSpPr bwMode="auto">
            <a:xfrm>
              <a:off x="3518086" y="3233463"/>
              <a:ext cx="1797109" cy="1461030"/>
              <a:chOff x="4485326" y="3489471"/>
              <a:chExt cx="1928755" cy="1696582"/>
            </a:xfrm>
          </p:grpSpPr>
          <p:cxnSp>
            <p:nvCxnSpPr>
              <p:cNvPr id="77" name="直接连接符 76"/>
              <p:cNvCxnSpPr/>
              <p:nvPr/>
            </p:nvCxnSpPr>
            <p:spPr bwMode="auto">
              <a:xfrm rot="5400000">
                <a:off x="4150589" y="4091444"/>
                <a:ext cx="1205650" cy="17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 bwMode="auto">
              <a:xfrm rot="5400000">
                <a:off x="4755306" y="4431569"/>
                <a:ext cx="510651" cy="17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 bwMode="auto">
              <a:xfrm rot="5400000">
                <a:off x="4749620" y="3626848"/>
                <a:ext cx="77427" cy="68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 bwMode="auto">
              <a:xfrm rot="5400000">
                <a:off x="4717522" y="3758495"/>
                <a:ext cx="182506" cy="1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 bwMode="auto">
              <a:xfrm rot="5400000">
                <a:off x="4732852" y="3882010"/>
                <a:ext cx="182507" cy="1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 bwMode="auto">
              <a:xfrm rot="5400000">
                <a:off x="4717825" y="4012595"/>
                <a:ext cx="219376" cy="1464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 bwMode="auto">
              <a:xfrm rot="5400000">
                <a:off x="4699762" y="4104398"/>
                <a:ext cx="291273" cy="1822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 bwMode="auto">
              <a:xfrm rot="5400000">
                <a:off x="4699994" y="4212932"/>
                <a:ext cx="329987" cy="2214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 bwMode="auto">
              <a:xfrm rot="5400000">
                <a:off x="4704627" y="4325025"/>
                <a:ext cx="365013" cy="2350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 bwMode="auto">
              <a:xfrm rot="5400000">
                <a:off x="4804700" y="4488219"/>
                <a:ext cx="219376" cy="1464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 bwMode="auto">
              <a:xfrm rot="5400000">
                <a:off x="4917851" y="4579226"/>
                <a:ext cx="110610" cy="732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/>
              <p:cNvSpPr txBox="1"/>
              <p:nvPr/>
            </p:nvSpPr>
            <p:spPr bwMode="auto">
              <a:xfrm>
                <a:off x="4485326" y="4706184"/>
                <a:ext cx="1928755" cy="479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1400" i="1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x</a:t>
                </a:r>
                <a:r>
                  <a:rPr lang="en-US" altLang="zh-CN" sz="1400" baseline="-2500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1  </a:t>
                </a:r>
                <a:r>
                  <a:rPr lang="en-US" altLang="zh-CN" sz="1400" i="1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 x</a:t>
                </a:r>
                <a:r>
                  <a:rPr lang="en-US" altLang="zh-CN" sz="1400" baseline="-2500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1</a:t>
                </a:r>
                <a:r>
                  <a:rPr lang="en-US" altLang="zh-CN" sz="1400" i="1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+</a:t>
                </a:r>
                <a:r>
                  <a:rPr lang="el-GR" altLang="zh-CN" sz="14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Δ</a:t>
                </a:r>
                <a:r>
                  <a:rPr lang="en-US" altLang="zh-CN" sz="1400" i="1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x  </a:t>
                </a:r>
                <a:endParaRPr lang="zh-CN" altLang="en-US" sz="14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70" name="组合 25"/>
            <p:cNvGrpSpPr>
              <a:grpSpLocks/>
            </p:cNvGrpSpPr>
            <p:nvPr/>
          </p:nvGrpSpPr>
          <p:grpSpPr bwMode="auto">
            <a:xfrm>
              <a:off x="3948440" y="2679978"/>
              <a:ext cx="740845" cy="887757"/>
              <a:chOff x="7272654" y="6535098"/>
              <a:chExt cx="795113" cy="1030881"/>
            </a:xfrm>
          </p:grpSpPr>
          <p:sp>
            <p:nvSpPr>
              <p:cNvPr id="71" name="任意多边形 70"/>
              <p:cNvSpPr/>
              <p:nvPr/>
            </p:nvSpPr>
            <p:spPr bwMode="auto">
              <a:xfrm>
                <a:off x="7272654" y="6898634"/>
                <a:ext cx="412226" cy="667345"/>
              </a:xfrm>
              <a:custGeom>
                <a:avLst/>
                <a:gdLst>
                  <a:gd name="connsiteX0" fmla="*/ 0 w 382137"/>
                  <a:gd name="connsiteY0" fmla="*/ 709683 h 709683"/>
                  <a:gd name="connsiteX1" fmla="*/ 382137 w 382137"/>
                  <a:gd name="connsiteY1" fmla="*/ 0 h 709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2137" h="709683">
                    <a:moveTo>
                      <a:pt x="0" y="709683"/>
                    </a:moveTo>
                    <a:lnTo>
                      <a:pt x="382137" y="0"/>
                    </a:ln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 bwMode="auto">
              <a:xfrm>
                <a:off x="7592514" y="6535098"/>
                <a:ext cx="475253" cy="52785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600" i="1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S</a:t>
                </a:r>
                <a:endParaRPr lang="zh-CN" altLang="en-US" sz="16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89" name="TextBox 88"/>
          <p:cNvSpPr txBox="1"/>
          <p:nvPr/>
        </p:nvSpPr>
        <p:spPr bwMode="auto">
          <a:xfrm>
            <a:off x="4583221" y="3490308"/>
            <a:ext cx="3504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endParaRPr lang="zh-CN" altLang="en-US" sz="16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0" name="TextBox 26"/>
          <p:cNvSpPr txBox="1">
            <a:spLocks noChangeArrowheads="1"/>
          </p:cNvSpPr>
          <p:nvPr/>
        </p:nvSpPr>
        <p:spPr bwMode="auto">
          <a:xfrm>
            <a:off x="2784487" y="3481106"/>
            <a:ext cx="22542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l-GR" altLang="zh-CN" sz="16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endParaRPr lang="zh-CN" altLang="en-US" sz="1600" i="1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2927252" y="1164450"/>
            <a:ext cx="12849" cy="23536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 bwMode="auto">
          <a:xfrm>
            <a:off x="5793328" y="2017085"/>
            <a:ext cx="27146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概率密度：分布函数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94" name="Object 32"/>
          <p:cNvGraphicFramePr>
            <a:graphicFrameLocks noChangeAspect="1"/>
          </p:cNvGraphicFramePr>
          <p:nvPr/>
        </p:nvGraphicFramePr>
        <p:xfrm>
          <a:off x="5852063" y="2493150"/>
          <a:ext cx="1498855" cy="86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482400" progId="Equation.DSMT4">
                  <p:embed/>
                </p:oleObj>
              </mc:Choice>
              <mc:Fallback>
                <p:oleObj name="Equation" r:id="rId9" imgW="838080" imgH="4824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063" y="2493150"/>
                        <a:ext cx="1498855" cy="862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 bwMode="auto">
          <a:xfrm>
            <a:off x="1056587" y="913796"/>
            <a:ext cx="493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 </a:t>
            </a:r>
            <a:r>
              <a:rPr lang="en-US" altLang="zh-CN" sz="16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16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16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16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716101" y="3536919"/>
            <a:ext cx="47632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对称   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  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正负误差出现的概率相同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15"/>
          <p:cNvSpPr>
            <a:spLocks noChangeArrowheads="1"/>
          </p:cNvSpPr>
          <p:nvPr/>
        </p:nvSpPr>
        <p:spPr bwMode="auto">
          <a:xfrm>
            <a:off x="1716101" y="2970182"/>
            <a:ext cx="4613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单峰   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  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误差越小出现的概率越大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      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16101" y="4103657"/>
            <a:ext cx="46775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有界   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  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大误差出现的概率急剧减小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15"/>
          <p:cNvSpPr>
            <a:spLocks noChangeArrowheads="1"/>
          </p:cNvSpPr>
          <p:nvPr/>
        </p:nvSpPr>
        <p:spPr bwMode="auto">
          <a:xfrm>
            <a:off x="1094582" y="1663693"/>
            <a:ext cx="4673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x−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的概率密度曲线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0" name="组合 88"/>
          <p:cNvGrpSpPr>
            <a:grpSpLocks/>
          </p:cNvGrpSpPr>
          <p:nvPr/>
        </p:nvGrpSpPr>
        <p:grpSpPr bwMode="auto">
          <a:xfrm>
            <a:off x="4887913" y="463521"/>
            <a:ext cx="3213100" cy="2522568"/>
            <a:chOff x="5111093" y="1470411"/>
            <a:chExt cx="4087824" cy="3147636"/>
          </a:xfrm>
        </p:grpSpPr>
        <p:graphicFrame>
          <p:nvGraphicFramePr>
            <p:cNvPr id="11" name="Object 7"/>
            <p:cNvGraphicFramePr>
              <a:graphicFrameLocks noChangeAspect="1"/>
            </p:cNvGraphicFramePr>
            <p:nvPr/>
          </p:nvGraphicFramePr>
          <p:xfrm>
            <a:off x="5111093" y="1470411"/>
            <a:ext cx="4087824" cy="3147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261600" imgH="2511360" progId="Origin50.Graph">
                    <p:embed/>
                  </p:oleObj>
                </mc:Choice>
                <mc:Fallback>
                  <p:oleObj name="Graph" r:id="rId5" imgW="3261600" imgH="2511360" progId="Origin50.Graph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1093" y="1470411"/>
                          <a:ext cx="4087824" cy="3147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7152691" y="4074823"/>
              <a:ext cx="255589" cy="4992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0</a:t>
              </a:r>
              <a:endPara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3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4" y="119214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3.2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随机误差的性质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4" y="119214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随机误差的方差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649" y="1566848"/>
            <a:ext cx="6146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随机变量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的分布函数为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的函数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8" name="组合 21"/>
          <p:cNvGrpSpPr>
            <a:grpSpLocks/>
          </p:cNvGrpSpPr>
          <p:nvPr/>
        </p:nvGrpSpPr>
        <p:grpSpPr bwMode="auto">
          <a:xfrm>
            <a:off x="790585" y="1993080"/>
            <a:ext cx="5860256" cy="898460"/>
            <a:chOff x="539735" y="1762109"/>
            <a:chExt cx="5860271" cy="898459"/>
          </a:xfrm>
        </p:grpSpPr>
        <p:graphicFrame>
          <p:nvGraphicFramePr>
            <p:cNvPr id="9" name="Object 2"/>
            <p:cNvGraphicFramePr>
              <a:graphicFrameLocks noChangeAspect="1"/>
            </p:cNvGraphicFramePr>
            <p:nvPr/>
          </p:nvGraphicFramePr>
          <p:xfrm>
            <a:off x="3740150" y="1762109"/>
            <a:ext cx="2659856" cy="898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69720" imgH="482400" progId="Equation.DSMT4">
                    <p:embed/>
                  </p:oleObj>
                </mc:Choice>
                <mc:Fallback>
                  <p:oleObj name="Equation" r:id="rId5" imgW="1269720" imgH="4824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0150" y="1762109"/>
                          <a:ext cx="2659856" cy="898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/>
            <p:nvPr/>
          </p:nvSpPr>
          <p:spPr>
            <a:xfrm>
              <a:off x="539735" y="2017696"/>
              <a:ext cx="25234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则 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y 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的数学期望值为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82648" y="971542"/>
            <a:ext cx="741203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如何表征随机误差的大小？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与中心的偏离程度 </a:t>
            </a:r>
          </a:p>
        </p:txBody>
      </p:sp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2035175" y="3287713"/>
          <a:ext cx="5532438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68400" imgH="863280" progId="Equation.DSMT4">
                  <p:embed/>
                </p:oleObj>
              </mc:Choice>
              <mc:Fallback>
                <p:oleObj name="Equation" r:id="rId7" imgW="2768400" imgH="8632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3287713"/>
                        <a:ext cx="5532438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76297" y="2954303"/>
            <a:ext cx="27911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数学期望值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平均值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50" y="419883"/>
            <a:ext cx="3171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→  x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的数学期望值为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468438" y="1000897"/>
          <a:ext cx="1867113" cy="7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457200" progId="Equation.DSMT4">
                  <p:embed/>
                </p:oleObj>
              </mc:Choice>
              <mc:Fallback>
                <p:oleObj name="Equation" r:id="rId5" imgW="100296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1000897"/>
                        <a:ext cx="1867113" cy="7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20"/>
          <p:cNvGrpSpPr>
            <a:grpSpLocks/>
          </p:cNvGrpSpPr>
          <p:nvPr/>
        </p:nvGrpSpPr>
        <p:grpSpPr bwMode="auto">
          <a:xfrm>
            <a:off x="642950" y="2090707"/>
            <a:ext cx="7436631" cy="1631216"/>
            <a:chOff x="446031" y="4318018"/>
            <a:chExt cx="8361362" cy="1631767"/>
          </a:xfrm>
        </p:grpSpPr>
        <p:sp>
          <p:nvSpPr>
            <p:cNvPr id="9" name="TextBox 8"/>
            <p:cNvSpPr txBox="1"/>
            <p:nvPr/>
          </p:nvSpPr>
          <p:spPr>
            <a:xfrm>
              <a:off x="446031" y="4318018"/>
              <a:ext cx="8361362" cy="16317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 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的</a:t>
              </a:r>
              <a:r>
                <a:rPr lang="zh-CN" altLang="en-US" sz="2000" b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方差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为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>
                <a:defRPr/>
              </a:pP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>
                <a:defRPr/>
              </a:pP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>
                <a:defRPr/>
              </a:pP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这是对 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 </a:t>
              </a:r>
              <a:r>
                <a:rPr lang="zh-CN" altLang="en-US" sz="2000" b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偏离期望值程度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的一个估计</a:t>
              </a: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——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即“误差” 的估计</a:t>
              </a:r>
            </a:p>
          </p:txBody>
        </p:sp>
        <p:graphicFrame>
          <p:nvGraphicFramePr>
            <p:cNvPr id="10" name="Object 5"/>
            <p:cNvGraphicFramePr>
              <a:graphicFrameLocks noChangeAspect="1"/>
            </p:cNvGraphicFramePr>
            <p:nvPr/>
          </p:nvGraphicFramePr>
          <p:xfrm>
            <a:off x="1613344" y="4711091"/>
            <a:ext cx="6820112" cy="763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441600" imgH="495000" progId="Equation.DSMT4">
                    <p:embed/>
                  </p:oleObj>
                </mc:Choice>
                <mc:Fallback>
                  <p:oleObj name="Equation" r:id="rId7" imgW="3441600" imgH="4950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3344" y="4711091"/>
                          <a:ext cx="6820112" cy="7638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3400425" y="968375"/>
          <a:ext cx="25717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495000" progId="Equation.DSMT4">
                  <p:embed/>
                </p:oleObj>
              </mc:Choice>
              <mc:Fallback>
                <p:oleObj name="Equation" r:id="rId9" imgW="1638000" imgH="495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968375"/>
                        <a:ext cx="25717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2950" y="4067852"/>
            <a:ext cx="741203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方差的平方根称为随机变量的标准误差：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endParaRPr lang="zh-CN" altLang="en-US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6269831" y="534973"/>
            <a:ext cx="1452563" cy="365140"/>
          </a:xfrm>
          <a:prstGeom prst="wedgeRectCallout">
            <a:avLst>
              <a:gd name="adj1" fmla="val -99231"/>
              <a:gd name="adj2" fmla="val 108721"/>
            </a:avLst>
          </a:prstGeom>
          <a:noFill/>
          <a:ln>
            <a:solidFill>
              <a:srgbClr val="4A78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对于高斯分布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4" y="119214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3.4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标准误差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5441" y="3470603"/>
            <a:ext cx="4112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的概率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0.683</a:t>
            </a: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不论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的大小，概率是确定值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8" name="组合 59"/>
          <p:cNvGrpSpPr>
            <a:grpSpLocks/>
          </p:cNvGrpSpPr>
          <p:nvPr/>
        </p:nvGrpSpPr>
        <p:grpSpPr bwMode="auto">
          <a:xfrm>
            <a:off x="32147" y="620208"/>
            <a:ext cx="4564856" cy="2968635"/>
            <a:chOff x="508608" y="1205527"/>
            <a:chExt cx="4762500" cy="3754490"/>
          </a:xfrm>
        </p:grpSpPr>
        <p:graphicFrame>
          <p:nvGraphicFramePr>
            <p:cNvPr id="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299431"/>
                </p:ext>
              </p:extLst>
            </p:nvPr>
          </p:nvGraphicFramePr>
          <p:xfrm>
            <a:off x="508608" y="1205527"/>
            <a:ext cx="4762500" cy="3754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261600" imgH="2511360" progId="Origin50.Graph">
                    <p:embed/>
                  </p:oleObj>
                </mc:Choice>
                <mc:Fallback>
                  <p:oleObj name="Graph" r:id="rId5" imgW="3261600" imgH="2511360" progId="Origin50.Graph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608" y="1205527"/>
                          <a:ext cx="4762500" cy="3754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58"/>
            <p:cNvGrpSpPr>
              <a:grpSpLocks/>
            </p:cNvGrpSpPr>
            <p:nvPr/>
          </p:nvGrpSpPr>
          <p:grpSpPr bwMode="auto">
            <a:xfrm>
              <a:off x="2402064" y="2041507"/>
              <a:ext cx="775121" cy="2373347"/>
              <a:chOff x="2402064" y="2041507"/>
              <a:chExt cx="775121" cy="2373347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H="1" flipV="1">
                <a:off x="2402064" y="3050602"/>
                <a:ext cx="62" cy="13461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V="1">
                <a:off x="3177144" y="3113845"/>
                <a:ext cx="41" cy="128709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2600287" y="2041507"/>
                <a:ext cx="256034" cy="182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2563910" y="2187559"/>
                <a:ext cx="366561" cy="2555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V="1">
                <a:off x="2491158" y="2333611"/>
                <a:ext cx="475690" cy="3286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flipV="1">
                <a:off x="2418405" y="2479663"/>
                <a:ext cx="621195" cy="4381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V="1">
                <a:off x="2454781" y="2647941"/>
                <a:ext cx="621195" cy="4159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2454781" y="2808281"/>
                <a:ext cx="657572" cy="4381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V="1">
                <a:off x="2454781" y="3013071"/>
                <a:ext cx="670164" cy="4524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2454781" y="3222624"/>
                <a:ext cx="667366" cy="4254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2454781" y="3451227"/>
                <a:ext cx="670164" cy="4524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V="1">
                <a:off x="2454781" y="3684593"/>
                <a:ext cx="670164" cy="4746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V="1">
                <a:off x="2491158" y="3903671"/>
                <a:ext cx="643581" cy="4746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flipV="1">
                <a:off x="2745792" y="4135450"/>
                <a:ext cx="379153" cy="2794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TextBox 24"/>
          <p:cNvSpPr txBox="1"/>
          <p:nvPr/>
        </p:nvSpPr>
        <p:spPr>
          <a:xfrm>
            <a:off x="2023272" y="3150896"/>
            <a:ext cx="5056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endParaRPr lang="zh-CN" altLang="en-US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00349" y="3172328"/>
            <a:ext cx="43815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endParaRPr lang="zh-CN" altLang="en-US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7" name="矩形 55"/>
          <p:cNvSpPr>
            <a:spLocks noChangeArrowheads="1"/>
          </p:cNvSpPr>
          <p:nvPr/>
        </p:nvSpPr>
        <p:spPr bwMode="auto">
          <a:xfrm>
            <a:off x="665957" y="942685"/>
            <a:ext cx="13485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：拐点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92225" y="845133"/>
            <a:ext cx="3393281" cy="256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4">
            <a:extLst>
              <a:ext uri="{FF2B5EF4-FFF2-40B4-BE49-F238E27FC236}">
                <a16:creationId xmlns:a16="http://schemas.microsoft.com/office/drawing/2014/main" id="{610D326D-3D69-BF36-D67E-CCE66FCC3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928" y="3531371"/>
            <a:ext cx="43529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可作为真值区间大小的估计值：</a:t>
            </a:r>
          </a:p>
        </p:txBody>
      </p:sp>
      <p:sp>
        <p:nvSpPr>
          <p:cNvPr id="3" name="TextBox 118">
            <a:extLst>
              <a:ext uri="{FF2B5EF4-FFF2-40B4-BE49-F238E27FC236}">
                <a16:creationId xmlns:a16="http://schemas.microsoft.com/office/drawing/2014/main" id="{E3BB130B-ED69-4049-809A-C7BB01BE8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955" y="3908550"/>
            <a:ext cx="44108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的概率为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0.683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7CB7F6-89A9-926D-D7B6-674338EFF609}"/>
              </a:ext>
            </a:extLst>
          </p:cNvPr>
          <p:cNvSpPr/>
          <p:nvPr/>
        </p:nvSpPr>
        <p:spPr>
          <a:xfrm>
            <a:off x="4787863" y="4271392"/>
            <a:ext cx="37929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x+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的概率为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0.683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24407FE-1114-5C87-2E7B-0401D0D9A8A4}"/>
                  </a:ext>
                </a:extLst>
              </p:cNvPr>
              <p:cNvSpPr txBox="1"/>
              <p:nvPr/>
            </p:nvSpPr>
            <p:spPr>
              <a:xfrm>
                <a:off x="2360308" y="223880"/>
                <a:ext cx="4170023" cy="6751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24407FE-1114-5C87-2E7B-0401D0D9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308" y="223880"/>
                <a:ext cx="4170023" cy="6751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AE73EED-5B45-E7F8-0BC3-65FF8C11F96A}"/>
                  </a:ext>
                </a:extLst>
              </p:cNvPr>
              <p:cNvSpPr txBox="1"/>
              <p:nvPr/>
            </p:nvSpPr>
            <p:spPr>
              <a:xfrm>
                <a:off x="6146561" y="328766"/>
                <a:ext cx="1793236" cy="4541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000" b="0" i="0" dirty="0">
                    <a:latin typeface="+mj-lt"/>
                  </a:rPr>
                  <a:t>(0)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AE73EED-5B45-E7F8-0BC3-65FF8C11F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561" y="328766"/>
                <a:ext cx="1793236" cy="454163"/>
              </a:xfrm>
              <a:prstGeom prst="rect">
                <a:avLst/>
              </a:prstGeom>
              <a:blipFill>
                <a:blip r:embed="rId9"/>
                <a:stretch>
                  <a:fillRect l="-6463" t="-2703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F811C20A-8BBA-C7CE-F45E-EDF520EF2969}"/>
              </a:ext>
            </a:extLst>
          </p:cNvPr>
          <p:cNvSpPr txBox="1"/>
          <p:nvPr/>
        </p:nvSpPr>
        <p:spPr>
          <a:xfrm>
            <a:off x="121444" y="4045333"/>
            <a:ext cx="46338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2000" b="1" dirty="0">
                <a:solidFill>
                  <a:srgbClr val="FF0101"/>
                </a:solidFill>
              </a:rPr>
              <a:t>σ</a:t>
            </a:r>
            <a:r>
              <a:rPr lang="zh-CN" altLang="el-GR" sz="2000" b="1" dirty="0">
                <a:solidFill>
                  <a:srgbClr val="FF0101"/>
                </a:solidFill>
              </a:rPr>
              <a:t>：</a:t>
            </a:r>
            <a:r>
              <a:rPr lang="zh-CN" altLang="en-US" sz="2000" b="1" dirty="0">
                <a:solidFill>
                  <a:srgbClr val="FF0101"/>
                </a:solidFill>
              </a:rPr>
              <a:t>标准误差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5E529B3-6CC2-E833-6ADB-2F72D7EA9FB8}"/>
              </a:ext>
            </a:extLst>
          </p:cNvPr>
          <p:cNvSpPr/>
          <p:nvPr/>
        </p:nvSpPr>
        <p:spPr bwMode="auto">
          <a:xfrm>
            <a:off x="743526" y="4347207"/>
            <a:ext cx="41022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00" b="1" dirty="0">
                <a:solidFill>
                  <a:srgbClr val="4A78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1800" b="1" dirty="0">
                <a:solidFill>
                  <a:srgbClr val="4A78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它表征了测量结果的离散程度</a:t>
            </a:r>
            <a:endParaRPr lang="en-US" altLang="zh-CN" sz="1800" b="1" dirty="0">
              <a:solidFill>
                <a:srgbClr val="4A788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800" b="1" dirty="0">
                <a:solidFill>
                  <a:srgbClr val="4A78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1800" b="1" dirty="0">
                <a:solidFill>
                  <a:srgbClr val="4A78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表征测量列的随机误差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5" grpId="0"/>
      <p:bldP spid="29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TextBox 118"/>
          <p:cNvSpPr txBox="1">
            <a:spLocks noChangeArrowheads="1"/>
          </p:cNvSpPr>
          <p:nvPr/>
        </p:nvSpPr>
        <p:spPr bwMode="auto">
          <a:xfrm>
            <a:off x="2519423" y="1137840"/>
            <a:ext cx="44108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的概率为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0.683</a:t>
            </a:r>
          </a:p>
        </p:txBody>
      </p:sp>
      <p:sp>
        <p:nvSpPr>
          <p:cNvPr id="7" name="矩形 6"/>
          <p:cNvSpPr/>
          <p:nvPr/>
        </p:nvSpPr>
        <p:spPr>
          <a:xfrm>
            <a:off x="1583559" y="2395934"/>
            <a:ext cx="31607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得到一个测量值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用某种方式得到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</a:p>
        </p:txBody>
      </p:sp>
      <p:sp>
        <p:nvSpPr>
          <p:cNvPr id="8" name="矩形 42"/>
          <p:cNvSpPr>
            <a:spLocks noChangeArrowheads="1"/>
          </p:cNvSpPr>
          <p:nvPr/>
        </p:nvSpPr>
        <p:spPr bwMode="auto">
          <a:xfrm>
            <a:off x="1583559" y="4269580"/>
            <a:ext cx="29170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：标准误差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83559" y="3332757"/>
            <a:ext cx="41028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 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测量结果说明：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x+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 =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0.683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83559" y="1766887"/>
            <a:ext cx="51244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	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x+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的概率为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0.683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矩形 14"/>
          <p:cNvSpPr>
            <a:spLocks noChangeArrowheads="1"/>
          </p:cNvSpPr>
          <p:nvPr/>
        </p:nvSpPr>
        <p:spPr bwMode="auto">
          <a:xfrm>
            <a:off x="1583559" y="508793"/>
            <a:ext cx="43529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可作为真值区间大小的估计值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4" y="119214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3.5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置信区间与置信水平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118"/>
          <p:cNvSpPr txBox="1">
            <a:spLocks noChangeArrowheads="1"/>
          </p:cNvSpPr>
          <p:nvPr/>
        </p:nvSpPr>
        <p:spPr bwMode="auto">
          <a:xfrm>
            <a:off x="609893" y="937411"/>
            <a:ext cx="40335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如果取不同的参量做误差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</a:p>
        </p:txBody>
      </p:sp>
      <p:sp>
        <p:nvSpPr>
          <p:cNvPr id="8" name="矩形 42"/>
          <p:cNvSpPr>
            <a:spLocks noChangeArrowheads="1"/>
          </p:cNvSpPr>
          <p:nvPr/>
        </p:nvSpPr>
        <p:spPr bwMode="auto">
          <a:xfrm>
            <a:off x="610436" y="3230770"/>
            <a:ext cx="55046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标准误差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0.683 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本课程约定使用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39396" y="1482392"/>
            <a:ext cx="43256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置信区间小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误差小     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⇒  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置信水平低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可靠性低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39396" y="2335149"/>
            <a:ext cx="41541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置信区间大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误差大 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⇒ 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置信水平高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可靠性高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11999" y="3671331"/>
            <a:ext cx="36314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→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0.954</a:t>
            </a:r>
          </a:p>
          <a:p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→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0.997 ——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极限误差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5638014" y="651668"/>
          <a:ext cx="2863056" cy="2693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261600" imgH="2511360" progId="Origin50.Graph">
                  <p:embed/>
                </p:oleObj>
              </mc:Choice>
              <mc:Fallback>
                <p:oleObj name="Graph" r:id="rId5" imgW="3261600" imgH="2511360" progId="Origin50.Grap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014" y="651668"/>
                        <a:ext cx="2863056" cy="2693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58"/>
          <p:cNvGrpSpPr>
            <a:grpSpLocks/>
          </p:cNvGrpSpPr>
          <p:nvPr/>
        </p:nvGrpSpPr>
        <p:grpSpPr bwMode="auto">
          <a:xfrm>
            <a:off x="6746870" y="2394723"/>
            <a:ext cx="651130" cy="495991"/>
            <a:chOff x="2243842" y="3678313"/>
            <a:chExt cx="1082920" cy="722193"/>
          </a:xfrm>
        </p:grpSpPr>
        <p:cxnSp>
          <p:nvCxnSpPr>
            <p:cNvPr id="14" name="直接连接符 13"/>
            <p:cNvCxnSpPr/>
            <p:nvPr/>
          </p:nvCxnSpPr>
          <p:spPr>
            <a:xfrm rot="5400000" flipH="1" flipV="1">
              <a:off x="1882745" y="4039410"/>
              <a:ext cx="722193" cy="0"/>
            </a:xfrm>
            <a:prstGeom prst="line">
              <a:avLst/>
            </a:prstGeom>
            <a:ln w="38100">
              <a:solidFill>
                <a:srgbClr val="792B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5400000" flipH="1" flipV="1">
              <a:off x="2992191" y="4064266"/>
              <a:ext cx="667153" cy="1990"/>
            </a:xfrm>
            <a:prstGeom prst="line">
              <a:avLst/>
            </a:prstGeom>
            <a:ln w="38100">
              <a:solidFill>
                <a:srgbClr val="792B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58"/>
          <p:cNvGrpSpPr>
            <a:grpSpLocks/>
          </p:cNvGrpSpPr>
          <p:nvPr/>
        </p:nvGrpSpPr>
        <p:grpSpPr bwMode="auto">
          <a:xfrm>
            <a:off x="6911968" y="1571711"/>
            <a:ext cx="301626" cy="1321811"/>
            <a:chOff x="2361534" y="3651535"/>
            <a:chExt cx="793856" cy="754172"/>
          </a:xfrm>
        </p:grpSpPr>
        <p:cxnSp>
          <p:nvCxnSpPr>
            <p:cNvPr id="17" name="直接连接符 16"/>
            <p:cNvCxnSpPr/>
            <p:nvPr/>
          </p:nvCxnSpPr>
          <p:spPr>
            <a:xfrm rot="5400000" flipH="1" flipV="1">
              <a:off x="1993285" y="4019784"/>
              <a:ext cx="752250" cy="15752"/>
            </a:xfrm>
            <a:prstGeom prst="line">
              <a:avLst/>
            </a:prstGeom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5400000" flipH="1" flipV="1">
              <a:off x="2782266" y="4032582"/>
              <a:ext cx="743100" cy="3149"/>
            </a:xfrm>
            <a:prstGeom prst="line">
              <a:avLst/>
            </a:prstGeom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>
            <a:off x="614363" y="4524088"/>
            <a:ext cx="36004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某些场合要求不同：极差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……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4" y="69206"/>
            <a:ext cx="4386262" cy="662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3.6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随机误差的估算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3455454" y="1431893"/>
          <a:ext cx="1602333" cy="153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888840" progId="Equation.DSMT4">
                  <p:embed/>
                </p:oleObj>
              </mc:Choice>
              <mc:Fallback>
                <p:oleObj name="Equation" r:id="rId5" imgW="761760" imgH="888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454" y="1431893"/>
                        <a:ext cx="1602333" cy="15335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57263" y="918704"/>
            <a:ext cx="5422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通过有限次测量的数据，如何得到标准误差？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27"/>
          <p:cNvSpPr txBox="1">
            <a:spLocks noChangeArrowheads="1"/>
          </p:cNvSpPr>
          <p:nvPr/>
        </p:nvSpPr>
        <p:spPr bwMode="auto">
          <a:xfrm>
            <a:off x="1910817" y="1514442"/>
            <a:ext cx="171608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测量列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近真值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偏差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71528" y="3743370"/>
            <a:ext cx="50223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所有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 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满足同一个误差分布，所以有 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	&lt;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−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en-US" altLang="zh-CN" sz="2000" baseline="30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baseline="30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27"/>
          <p:cNvSpPr txBox="1">
            <a:spLocks noChangeArrowheads="1"/>
          </p:cNvSpPr>
          <p:nvPr/>
        </p:nvSpPr>
        <p:spPr bwMode="auto">
          <a:xfrm>
            <a:off x="5963705" y="1501742"/>
            <a:ext cx="171608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→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∞</a:t>
            </a:r>
          </a:p>
          <a:p>
            <a:pPr>
              <a:lnSpc>
                <a:spcPct val="90000"/>
              </a:lnSpc>
              <a:defRPr/>
            </a:pP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μ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→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325525" y="2754002"/>
          <a:ext cx="2259298" cy="2125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261600" imgH="2511360" progId="Origin50.Graph">
                  <p:embed/>
                </p:oleObj>
              </mc:Choice>
              <mc:Fallback>
                <p:oleObj name="Graph" r:id="rId7" imgW="3261600" imgH="2511360" progId="Origin50.Grap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25" y="2754002"/>
                        <a:ext cx="2259298" cy="2125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922969" y="3119769"/>
            <a:ext cx="46708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每个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是等价的：在同等条件下测得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DFE7-52D2-8287-2740-42496481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34171150-5B75-CBD4-9703-0B75D1A0856C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94A8DF4D-9E32-1129-5B3F-C2466E244923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:a16="http://schemas.microsoft.com/office/drawing/2014/main" id="{695841CA-F2E7-A2EF-B16C-CB2468EA50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:a16="http://schemas.microsoft.com/office/drawing/2014/main" id="{20399918-DD29-5FE8-4BE8-CD8AB536029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CA5C3216-F6CD-6522-A258-0F3E7102EBDF}"/>
              </a:ext>
            </a:extLst>
          </p:cNvPr>
          <p:cNvSpPr txBox="1"/>
          <p:nvPr/>
        </p:nvSpPr>
        <p:spPr>
          <a:xfrm>
            <a:off x="121444" y="69206"/>
            <a:ext cx="4386262" cy="662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3.6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随机误差的估算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8516E541-3599-4A93-2798-5A91494C68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400159"/>
              </p:ext>
            </p:extLst>
          </p:nvPr>
        </p:nvGraphicFramePr>
        <p:xfrm>
          <a:off x="3455454" y="1341740"/>
          <a:ext cx="1602333" cy="153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888840" progId="Equation.DSMT4">
                  <p:embed/>
                </p:oleObj>
              </mc:Choice>
              <mc:Fallback>
                <p:oleObj name="Equation" r:id="rId5" imgW="761760" imgH="88884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454" y="1341740"/>
                        <a:ext cx="1602333" cy="15335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9736174-BB9A-DAB3-67DE-0DBB70E8CC6D}"/>
              </a:ext>
            </a:extLst>
          </p:cNvPr>
          <p:cNvSpPr/>
          <p:nvPr/>
        </p:nvSpPr>
        <p:spPr>
          <a:xfrm>
            <a:off x="957263" y="828551"/>
            <a:ext cx="5422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通过有限次测量的数据，如何得到标准误差？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5E5D60E3-A5CE-6508-0C78-C430B78B9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0817" y="1424289"/>
            <a:ext cx="171608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测量列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近真值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偏差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6E29864A-573B-DD9E-71A8-165F5CBF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705" y="1411589"/>
            <a:ext cx="171608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→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∞</a:t>
            </a:r>
          </a:p>
          <a:p>
            <a:pPr>
              <a:lnSpc>
                <a:spcPct val="90000"/>
              </a:lnSpc>
              <a:defRPr/>
            </a:pP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→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μ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→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79AA60C4-5D56-2820-C047-5E06D1AAC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353499"/>
              </p:ext>
            </p:extLst>
          </p:nvPr>
        </p:nvGraphicFramePr>
        <p:xfrm>
          <a:off x="1937258" y="4058335"/>
          <a:ext cx="426402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06280" imgH="482400" progId="Equation.DSMT4">
                  <p:embed/>
                </p:oleObj>
              </mc:Choice>
              <mc:Fallback>
                <p:oleObj name="Equation" r:id="rId7" imgW="2006280" imgH="4824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7258" y="4058335"/>
                        <a:ext cx="426402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11562619-7709-11E2-E694-B45444A5AD32}"/>
              </a:ext>
            </a:extLst>
          </p:cNvPr>
          <p:cNvSpPr/>
          <p:nvPr/>
        </p:nvSpPr>
        <p:spPr>
          <a:xfrm>
            <a:off x="681309" y="3527623"/>
            <a:ext cx="23838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的最佳估计值为：</a:t>
            </a:r>
          </a:p>
        </p:txBody>
      </p:sp>
      <p:sp>
        <p:nvSpPr>
          <p:cNvPr id="4" name="矩形标注 12">
            <a:extLst>
              <a:ext uri="{FF2B5EF4-FFF2-40B4-BE49-F238E27FC236}">
                <a16:creationId xmlns:a16="http://schemas.microsoft.com/office/drawing/2014/main" id="{45A830EA-6C1C-1E7A-E34C-736012B74BC2}"/>
              </a:ext>
            </a:extLst>
          </p:cNvPr>
          <p:cNvSpPr/>
          <p:nvPr/>
        </p:nvSpPr>
        <p:spPr>
          <a:xfrm>
            <a:off x="6129052" y="3448122"/>
            <a:ext cx="1670843" cy="303826"/>
          </a:xfrm>
          <a:prstGeom prst="wedgeRectCallout">
            <a:avLst>
              <a:gd name="adj1" fmla="val -48811"/>
              <a:gd name="adj2" fmla="val 225144"/>
            </a:avLst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称之为贝塞尔修正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9CCE911-8934-884C-F204-74EF649B3531}"/>
                  </a:ext>
                </a:extLst>
              </p:cNvPr>
              <p:cNvSpPr txBox="1"/>
              <p:nvPr/>
            </p:nvSpPr>
            <p:spPr>
              <a:xfrm>
                <a:off x="681309" y="3048012"/>
                <a:ext cx="462995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对于有限次测量，</a:t>
                </a:r>
                <a:r>
                  <a:rPr lang="el-GR" altLang="zh-CN" sz="2000" i="1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μ</a:t>
                </a:r>
                <a:r>
                  <a:rPr lang="zh-CN" altLang="en-US" sz="20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的最佳估计值为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 smtClean="0">
                            <a:solidFill>
                              <a:srgbClr val="1A3F6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rgbClr val="1A3F6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1800" dirty="0"/>
                  <a:t>;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9CCE911-8934-884C-F204-74EF649B3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09" y="3048012"/>
                <a:ext cx="4629954" cy="400110"/>
              </a:xfrm>
              <a:prstGeom prst="rect">
                <a:avLst/>
              </a:prstGeom>
              <a:blipFill>
                <a:blip r:embed="rId9"/>
                <a:stretch>
                  <a:fillRect l="-1449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47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2153445" y="787583"/>
          <a:ext cx="3568699" cy="722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360" imgH="431640" progId="Equation.DSMT4">
                  <p:embed/>
                </p:oleObj>
              </mc:Choice>
              <mc:Fallback>
                <p:oleObj name="Equation" r:id="rId5" imgW="213336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445" y="787583"/>
                        <a:ext cx="3568699" cy="7227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4700" y="284352"/>
            <a:ext cx="5483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未知，如何从已知的一组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出发来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计算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？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852613" y="3321050"/>
          <a:ext cx="426402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06280" imgH="482400" progId="Equation.DSMT4">
                  <p:embed/>
                </p:oleObj>
              </mc:Choice>
              <mc:Fallback>
                <p:oleObj name="Equation" r:id="rId7" imgW="20062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3" y="3321050"/>
                        <a:ext cx="426402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11213" y="2440151"/>
            <a:ext cx="3979862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对于有限次测量，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的最佳估计值为：</a:t>
            </a:r>
          </a:p>
        </p:txBody>
      </p:sp>
      <p:grpSp>
        <p:nvGrpSpPr>
          <p:cNvPr id="10" name="组合 22"/>
          <p:cNvGrpSpPr>
            <a:grpSpLocks/>
          </p:cNvGrpSpPr>
          <p:nvPr/>
        </p:nvGrpSpPr>
        <p:grpSpPr bwMode="auto">
          <a:xfrm>
            <a:off x="774700" y="1543223"/>
            <a:ext cx="4775994" cy="707886"/>
            <a:chOff x="811160" y="580986"/>
            <a:chExt cx="7740811" cy="707915"/>
          </a:xfrm>
        </p:grpSpPr>
        <p:sp>
          <p:nvSpPr>
            <p:cNvPr id="11" name="TextBox 10"/>
            <p:cNvSpPr txBox="1"/>
            <p:nvPr/>
          </p:nvSpPr>
          <p:spPr>
            <a:xfrm>
              <a:off x="811160" y="580986"/>
              <a:ext cx="7740811" cy="707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l-GR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μ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是未知的，我们不知道误差  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</a:t>
              </a:r>
              <a:r>
                <a:rPr lang="en-US" altLang="zh-CN" sz="2000" i="1" baseline="-25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−</a:t>
              </a:r>
              <a:r>
                <a:rPr lang="el-GR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μ</a:t>
              </a:r>
              <a:endPara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要从已知的偏差  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</a:t>
              </a:r>
              <a:r>
                <a:rPr lang="en-US" altLang="zh-CN" sz="2000" i="1" baseline="-25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−     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出发进行计算</a:t>
              </a:r>
            </a:p>
          </p:txBody>
        </p:sp>
        <p:graphicFrame>
          <p:nvGraphicFramePr>
            <p:cNvPr id="12" name="Object 5"/>
            <p:cNvGraphicFramePr>
              <a:graphicFrameLocks noChangeAspect="1"/>
            </p:cNvGraphicFramePr>
            <p:nvPr/>
          </p:nvGraphicFramePr>
          <p:xfrm>
            <a:off x="4673178" y="954344"/>
            <a:ext cx="428426" cy="298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680" imgH="164880" progId="Equation.DSMT4">
                    <p:embed/>
                  </p:oleObj>
                </mc:Choice>
                <mc:Fallback>
                  <p:oleObj name="Equation" r:id="rId9" imgW="139680" imgH="1648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3178" y="954344"/>
                          <a:ext cx="428426" cy="2980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标注 12"/>
          <p:cNvSpPr/>
          <p:nvPr/>
        </p:nvSpPr>
        <p:spPr>
          <a:xfrm>
            <a:off x="6044407" y="2710837"/>
            <a:ext cx="1670843" cy="303826"/>
          </a:xfrm>
          <a:prstGeom prst="wedgeRectCallout">
            <a:avLst>
              <a:gd name="adj1" fmla="val -48811"/>
              <a:gd name="adj2" fmla="val 225144"/>
            </a:avLst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称之为贝塞尔修正</a:t>
            </a:r>
          </a:p>
        </p:txBody>
      </p:sp>
      <p:sp>
        <p:nvSpPr>
          <p:cNvPr id="14" name="矩形 13"/>
          <p:cNvSpPr/>
          <p:nvPr/>
        </p:nvSpPr>
        <p:spPr>
          <a:xfrm>
            <a:off x="1750231" y="4304775"/>
            <a:ext cx="5050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可以证明：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&lt;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baseline="30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 = &lt; </a:t>
            </a:r>
            <a:r>
              <a:rPr lang="el-GR" altLang="zh-CN" sz="2000" i="1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σ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x</a:t>
            </a:r>
            <a:r>
              <a:rPr lang="en-US" altLang="zh-CN" sz="2000" baseline="30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 </a:t>
            </a:r>
            <a:r>
              <a:rPr lang="en-US" altLang="zh-CN" sz="200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&gt;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——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无偏估计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611560" y="259545"/>
            <a:ext cx="70536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称之为（样本）</a:t>
            </a:r>
            <a:r>
              <a:rPr lang="zh-CN" altLang="en-US" sz="2000" b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标准差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它表征了测量结果的离散程度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611560" y="934696"/>
            <a:ext cx="5746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 s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由实验条件决定：分布函数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当测量次数增加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趋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近于 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0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并不会减小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2858294" y="3622675"/>
          <a:ext cx="25844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507960" progId="Equation.DSMT4">
                  <p:embed/>
                </p:oleObj>
              </mc:Choice>
              <mc:Fallback>
                <p:oleObj name="Equation" r:id="rId5" imgW="144756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294" y="3622675"/>
                        <a:ext cx="2584450" cy="90805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11560" y="2990616"/>
            <a:ext cx="47533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平均值的标准差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b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均值标准差</a:t>
            </a:r>
            <a:endParaRPr lang="en-US" altLang="zh-CN" sz="2000" b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1953360"/>
            <a:ext cx="58106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提交的测量结果是什么？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平均值（近真值）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因为误差更小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多次测量可以改善结果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6491163" y="594672"/>
          <a:ext cx="1926495" cy="1812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261600" imgH="2511360" progId="Origin50.Graph">
                  <p:embed/>
                </p:oleObj>
              </mc:Choice>
              <mc:Fallback>
                <p:oleObj name="Graph" r:id="rId7" imgW="3261600" imgH="2511360" progId="Origin50.Grap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163" y="594672"/>
                        <a:ext cx="1926495" cy="1812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C4F-5E1C-A77B-07BF-EB4E0FD9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5A669EDD-E9A6-E0E1-B750-469EF77461FA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36C14638-7AF6-4D60-543E-2BF85FC46F8C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:a16="http://schemas.microsoft.com/office/drawing/2014/main" id="{041BBF2A-98E2-ADE9-5501-08F1E04A64A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:a16="http://schemas.microsoft.com/office/drawing/2014/main" id="{91A4A97C-E243-9FEF-B094-63888D7499F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47431AD-E821-3F5E-011C-535BE26DCBE8}"/>
              </a:ext>
            </a:extLst>
          </p:cNvPr>
          <p:cNvSpPr/>
          <p:nvPr/>
        </p:nvSpPr>
        <p:spPr bwMode="auto">
          <a:xfrm>
            <a:off x="611560" y="259545"/>
            <a:ext cx="70536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i="1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000" i="1" baseline="-25000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称之为</a:t>
            </a:r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样本标准差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它表征了测量结果的离散程度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2F8058A0-7734-6950-8C3A-08B01B4CF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688619"/>
              </p:ext>
            </p:extLst>
          </p:nvPr>
        </p:nvGraphicFramePr>
        <p:xfrm>
          <a:off x="2858294" y="2158776"/>
          <a:ext cx="25844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507960" progId="Equation.DSMT4">
                  <p:embed/>
                </p:oleObj>
              </mc:Choice>
              <mc:Fallback>
                <p:oleObj name="Equation" r:id="rId5" imgW="1447560" imgH="50796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294" y="2158776"/>
                        <a:ext cx="2584450" cy="90805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FB23FC7-B7E5-2E1A-CA8A-2AF5F0FF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526717"/>
            <a:ext cx="37758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平均值的标准差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均值标准差</a:t>
            </a:r>
            <a:endParaRPr lang="en-US" altLang="zh-CN" sz="2000" b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37B5E0-E421-B53C-B0B3-0904FEA906B9}"/>
              </a:ext>
            </a:extLst>
          </p:cNvPr>
          <p:cNvSpPr/>
          <p:nvPr/>
        </p:nvSpPr>
        <p:spPr>
          <a:xfrm>
            <a:off x="611560" y="763306"/>
            <a:ext cx="58106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提交的测量结果是什么？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平均值（近真值）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因为误差更小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多次测量可以改善结果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18">
                <a:extLst>
                  <a:ext uri="{FF2B5EF4-FFF2-40B4-BE49-F238E27FC236}">
                    <a16:creationId xmlns:a16="http://schemas.microsoft.com/office/drawing/2014/main" id="{2C63467C-F8D7-8B08-D2BC-27D7364F8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470" y="3314186"/>
                <a:ext cx="3708933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测量结果由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 smtClean="0">
                            <a:solidFill>
                              <a:srgbClr val="1A3F6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rgbClr val="1A3F6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20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1A3F6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1A3F6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𝑠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altLang="zh-CN" sz="2000" i="1" dirty="0" smtClean="0">
                                <a:solidFill>
                                  <a:srgbClr val="1A3F6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dirty="0" smtClean="0">
                                <a:solidFill>
                                  <a:srgbClr val="1A3F6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 共同组成。</a:t>
                </a:r>
              </a:p>
            </p:txBody>
          </p:sp>
        </mc:Choice>
        <mc:Fallback xmlns="">
          <p:sp>
            <p:nvSpPr>
              <p:cNvPr id="4" name="矩形 18">
                <a:extLst>
                  <a:ext uri="{FF2B5EF4-FFF2-40B4-BE49-F238E27FC236}">
                    <a16:creationId xmlns:a16="http://schemas.microsoft.com/office/drawing/2014/main" id="{2C63467C-F8D7-8B08-D2BC-27D7364F8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470" y="3314186"/>
                <a:ext cx="3708933" cy="400110"/>
              </a:xfrm>
              <a:prstGeom prst="rect">
                <a:avLst/>
              </a:prstGeom>
              <a:blipFill>
                <a:blip r:embed="rId7"/>
                <a:stretch>
                  <a:fillRect l="-1642" t="-9231" b="-2769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17">
            <a:extLst>
              <a:ext uri="{FF2B5EF4-FFF2-40B4-BE49-F238E27FC236}">
                <a16:creationId xmlns:a16="http://schemas.microsoft.com/office/drawing/2014/main" id="{F9CD5440-9891-C94A-3B46-196034F69238}"/>
              </a:ext>
            </a:extLst>
          </p:cNvPr>
          <p:cNvGrpSpPr/>
          <p:nvPr/>
        </p:nvGrpSpPr>
        <p:grpSpPr>
          <a:xfrm>
            <a:off x="1513066" y="3853885"/>
            <a:ext cx="6117868" cy="771525"/>
            <a:chOff x="490102" y="1056487"/>
            <a:chExt cx="6117868" cy="77152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33A4464-F89A-A3F7-D5BD-EA5FDD4F49C6}"/>
                </a:ext>
              </a:extLst>
            </p:cNvPr>
            <p:cNvSpPr/>
            <p:nvPr/>
          </p:nvSpPr>
          <p:spPr bwMode="auto">
            <a:xfrm>
              <a:off x="490102" y="1091353"/>
              <a:ext cx="611786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——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真值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区间                                  ，</a:t>
              </a:r>
              <a:r>
                <a:rPr lang="en-US" altLang="zh-CN" sz="20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 </a:t>
              </a: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68.3%</a:t>
              </a:r>
            </a:p>
            <a:p>
              <a:pPr>
                <a:defRPr/>
              </a:pP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——      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比      减小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了，但是概率含量没减小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aphicFrame>
          <p:nvGraphicFramePr>
            <p:cNvPr id="13" name="Object 6">
              <a:extLst>
                <a:ext uri="{FF2B5EF4-FFF2-40B4-BE49-F238E27FC236}">
                  <a16:creationId xmlns:a16="http://schemas.microsoft.com/office/drawing/2014/main" id="{76DBF157-DB9A-1E15-0EF5-6A0C4FB188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9626" y="1056487"/>
            <a:ext cx="1981200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65160" imgH="228600" progId="Equation.DSMT4">
                    <p:embed/>
                  </p:oleObj>
                </mc:Choice>
                <mc:Fallback>
                  <p:oleObj name="Equation" r:id="rId8" imgW="965160" imgH="228600" progId="Equation.DSMT4">
                    <p:embed/>
                    <p:pic>
                      <p:nvPicPr>
                        <p:cNvPr id="1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9626" y="1056487"/>
                          <a:ext cx="1981200" cy="433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6">
              <a:extLst>
                <a:ext uri="{FF2B5EF4-FFF2-40B4-BE49-F238E27FC236}">
                  <a16:creationId xmlns:a16="http://schemas.microsoft.com/office/drawing/2014/main" id="{D0C1E631-FB13-4B7A-59C5-145488EA85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089" y="1377162"/>
            <a:ext cx="314325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228600" progId="Equation.DSMT4">
                    <p:embed/>
                  </p:oleObj>
                </mc:Choice>
                <mc:Fallback>
                  <p:oleObj name="Equation" r:id="rId10" imgW="164880" imgH="228600" progId="Equation.DSMT4">
                    <p:embed/>
                    <p:pic>
                      <p:nvPicPr>
                        <p:cNvPr id="1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089" y="1377162"/>
                          <a:ext cx="314325" cy="436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B841ACF1-7D66-1F85-5881-9CD85CF6B0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31151" y="1377162"/>
            <a:ext cx="3270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28600" progId="Equation.DSMT4">
                    <p:embed/>
                  </p:oleObj>
                </mc:Choice>
                <mc:Fallback>
                  <p:oleObj name="Equation" r:id="rId12" imgW="164880" imgH="228600" progId="Equation.DSMT4">
                    <p:embed/>
                    <p:pic>
                      <p:nvPicPr>
                        <p:cNvPr id="17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151" y="1377162"/>
                          <a:ext cx="327025" cy="450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974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grpSp>
        <p:nvGrpSpPr>
          <p:cNvPr id="2" name="组合 19"/>
          <p:cNvGrpSpPr>
            <a:grpSpLocks/>
          </p:cNvGrpSpPr>
          <p:nvPr/>
        </p:nvGrpSpPr>
        <p:grpSpPr bwMode="auto">
          <a:xfrm>
            <a:off x="947317" y="212725"/>
            <a:ext cx="3211489" cy="487363"/>
            <a:chOff x="1541421" y="3724358"/>
            <a:chExt cx="2811489" cy="487363"/>
          </a:xfrm>
        </p:grpSpPr>
        <p:graphicFrame>
          <p:nvGraphicFramePr>
            <p:cNvPr id="7" name="Object 5"/>
            <p:cNvGraphicFramePr>
              <a:graphicFrameLocks noChangeAspect="1"/>
            </p:cNvGraphicFramePr>
            <p:nvPr/>
          </p:nvGraphicFramePr>
          <p:xfrm>
            <a:off x="3489526" y="3724358"/>
            <a:ext cx="835253" cy="487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93480" imgH="228600" progId="Equation.DSMT4">
                    <p:embed/>
                  </p:oleObj>
                </mc:Choice>
                <mc:Fallback>
                  <p:oleObj name="Equation" r:id="rId5" imgW="39348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9526" y="3724358"/>
                          <a:ext cx="835253" cy="487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18"/>
            <p:cNvSpPr>
              <a:spLocks noChangeArrowheads="1"/>
            </p:cNvSpPr>
            <p:nvPr/>
          </p:nvSpPr>
          <p:spPr bwMode="auto">
            <a:xfrm>
              <a:off x="1541421" y="3757726"/>
              <a:ext cx="281148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测量结果报告为：</a:t>
              </a:r>
            </a:p>
          </p:txBody>
        </p:sp>
      </p:grpSp>
      <p:grpSp>
        <p:nvGrpSpPr>
          <p:cNvPr id="3" name="组合 13"/>
          <p:cNvGrpSpPr/>
          <p:nvPr/>
        </p:nvGrpSpPr>
        <p:grpSpPr>
          <a:xfrm>
            <a:off x="883024" y="3345657"/>
            <a:ext cx="6117868" cy="747201"/>
            <a:chOff x="490101" y="2795618"/>
            <a:chExt cx="8388932" cy="747201"/>
          </a:xfrm>
        </p:grpSpPr>
        <p:sp>
          <p:nvSpPr>
            <p:cNvPr id="15" name="矩形 14"/>
            <p:cNvSpPr/>
            <p:nvPr/>
          </p:nvSpPr>
          <p:spPr>
            <a:xfrm>
              <a:off x="490101" y="2834933"/>
              <a:ext cx="838893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随着测量次数的增加，     逐渐减小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但次数足够多之后，增加次数对改善效果提升有限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aphicFrame>
          <p:nvGraphicFramePr>
            <p:cNvPr id="16" name="Object 17"/>
            <p:cNvGraphicFramePr>
              <a:graphicFrameLocks noChangeAspect="1"/>
            </p:cNvGraphicFramePr>
            <p:nvPr/>
          </p:nvGraphicFramePr>
          <p:xfrm>
            <a:off x="4058466" y="2795618"/>
            <a:ext cx="400533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8466" y="2795618"/>
                          <a:ext cx="400533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7"/>
          <p:cNvGrpSpPr/>
          <p:nvPr/>
        </p:nvGrpSpPr>
        <p:grpSpPr>
          <a:xfrm>
            <a:off x="933032" y="2128044"/>
            <a:ext cx="6117868" cy="771525"/>
            <a:chOff x="490102" y="1056487"/>
            <a:chExt cx="6117868" cy="771525"/>
          </a:xfrm>
        </p:grpSpPr>
        <p:sp>
          <p:nvSpPr>
            <p:cNvPr id="11" name="矩形 10"/>
            <p:cNvSpPr/>
            <p:nvPr/>
          </p:nvSpPr>
          <p:spPr bwMode="auto">
            <a:xfrm>
              <a:off x="490102" y="1091353"/>
              <a:ext cx="611786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——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真值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区间                                  ，</a:t>
              </a:r>
              <a:r>
                <a:rPr lang="en-US" altLang="zh-CN" sz="20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 </a:t>
              </a: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68.3%</a:t>
              </a:r>
            </a:p>
            <a:p>
              <a:pPr>
                <a:defRPr/>
              </a:pP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——      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比      减小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了，但是概率含量没减小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aphicFrame>
          <p:nvGraphicFramePr>
            <p:cNvPr id="12" name="Object 6"/>
            <p:cNvGraphicFramePr>
              <a:graphicFrameLocks noChangeAspect="1"/>
            </p:cNvGraphicFramePr>
            <p:nvPr/>
          </p:nvGraphicFramePr>
          <p:xfrm>
            <a:off x="2229626" y="1056487"/>
            <a:ext cx="1981200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65160" imgH="228600" progId="Equation.DSMT4">
                    <p:embed/>
                  </p:oleObj>
                </mc:Choice>
                <mc:Fallback>
                  <p:oleObj name="Equation" r:id="rId9" imgW="96516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9626" y="1056487"/>
                          <a:ext cx="1981200" cy="433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6"/>
            <p:cNvGraphicFramePr>
              <a:graphicFrameLocks noChangeAspect="1"/>
            </p:cNvGraphicFramePr>
            <p:nvPr/>
          </p:nvGraphicFramePr>
          <p:xfrm>
            <a:off x="1104089" y="1377162"/>
            <a:ext cx="314325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0" imgH="228600" progId="Equation.DSMT4">
                    <p:embed/>
                  </p:oleObj>
                </mc:Choice>
                <mc:Fallback>
                  <p:oleObj name="Equation" r:id="rId11" imgW="164880" imgH="2286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089" y="1377162"/>
                          <a:ext cx="314325" cy="436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1731151" y="1377162"/>
            <a:ext cx="3270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151" y="1377162"/>
                          <a:ext cx="327025" cy="450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471" name="Object 3"/>
          <p:cNvGraphicFramePr>
            <a:graphicFrameLocks noChangeAspect="1"/>
          </p:cNvGraphicFramePr>
          <p:nvPr/>
        </p:nvGraphicFramePr>
        <p:xfrm>
          <a:off x="2879726" y="836612"/>
          <a:ext cx="25844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47560" imgH="507960" progId="Equation.DSMT4">
                  <p:embed/>
                </p:oleObj>
              </mc:Choice>
              <mc:Fallback>
                <p:oleObj name="Equation" r:id="rId15" imgW="144756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6" y="836612"/>
                        <a:ext cx="2584450" cy="90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0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1443" y="19198"/>
            <a:ext cx="5214703" cy="662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3.7  </a:t>
            </a:r>
            <a:r>
              <a:rPr lang="zh-CN" altLang="en-US" sz="2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测量次数的影响（自由度）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0106" y="740954"/>
            <a:ext cx="55707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相同条件下多次测量的平均值</a:t>
            </a:r>
            <a:r>
              <a:rPr lang="zh-CN" altLang="en-US" sz="20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近似满足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正态分布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5179234" y="1193000"/>
          <a:ext cx="224313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228600" progId="Equation.DSMT4">
                  <p:embed/>
                </p:oleObj>
              </mc:Choice>
              <mc:Fallback>
                <p:oleObj name="Equation" r:id="rId5" imgW="118080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9234" y="1193000"/>
                        <a:ext cx="2243137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4838714" y="1630356"/>
          <a:ext cx="270033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22360" imgH="228600" progId="Equation.DSMT4">
                  <p:embed/>
                </p:oleObj>
              </mc:Choice>
              <mc:Fallback>
                <p:oleObj name="Equation" r:id="rId7" imgW="142236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14" y="1630356"/>
                        <a:ext cx="270033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4850695" y="2134493"/>
            <a:ext cx="28645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有限次测量结果实际上</a:t>
            </a:r>
            <a:r>
              <a:rPr lang="zh-CN" altLang="en-US" sz="20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服从 </a:t>
            </a:r>
            <a:r>
              <a:rPr lang="en-US" altLang="zh-CN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分布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26986" y="1310431"/>
            <a:ext cx="3955744" cy="3459999"/>
            <a:chOff x="-167970" y="1510463"/>
            <a:chExt cx="3955744" cy="3459999"/>
          </a:xfrm>
        </p:grpSpPr>
        <p:pic>
          <p:nvPicPr>
            <p:cNvPr id="64518" name="Picture 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69924" y="1516062"/>
              <a:ext cx="3117850" cy="345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5" name="直接箭头连接符 14"/>
            <p:cNvCxnSpPr/>
            <p:nvPr/>
          </p:nvCxnSpPr>
          <p:spPr>
            <a:xfrm flipH="1" flipV="1">
              <a:off x="2278846" y="1664478"/>
              <a:ext cx="635804" cy="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 flipV="1">
              <a:off x="2266954" y="1724028"/>
              <a:ext cx="654840" cy="39494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 flipV="1">
              <a:off x="2271717" y="1864513"/>
              <a:ext cx="671508" cy="70009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H="1" flipV="1">
              <a:off x="2300288" y="2207421"/>
              <a:ext cx="685800" cy="10286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/>
            <p:cNvSpPr/>
            <p:nvPr/>
          </p:nvSpPr>
          <p:spPr>
            <a:xfrm>
              <a:off x="2999309" y="3186878"/>
              <a:ext cx="5966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 </a:t>
              </a:r>
              <a:r>
                <a:rPr lang="en-US" altLang="zh-CN" sz="16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 2</a:t>
              </a:r>
              <a:endParaRPr lang="zh-CN" altLang="en-US" sz="16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2999309" y="2453452"/>
              <a:ext cx="5966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 </a:t>
              </a:r>
              <a:r>
                <a:rPr lang="en-US" altLang="zh-CN" sz="16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 4</a:t>
              </a:r>
              <a:endParaRPr lang="zh-CN" altLang="en-US" sz="1600"/>
            </a:p>
          </p:txBody>
        </p:sp>
        <p:sp>
          <p:nvSpPr>
            <p:cNvPr id="51" name="矩形 50"/>
            <p:cNvSpPr/>
            <p:nvPr/>
          </p:nvSpPr>
          <p:spPr>
            <a:xfrm>
              <a:off x="2999309" y="1931959"/>
              <a:ext cx="69923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 </a:t>
              </a:r>
              <a:r>
                <a:rPr lang="en-US" altLang="zh-CN" sz="16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 10</a:t>
              </a:r>
              <a:endParaRPr lang="zh-CN" altLang="en-US" sz="1600"/>
            </a:p>
          </p:txBody>
        </p:sp>
        <p:sp>
          <p:nvSpPr>
            <p:cNvPr id="52" name="矩形 51"/>
            <p:cNvSpPr/>
            <p:nvPr/>
          </p:nvSpPr>
          <p:spPr>
            <a:xfrm>
              <a:off x="2999309" y="1510463"/>
              <a:ext cx="66877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 </a:t>
              </a:r>
              <a:r>
                <a:rPr lang="en-US" altLang="zh-CN" sz="16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 </a:t>
              </a:r>
              <a:r>
                <a:rPr lang="en-US" altLang="zh-CN" sz="1600">
                  <a:solidFill>
                    <a:srgbClr val="1A3F6C"/>
                  </a:solidFill>
                  <a:latin typeface="Cambria Math"/>
                  <a:ea typeface="Cambria Math"/>
                  <a:cs typeface="Times New Roman" pitchFamily="18" charset="0"/>
                </a:rPr>
                <a:t>∞</a:t>
              </a:r>
              <a:endParaRPr lang="zh-CN" altLang="en-US" sz="1600"/>
            </a:p>
          </p:txBody>
        </p:sp>
        <p:sp>
          <p:nvSpPr>
            <p:cNvPr id="54" name="矩形 53"/>
            <p:cNvSpPr/>
            <p:nvPr/>
          </p:nvSpPr>
          <p:spPr>
            <a:xfrm>
              <a:off x="-167970" y="1510463"/>
              <a:ext cx="226466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 = N </a:t>
              </a:r>
              <a:r>
                <a:rPr lang="en-US" altLang="zh-CN" sz="2000" i="1" dirty="0">
                  <a:solidFill>
                    <a:srgbClr val="1A3F6C"/>
                  </a:solidFill>
                  <a:latin typeface="Times New Roman"/>
                  <a:ea typeface="微软雅黑" pitchFamily="34" charset="-122"/>
                  <a:cs typeface="Times New Roman"/>
                </a:rPr>
                <a:t>−</a:t>
              </a:r>
              <a:r>
                <a:rPr lang="en-US" altLang="zh-CN" sz="2000" dirty="0">
                  <a:solidFill>
                    <a:srgbClr val="1A3F6C"/>
                  </a:solidFill>
                  <a:latin typeface="Times New Roman"/>
                  <a:ea typeface="微软雅黑" pitchFamily="34" charset="-122"/>
                  <a:cs typeface="Times New Roman"/>
                </a:rPr>
                <a:t>1</a:t>
              </a:r>
              <a:r>
                <a:rPr lang="zh-CN" altLang="en-US" sz="20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：自由度</a:t>
              </a:r>
              <a:endPara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r>
                <a:rPr lang="en-US" altLang="zh-CN" sz="2000" i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</a:t>
              </a:r>
              <a:r>
                <a:rPr lang="zh-CN" altLang="en-US" sz="20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：测量次数</a:t>
              </a:r>
              <a:endPara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4850695" y="3985851"/>
            <a:ext cx="31857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分布下的标准差：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要乘一个大于 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因子</a:t>
            </a:r>
            <a:endParaRPr lang="zh-CN" altLang="en-US" sz="2000" i="1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850695" y="3017345"/>
            <a:ext cx="28820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相同置信概率下：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lvl="0"/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对应的置信区间变宽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5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6756"/>
              </p:ext>
            </p:extLst>
          </p:nvPr>
        </p:nvGraphicFramePr>
        <p:xfrm>
          <a:off x="185742" y="1108008"/>
          <a:ext cx="818769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96069"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a:t>∞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0.997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235.8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19.21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9.21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6.62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5.51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4.90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4.53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4.28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4.09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3.85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3.64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3.45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3.00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0.95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12.71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4.30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3.18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2.78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2.57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2.45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2.36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2.31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2.26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2.20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2.14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2.09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1A3F6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1.96</a:t>
                      </a:r>
                      <a:endParaRPr lang="zh-CN" altLang="en-US" sz="1400">
                        <a:solidFill>
                          <a:srgbClr val="1A3F6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0.683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kern="120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1.84</a:t>
                      </a:r>
                      <a:endParaRPr lang="zh-CN" altLang="en-US" sz="1400" kern="120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kern="120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1.32</a:t>
                      </a:r>
                      <a:endParaRPr lang="zh-CN" altLang="en-US" sz="1400" kern="120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1.20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1.14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1.11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1.09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1.08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1.07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1.06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1.05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1.04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1.03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矩形 31"/>
          <p:cNvSpPr/>
          <p:nvPr/>
        </p:nvSpPr>
        <p:spPr>
          <a:xfrm>
            <a:off x="230910" y="578368"/>
            <a:ext cx="56364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zh-CN" altLang="en-US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分布表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18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18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为置信水平；</a:t>
            </a:r>
            <a:r>
              <a:rPr lang="en-US" altLang="zh-CN" sz="18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</a:t>
            </a:r>
            <a:r>
              <a:rPr lang="zh-CN" altLang="en-US" sz="18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为测量次数；</a:t>
            </a:r>
            <a:r>
              <a:rPr lang="en-US" altLang="zh-CN" sz="18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1800" i="1" baseline="-25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18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 </a:t>
            </a:r>
            <a:r>
              <a:rPr lang="en-US" altLang="zh-CN" sz="18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zh-CN" altLang="en-US" sz="18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因子</a:t>
            </a:r>
            <a:endParaRPr lang="zh-CN" altLang="en-US" sz="1800"/>
          </a:p>
        </p:txBody>
      </p:sp>
      <p:grpSp>
        <p:nvGrpSpPr>
          <p:cNvPr id="39" name="组合 38"/>
          <p:cNvGrpSpPr/>
          <p:nvPr/>
        </p:nvGrpSpPr>
        <p:grpSpPr>
          <a:xfrm>
            <a:off x="128780" y="1007651"/>
            <a:ext cx="714476" cy="441137"/>
            <a:chOff x="114492" y="425410"/>
            <a:chExt cx="714476" cy="441137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457201" y="521480"/>
              <a:ext cx="300037" cy="3000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173832" y="616729"/>
              <a:ext cx="569118" cy="1976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114492" y="558770"/>
              <a:ext cx="27443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endParaRPr lang="zh-CN" altLang="en-US" sz="1400" i="1"/>
            </a:p>
          </p:txBody>
        </p:sp>
        <p:sp>
          <p:nvSpPr>
            <p:cNvPr id="37" name="矩形 36"/>
            <p:cNvSpPr/>
            <p:nvPr/>
          </p:nvSpPr>
          <p:spPr>
            <a:xfrm>
              <a:off x="316900" y="425410"/>
              <a:ext cx="29367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endParaRPr lang="zh-CN" altLang="en-US" sz="1400" i="1" baseline="-25000"/>
            </a:p>
          </p:txBody>
        </p:sp>
        <p:sp>
          <p:nvSpPr>
            <p:cNvPr id="38" name="矩形 37"/>
            <p:cNvSpPr/>
            <p:nvPr/>
          </p:nvSpPr>
          <p:spPr>
            <a:xfrm>
              <a:off x="524076" y="461130"/>
              <a:ext cx="3048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</a:t>
              </a:r>
              <a:endParaRPr lang="zh-CN" altLang="en-US" sz="1400" i="1"/>
            </a:p>
          </p:txBody>
        </p:sp>
      </p:grpSp>
      <p:sp>
        <p:nvSpPr>
          <p:cNvPr id="40" name="矩形 39"/>
          <p:cNvSpPr/>
          <p:nvPr/>
        </p:nvSpPr>
        <p:spPr>
          <a:xfrm>
            <a:off x="580221" y="2986853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例如：</a:t>
            </a:r>
            <a:endParaRPr lang="zh-CN" altLang="en-US" sz="2400"/>
          </a:p>
        </p:txBody>
      </p:sp>
      <p:grpSp>
        <p:nvGrpSpPr>
          <p:cNvPr id="44" name="组合 43"/>
          <p:cNvGrpSpPr/>
          <p:nvPr/>
        </p:nvGrpSpPr>
        <p:grpSpPr>
          <a:xfrm>
            <a:off x="1885156" y="2978943"/>
            <a:ext cx="6223000" cy="740501"/>
            <a:chOff x="1913731" y="3200399"/>
            <a:chExt cx="6223000" cy="740501"/>
          </a:xfrm>
        </p:grpSpPr>
        <p:sp>
          <p:nvSpPr>
            <p:cNvPr id="41" name="矩形 40"/>
            <p:cNvSpPr/>
            <p:nvPr/>
          </p:nvSpPr>
          <p:spPr>
            <a:xfrm>
              <a:off x="1913731" y="3233014"/>
              <a:ext cx="62230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对某物理量 </a:t>
              </a:r>
              <a:r>
                <a:rPr lang="en-US" altLang="zh-CN" sz="20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 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测量了</a:t>
              </a: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5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次，计算出     和     ；要求置信概率为 </a:t>
              </a:r>
              <a:r>
                <a:rPr lang="en-US" altLang="zh-CN" sz="20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= 68.3%</a:t>
              </a:r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，可从表中得到：</a:t>
              </a:r>
              <a:r>
                <a:rPr lang="en-US" altLang="zh-CN" sz="20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lang="en-US" altLang="zh-CN" sz="2000" baseline="-25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0.683</a:t>
              </a:r>
              <a:r>
                <a:rPr lang="en-US" altLang="zh-CN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= 1.14</a:t>
              </a: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65541" name="Object 5"/>
            <p:cNvGraphicFramePr>
              <a:graphicFrameLocks noChangeAspect="1"/>
            </p:cNvGraphicFramePr>
            <p:nvPr/>
          </p:nvGraphicFramePr>
          <p:xfrm>
            <a:off x="5695156" y="3282156"/>
            <a:ext cx="255587" cy="302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5156" y="3282156"/>
                          <a:ext cx="255587" cy="3020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2" name="Object 6"/>
            <p:cNvGraphicFramePr>
              <a:graphicFrameLocks noChangeAspect="1"/>
            </p:cNvGraphicFramePr>
            <p:nvPr/>
          </p:nvGraphicFramePr>
          <p:xfrm>
            <a:off x="6261099" y="3200399"/>
            <a:ext cx="318293" cy="440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28600" progId="Equation.DSMT4">
                    <p:embed/>
                  </p:oleObj>
                </mc:Choice>
                <mc:Fallback>
                  <p:oleObj name="Equation" r:id="rId6" imgW="164880" imgH="22860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1099" y="3200399"/>
                          <a:ext cx="318293" cy="4407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/>
          <p:cNvGrpSpPr/>
          <p:nvPr/>
        </p:nvGrpSpPr>
        <p:grpSpPr>
          <a:xfrm>
            <a:off x="1885145" y="4000501"/>
            <a:ext cx="5708662" cy="492810"/>
            <a:chOff x="1885145" y="4000501"/>
            <a:chExt cx="5708662" cy="492810"/>
          </a:xfrm>
        </p:grpSpPr>
        <p:graphicFrame>
          <p:nvGraphicFramePr>
            <p:cNvPr id="45" name="Object 4"/>
            <p:cNvGraphicFramePr>
              <a:graphicFrameLocks noChangeAspect="1"/>
            </p:cNvGraphicFramePr>
            <p:nvPr/>
          </p:nvGraphicFramePr>
          <p:xfrm>
            <a:off x="4138614" y="4000501"/>
            <a:ext cx="3455193" cy="4928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7680" imgH="253800" progId="Equation.DSMT4">
                    <p:embed/>
                  </p:oleObj>
                </mc:Choice>
                <mc:Fallback>
                  <p:oleObj name="Equation" r:id="rId8" imgW="1777680" imgH="25380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8614" y="4000501"/>
                          <a:ext cx="3455193" cy="4928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矩形 45"/>
            <p:cNvSpPr/>
            <p:nvPr/>
          </p:nvSpPr>
          <p:spPr>
            <a:xfrm>
              <a:off x="1885145" y="4056035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测量结果表示为：</a:t>
              </a:r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  <a:scene3d>
          <a:camera prst="orthographicFront"/>
          <a:lightRig rig="threePt" dir="t"/>
        </a:scene3d>
        <a:sp3d contourW="12700"/>
      </a:bodyPr>
      <a:lstStyle>
        <a:defPPr>
          <a:lnSpc>
            <a:spcPct val="150000"/>
          </a:lnSpc>
          <a:defRPr sz="1600" b="1" dirty="0">
            <a:solidFill>
              <a:srgbClr val="C00000"/>
            </a:solidFill>
            <a:latin typeface="黑体" pitchFamily="49" charset="-122"/>
            <a:ea typeface="黑体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4062</TotalTime>
  <Words>1175</Words>
  <Application>Microsoft Office PowerPoint</Application>
  <PresentationFormat>全屏显示(16:9)</PresentationFormat>
  <Paragraphs>251</Paragraphs>
  <Slides>19</Slides>
  <Notes>18</Notes>
  <HiddenSlides>7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黑体</vt:lpstr>
      <vt:lpstr>微软雅黑</vt:lpstr>
      <vt:lpstr>印品黑体</vt:lpstr>
      <vt:lpstr>Arial</vt:lpstr>
      <vt:lpstr>Cambria Math</vt:lpstr>
      <vt:lpstr>Times New Roman</vt:lpstr>
      <vt:lpstr>Office 主题</vt:lpstr>
      <vt:lpstr>Equation</vt:lpstr>
      <vt:lpstr>Graph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</dc:creator>
  <cp:lastModifiedBy>Administrator</cp:lastModifiedBy>
  <cp:revision>149</cp:revision>
  <dcterms:created xsi:type="dcterms:W3CDTF">2016-11-25T11:25:31Z</dcterms:created>
  <dcterms:modified xsi:type="dcterms:W3CDTF">2026-03-01T05:26:29Z</dcterms:modified>
</cp:coreProperties>
</file>